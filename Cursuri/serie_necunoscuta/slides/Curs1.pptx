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2"/>
  </p:notesMasterIdLst>
  <p:sldIdLst>
    <p:sldId id="256" r:id="rId2"/>
    <p:sldId id="257" r:id="rId3"/>
    <p:sldId id="319" r:id="rId4"/>
    <p:sldId id="258" r:id="rId5"/>
    <p:sldId id="268" r:id="rId6"/>
    <p:sldId id="261" r:id="rId7"/>
    <p:sldId id="286" r:id="rId8"/>
    <p:sldId id="326" r:id="rId9"/>
    <p:sldId id="317" r:id="rId10"/>
    <p:sldId id="328" r:id="rId11"/>
    <p:sldId id="262" r:id="rId12"/>
    <p:sldId id="278" r:id="rId13"/>
    <p:sldId id="266" r:id="rId14"/>
    <p:sldId id="318" r:id="rId15"/>
    <p:sldId id="320" r:id="rId16"/>
    <p:sldId id="321" r:id="rId17"/>
    <p:sldId id="322" r:id="rId18"/>
    <p:sldId id="324" r:id="rId19"/>
    <p:sldId id="325" r:id="rId20"/>
    <p:sldId id="323" r:id="rId21"/>
  </p:sldIdLst>
  <p:sldSz cx="9144000" cy="5143500" type="screen16x9"/>
  <p:notesSz cx="6858000" cy="9144000"/>
  <p:embeddedFontLst>
    <p:embeddedFont>
      <p:font typeface="Nunito" charset="0"/>
      <p:regular r:id="rId23"/>
      <p:bold r:id="rId24"/>
      <p:italic r:id="rId25"/>
      <p:boldItalic r:id="rId26"/>
    </p:embeddedFont>
    <p:embeddedFont>
      <p:font typeface="Karla Regular" charset="0"/>
      <p:bold r:id="rId27"/>
      <p:boldItalic r:id="rId28"/>
    </p:embeddedFont>
    <p:embeddedFont>
      <p:font typeface="Lucida Sans Typewriter" charset="0"/>
      <p:regular r:id="rId29"/>
      <p:bold r:id="rId30"/>
      <p:italic r:id="rId31"/>
      <p:boldItalic r:id="rId32"/>
    </p:embeddedFont>
    <p:embeddedFont>
      <p:font typeface="Roboto Condensed Light" charset="0"/>
      <p:regular r:id="rId33"/>
      <p:italic r:id="rId34"/>
    </p:embeddedFont>
    <p:embeddedFont>
      <p:font typeface="Cambria Math" pitchFamily="18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D5FC7F6E-7D7C-429E-9E02-8E8779DB5895}">
  <a:tblStyle styleId="{D5FC7F6E-7D7C-429E-9E02-8E8779DB58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3" d="100"/>
          <a:sy n="203" d="100"/>
        </p:scale>
        <p:origin x="-23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13828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gd3de2aebdd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6" name="Google Shape;3156;gd3de2aebdd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7290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gd3de2aebdd_0_22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3" name="Google Shape;2423;gd3de2aebdd_0_22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3" name="Google Shape;2333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gd3de2aedb6_1_1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1" name="Google Shape;3021;gd3de2aedb6_1_1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gd3de2aedb6_1_1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1" name="Google Shape;3021;gd3de2aedb6_1_1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6640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gd3de2aedb6_1_1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1" name="Google Shape;3021;gd3de2aedb6_1_1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gd3de2aebdd_0_23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9" name="Google Shape;2739;gd3de2aebdd_0_23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gd3de2aebdd_0_22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1" name="Google Shape;2401;gd3de2aebdd_0_22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286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066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170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1676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7228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642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437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 sz="1200">
                <a:solidFill>
                  <a:schemeClr val="accent4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322400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-1096660" y="3536723"/>
            <a:ext cx="1626244" cy="1381416"/>
            <a:chOff x="4611450" y="3151300"/>
            <a:chExt cx="667725" cy="567200"/>
          </a:xfrm>
        </p:grpSpPr>
        <p:sp>
          <p:nvSpPr>
            <p:cNvPr id="57" name="Google Shape;57;p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4"/>
          <p:cNvSpPr/>
          <p:nvPr/>
        </p:nvSpPr>
        <p:spPr>
          <a:xfrm>
            <a:off x="6019775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71;p4"/>
          <p:cNvGrpSpPr/>
          <p:nvPr/>
        </p:nvGrpSpPr>
        <p:grpSpPr>
          <a:xfrm>
            <a:off x="7677857" y="337714"/>
            <a:ext cx="1051274" cy="787312"/>
            <a:chOff x="3585475" y="1537675"/>
            <a:chExt cx="649175" cy="486175"/>
          </a:xfrm>
        </p:grpSpPr>
        <p:sp>
          <p:nvSpPr>
            <p:cNvPr id="72" name="Google Shape;72;p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4"/>
          <p:cNvSpPr/>
          <p:nvPr/>
        </p:nvSpPr>
        <p:spPr>
          <a:xfrm>
            <a:off x="-1428200" y="-1177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73" name="Google Shape;173;p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174" name="Google Shape;174;p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" name="Google Shape;187;p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188" name="Google Shape;188;p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" name="Google Shape;201;p6"/>
          <p:cNvSpPr/>
          <p:nvPr/>
        </p:nvSpPr>
        <p:spPr>
          <a:xfrm flipH="1">
            <a:off x="-1633725" y="424715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6"/>
          <p:cNvSpPr/>
          <p:nvPr/>
        </p:nvSpPr>
        <p:spPr>
          <a:xfrm flipH="1">
            <a:off x="8367144" y="-789298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"/>
          <p:cNvSpPr/>
          <p:nvPr/>
        </p:nvSpPr>
        <p:spPr>
          <a:xfrm flipH="1">
            <a:off x="8070742" y="23045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" name="Google Shape;204;p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205" name="Google Shape;205;p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226" name="Google Shape;226;p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"/>
          <p:cNvSpPr txBox="1">
            <a:spLocks noGrp="1"/>
          </p:cNvSpPr>
          <p:nvPr>
            <p:ph type="title"/>
          </p:nvPr>
        </p:nvSpPr>
        <p:spPr>
          <a:xfrm>
            <a:off x="1991650" y="2111788"/>
            <a:ext cx="5183700" cy="17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7"/>
          <p:cNvSpPr txBox="1">
            <a:spLocks noGrp="1"/>
          </p:cNvSpPr>
          <p:nvPr>
            <p:ph type="subTitle" idx="1"/>
          </p:nvPr>
        </p:nvSpPr>
        <p:spPr>
          <a:xfrm>
            <a:off x="2147050" y="3771638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50" name="Google Shape;250;p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7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64" name="Google Shape;264;p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7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7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7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0" name="Google Shape;280;p7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81" name="Google Shape;281;p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7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302" name="Google Shape;302;p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4"/>
          <p:cNvSpPr txBox="1">
            <a:spLocks noGrp="1"/>
          </p:cNvSpPr>
          <p:nvPr>
            <p:ph type="title"/>
          </p:nvPr>
        </p:nvSpPr>
        <p:spPr>
          <a:xfrm>
            <a:off x="2391900" y="3022051"/>
            <a:ext cx="4360200" cy="576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0" name="Google Shape;600;p14"/>
          <p:cNvSpPr txBox="1">
            <a:spLocks noGrp="1"/>
          </p:cNvSpPr>
          <p:nvPr>
            <p:ph type="subTitle" idx="1"/>
          </p:nvPr>
        </p:nvSpPr>
        <p:spPr>
          <a:xfrm>
            <a:off x="1956450" y="1589538"/>
            <a:ext cx="5231100" cy="12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01" name="Google Shape;601;p14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602" name="Google Shape;602;p1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5" name="Google Shape;615;p14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" name="Google Shape;616;p14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617" name="Google Shape;617;p1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7" name="Google Shape;637;p14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638" name="Google Shape;638;p1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8" name="Google Shape;658;p14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8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5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1" name="Google Shape;661;p15"/>
          <p:cNvSpPr txBox="1">
            <a:spLocks noGrp="1"/>
          </p:cNvSpPr>
          <p:nvPr>
            <p:ph type="subTitle" idx="1"/>
          </p:nvPr>
        </p:nvSpPr>
        <p:spPr>
          <a:xfrm>
            <a:off x="2024825" y="3191100"/>
            <a:ext cx="50943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2" name="Google Shape;662;p15"/>
          <p:cNvGrpSpPr/>
          <p:nvPr/>
        </p:nvGrpSpPr>
        <p:grpSpPr>
          <a:xfrm>
            <a:off x="8058435" y="-451282"/>
            <a:ext cx="4287930" cy="3642388"/>
            <a:chOff x="4611450" y="3151300"/>
            <a:chExt cx="667725" cy="567200"/>
          </a:xfrm>
        </p:grpSpPr>
        <p:sp>
          <p:nvSpPr>
            <p:cNvPr id="663" name="Google Shape;663;p1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15"/>
          <p:cNvGrpSpPr/>
          <p:nvPr/>
        </p:nvGrpSpPr>
        <p:grpSpPr>
          <a:xfrm>
            <a:off x="-3567940" y="1886243"/>
            <a:ext cx="4287930" cy="3642388"/>
            <a:chOff x="4611450" y="3151300"/>
            <a:chExt cx="667725" cy="567200"/>
          </a:xfrm>
        </p:grpSpPr>
        <p:sp>
          <p:nvSpPr>
            <p:cNvPr id="677" name="Google Shape;677;p1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0" name="Google Shape;690;p15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5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5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3" name="Google Shape;693;p15"/>
          <p:cNvGrpSpPr/>
          <p:nvPr/>
        </p:nvGrpSpPr>
        <p:grpSpPr>
          <a:xfrm>
            <a:off x="-642305" y="394664"/>
            <a:ext cx="1051274" cy="787312"/>
            <a:chOff x="3585475" y="1537675"/>
            <a:chExt cx="649175" cy="486175"/>
          </a:xfrm>
        </p:grpSpPr>
        <p:sp>
          <p:nvSpPr>
            <p:cNvPr id="694" name="Google Shape;694;p1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4" name="Google Shape;714;p15"/>
          <p:cNvGrpSpPr/>
          <p:nvPr/>
        </p:nvGrpSpPr>
        <p:grpSpPr>
          <a:xfrm>
            <a:off x="7599532" y="4730176"/>
            <a:ext cx="1051274" cy="787312"/>
            <a:chOff x="3585475" y="1537675"/>
            <a:chExt cx="649175" cy="486175"/>
          </a:xfrm>
        </p:grpSpPr>
        <p:sp>
          <p:nvSpPr>
            <p:cNvPr id="715" name="Google Shape;715;p1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ONLY_2_1_1_2"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860" name="Google Shape;860;p19"/>
          <p:cNvGrpSpPr/>
          <p:nvPr/>
        </p:nvGrpSpPr>
        <p:grpSpPr>
          <a:xfrm rot="10800000">
            <a:off x="-3511090" y="669950"/>
            <a:ext cx="4287930" cy="3642388"/>
            <a:chOff x="4611450" y="3151300"/>
            <a:chExt cx="667725" cy="567200"/>
          </a:xfrm>
        </p:grpSpPr>
        <p:sp>
          <p:nvSpPr>
            <p:cNvPr id="861" name="Google Shape;861;p19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4" name="Google Shape;874;p19"/>
          <p:cNvGrpSpPr/>
          <p:nvPr/>
        </p:nvGrpSpPr>
        <p:grpSpPr>
          <a:xfrm rot="10800000">
            <a:off x="8229660" y="669950"/>
            <a:ext cx="4287930" cy="3642388"/>
            <a:chOff x="4611450" y="3151300"/>
            <a:chExt cx="667725" cy="567200"/>
          </a:xfrm>
        </p:grpSpPr>
        <p:sp>
          <p:nvSpPr>
            <p:cNvPr id="875" name="Google Shape;875;p19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9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8" name="Google Shape;888;p19"/>
          <p:cNvSpPr/>
          <p:nvPr/>
        </p:nvSpPr>
        <p:spPr>
          <a:xfrm rot="10800000" flipH="1">
            <a:off x="-1008996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19"/>
          <p:cNvSpPr/>
          <p:nvPr/>
        </p:nvSpPr>
        <p:spPr>
          <a:xfrm rot="10800000" flipH="1">
            <a:off x="8160331" y="184476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0" name="Google Shape;890;p19"/>
          <p:cNvGrpSpPr/>
          <p:nvPr/>
        </p:nvGrpSpPr>
        <p:grpSpPr>
          <a:xfrm rot="10800000">
            <a:off x="7732768" y="4770143"/>
            <a:ext cx="1051274" cy="787312"/>
            <a:chOff x="3585475" y="1537675"/>
            <a:chExt cx="649175" cy="486175"/>
          </a:xfrm>
        </p:grpSpPr>
        <p:sp>
          <p:nvSpPr>
            <p:cNvPr id="891" name="Google Shape;891;p19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9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9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9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9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9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9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9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9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9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9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1" name="Google Shape;911;p19"/>
          <p:cNvGrpSpPr/>
          <p:nvPr/>
        </p:nvGrpSpPr>
        <p:grpSpPr>
          <a:xfrm rot="10800000">
            <a:off x="459031" y="-423544"/>
            <a:ext cx="1051274" cy="787312"/>
            <a:chOff x="3585475" y="1537675"/>
            <a:chExt cx="649175" cy="486175"/>
          </a:xfrm>
        </p:grpSpPr>
        <p:sp>
          <p:nvSpPr>
            <p:cNvPr id="912" name="Google Shape;912;p19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9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9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9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9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9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9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9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9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9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9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2" name="Google Shape;932;p19"/>
          <p:cNvSpPr txBox="1">
            <a:spLocks noGrp="1"/>
          </p:cNvSpPr>
          <p:nvPr>
            <p:ph type="title" idx="2"/>
          </p:nvPr>
        </p:nvSpPr>
        <p:spPr>
          <a:xfrm>
            <a:off x="4957063" y="1645447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33" name="Google Shape;933;p19"/>
          <p:cNvSpPr txBox="1">
            <a:spLocks noGrp="1"/>
          </p:cNvSpPr>
          <p:nvPr>
            <p:ph type="title" idx="3"/>
          </p:nvPr>
        </p:nvSpPr>
        <p:spPr>
          <a:xfrm>
            <a:off x="4957147" y="3210647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34" name="Google Shape;934;p19"/>
          <p:cNvSpPr txBox="1">
            <a:spLocks noGrp="1"/>
          </p:cNvSpPr>
          <p:nvPr>
            <p:ph type="subTitle" idx="1"/>
          </p:nvPr>
        </p:nvSpPr>
        <p:spPr>
          <a:xfrm>
            <a:off x="4957150" y="3698275"/>
            <a:ext cx="2742600" cy="6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35" name="Google Shape;935;p19"/>
          <p:cNvSpPr txBox="1">
            <a:spLocks noGrp="1"/>
          </p:cNvSpPr>
          <p:nvPr>
            <p:ph type="subTitle" idx="4"/>
          </p:nvPr>
        </p:nvSpPr>
        <p:spPr>
          <a:xfrm>
            <a:off x="4957250" y="2133075"/>
            <a:ext cx="2742600" cy="6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36" name="Google Shape;936;p19"/>
          <p:cNvSpPr/>
          <p:nvPr/>
        </p:nvSpPr>
        <p:spPr>
          <a:xfrm rot="10800000" flipH="1">
            <a:off x="8424004" y="-117643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_ONLY_2_1_1_1"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022" name="Google Shape;1022;p21"/>
          <p:cNvGrpSpPr/>
          <p:nvPr/>
        </p:nvGrpSpPr>
        <p:grpSpPr>
          <a:xfrm rot="10800000">
            <a:off x="-3511090" y="669950"/>
            <a:ext cx="4287930" cy="3642388"/>
            <a:chOff x="4611450" y="3151300"/>
            <a:chExt cx="667725" cy="567200"/>
          </a:xfrm>
        </p:grpSpPr>
        <p:sp>
          <p:nvSpPr>
            <p:cNvPr id="1023" name="Google Shape;1023;p21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1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1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1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1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1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1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1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1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1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1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1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1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6" name="Google Shape;1036;p21"/>
          <p:cNvGrpSpPr/>
          <p:nvPr/>
        </p:nvGrpSpPr>
        <p:grpSpPr>
          <a:xfrm rot="10800000">
            <a:off x="8229660" y="669950"/>
            <a:ext cx="4287930" cy="3642388"/>
            <a:chOff x="4611450" y="3151300"/>
            <a:chExt cx="667725" cy="567200"/>
          </a:xfrm>
        </p:grpSpPr>
        <p:sp>
          <p:nvSpPr>
            <p:cNvPr id="1037" name="Google Shape;1037;p21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1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1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1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1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1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1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1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1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1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1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1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1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0" name="Google Shape;1050;p21"/>
          <p:cNvSpPr/>
          <p:nvPr/>
        </p:nvSpPr>
        <p:spPr>
          <a:xfrm rot="10800000" flipH="1">
            <a:off x="8629529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21"/>
          <p:cNvSpPr/>
          <p:nvPr/>
        </p:nvSpPr>
        <p:spPr>
          <a:xfrm rot="10800000" flipH="1">
            <a:off x="-1008996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2" name="Google Shape;1052;p21"/>
          <p:cNvGrpSpPr/>
          <p:nvPr/>
        </p:nvGrpSpPr>
        <p:grpSpPr>
          <a:xfrm rot="10800000">
            <a:off x="7732768" y="4770143"/>
            <a:ext cx="1051274" cy="787312"/>
            <a:chOff x="3585475" y="1537675"/>
            <a:chExt cx="649175" cy="486175"/>
          </a:xfrm>
        </p:grpSpPr>
        <p:sp>
          <p:nvSpPr>
            <p:cNvPr id="1053" name="Google Shape;1053;p21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1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1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1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1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1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1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1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1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1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1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1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1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1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1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1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1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1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1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1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3" name="Google Shape;1073;p21"/>
          <p:cNvGrpSpPr/>
          <p:nvPr/>
        </p:nvGrpSpPr>
        <p:grpSpPr>
          <a:xfrm rot="10800000">
            <a:off x="459031" y="-423544"/>
            <a:ext cx="1051274" cy="787312"/>
            <a:chOff x="3585475" y="1537675"/>
            <a:chExt cx="649175" cy="486175"/>
          </a:xfrm>
        </p:grpSpPr>
        <p:sp>
          <p:nvSpPr>
            <p:cNvPr id="1074" name="Google Shape;1074;p21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1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1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1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1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1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1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1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1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1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1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1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1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1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1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1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1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1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1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1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4" name="Google Shape;1094;p21"/>
          <p:cNvSpPr txBox="1">
            <a:spLocks noGrp="1"/>
          </p:cNvSpPr>
          <p:nvPr>
            <p:ph type="title" idx="2"/>
          </p:nvPr>
        </p:nvSpPr>
        <p:spPr>
          <a:xfrm>
            <a:off x="1146300" y="1375747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95" name="Google Shape;1095;p21"/>
          <p:cNvSpPr txBox="1">
            <a:spLocks noGrp="1"/>
          </p:cNvSpPr>
          <p:nvPr>
            <p:ph type="title" idx="3"/>
          </p:nvPr>
        </p:nvSpPr>
        <p:spPr>
          <a:xfrm>
            <a:off x="1146472" y="2459547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96" name="Google Shape;1096;p21"/>
          <p:cNvSpPr txBox="1">
            <a:spLocks noGrp="1"/>
          </p:cNvSpPr>
          <p:nvPr>
            <p:ph type="subTitle" idx="1"/>
          </p:nvPr>
        </p:nvSpPr>
        <p:spPr>
          <a:xfrm>
            <a:off x="1146475" y="2870975"/>
            <a:ext cx="274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97" name="Google Shape;1097;p21"/>
          <p:cNvSpPr txBox="1">
            <a:spLocks noGrp="1"/>
          </p:cNvSpPr>
          <p:nvPr>
            <p:ph type="subTitle" idx="4"/>
          </p:nvPr>
        </p:nvSpPr>
        <p:spPr>
          <a:xfrm>
            <a:off x="1146475" y="1787175"/>
            <a:ext cx="274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98" name="Google Shape;1098;p21"/>
          <p:cNvSpPr txBox="1">
            <a:spLocks noGrp="1"/>
          </p:cNvSpPr>
          <p:nvPr>
            <p:ph type="title" idx="5"/>
          </p:nvPr>
        </p:nvSpPr>
        <p:spPr>
          <a:xfrm>
            <a:off x="1146472" y="3522947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99" name="Google Shape;1099;p21"/>
          <p:cNvSpPr txBox="1">
            <a:spLocks noGrp="1"/>
          </p:cNvSpPr>
          <p:nvPr>
            <p:ph type="subTitle" idx="6"/>
          </p:nvPr>
        </p:nvSpPr>
        <p:spPr>
          <a:xfrm>
            <a:off x="1146475" y="3934375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"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28" name="Google Shape;1428;p27"/>
          <p:cNvGrpSpPr/>
          <p:nvPr/>
        </p:nvGrpSpPr>
        <p:grpSpPr>
          <a:xfrm rot="10800000" flipH="1">
            <a:off x="8367160" y="669950"/>
            <a:ext cx="4287930" cy="3642388"/>
            <a:chOff x="4611450" y="3151300"/>
            <a:chExt cx="667725" cy="567200"/>
          </a:xfrm>
        </p:grpSpPr>
        <p:sp>
          <p:nvSpPr>
            <p:cNvPr id="1429" name="Google Shape;1429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27"/>
          <p:cNvGrpSpPr/>
          <p:nvPr/>
        </p:nvGrpSpPr>
        <p:grpSpPr>
          <a:xfrm rot="10800000" flipH="1">
            <a:off x="-3376540" y="669950"/>
            <a:ext cx="4287930" cy="3642388"/>
            <a:chOff x="4611450" y="3151300"/>
            <a:chExt cx="667725" cy="567200"/>
          </a:xfrm>
        </p:grpSpPr>
        <p:sp>
          <p:nvSpPr>
            <p:cNvPr id="1443" name="Google Shape;1443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27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27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27"/>
          <p:cNvSpPr/>
          <p:nvPr/>
        </p:nvSpPr>
        <p:spPr>
          <a:xfrm rot="10800000">
            <a:off x="8070742" y="4121226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9" name="Google Shape;1459;p27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1460" name="Google Shape;1460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27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1481" name="Google Shape;1481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1"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503" name="Google Shape;1503;p28"/>
          <p:cNvGrpSpPr/>
          <p:nvPr/>
        </p:nvGrpSpPr>
        <p:grpSpPr>
          <a:xfrm rot="10800000">
            <a:off x="-3511090" y="669950"/>
            <a:ext cx="4287930" cy="3642388"/>
            <a:chOff x="4611450" y="3151300"/>
            <a:chExt cx="667725" cy="567200"/>
          </a:xfrm>
        </p:grpSpPr>
        <p:sp>
          <p:nvSpPr>
            <p:cNvPr id="1504" name="Google Shape;1504;p28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8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8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8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8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8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8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8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8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8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8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7" name="Google Shape;1517;p28"/>
          <p:cNvGrpSpPr/>
          <p:nvPr/>
        </p:nvGrpSpPr>
        <p:grpSpPr>
          <a:xfrm rot="10800000">
            <a:off x="8229660" y="669950"/>
            <a:ext cx="4287930" cy="3642388"/>
            <a:chOff x="4611450" y="3151300"/>
            <a:chExt cx="667725" cy="567200"/>
          </a:xfrm>
        </p:grpSpPr>
        <p:sp>
          <p:nvSpPr>
            <p:cNvPr id="1518" name="Google Shape;1518;p28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8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8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8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8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8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8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28"/>
          <p:cNvSpPr/>
          <p:nvPr/>
        </p:nvSpPr>
        <p:spPr>
          <a:xfrm rot="10800000" flipH="1">
            <a:off x="8629529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28"/>
          <p:cNvSpPr/>
          <p:nvPr/>
        </p:nvSpPr>
        <p:spPr>
          <a:xfrm rot="10800000" flipH="1">
            <a:off x="-1008996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3" name="Google Shape;1533;p28"/>
          <p:cNvSpPr/>
          <p:nvPr/>
        </p:nvSpPr>
        <p:spPr>
          <a:xfrm rot="10800000" flipH="1">
            <a:off x="286806" y="4121226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4" name="Google Shape;1534;p28"/>
          <p:cNvGrpSpPr/>
          <p:nvPr/>
        </p:nvGrpSpPr>
        <p:grpSpPr>
          <a:xfrm rot="10800000">
            <a:off x="7732768" y="4770143"/>
            <a:ext cx="1051274" cy="787312"/>
            <a:chOff x="3585475" y="1537675"/>
            <a:chExt cx="649175" cy="486175"/>
          </a:xfrm>
        </p:grpSpPr>
        <p:sp>
          <p:nvSpPr>
            <p:cNvPr id="1535" name="Google Shape;1535;p28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8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8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8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8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8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8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8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8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8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8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8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8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8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8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8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8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8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8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8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5" name="Google Shape;1555;p28"/>
          <p:cNvGrpSpPr/>
          <p:nvPr/>
        </p:nvGrpSpPr>
        <p:grpSpPr>
          <a:xfrm rot="10800000">
            <a:off x="459031" y="-423544"/>
            <a:ext cx="1051274" cy="787312"/>
            <a:chOff x="3585475" y="1537675"/>
            <a:chExt cx="649175" cy="486175"/>
          </a:xfrm>
        </p:grpSpPr>
        <p:sp>
          <p:nvSpPr>
            <p:cNvPr id="1556" name="Google Shape;1556;p28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8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8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8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"/>
          <p:cNvSpPr txBox="1">
            <a:spLocks noGrp="1"/>
          </p:cNvSpPr>
          <p:nvPr>
            <p:ph type="title"/>
          </p:nvPr>
        </p:nvSpPr>
        <p:spPr>
          <a:xfrm>
            <a:off x="1152900" y="1307100"/>
            <a:ext cx="68382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0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4181275" y="-1498987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5" name="Google Shape;325;p8"/>
          <p:cNvGrpSpPr/>
          <p:nvPr/>
        </p:nvGrpSpPr>
        <p:grpSpPr>
          <a:xfrm>
            <a:off x="7991090" y="4187948"/>
            <a:ext cx="1626244" cy="1381416"/>
            <a:chOff x="4611450" y="3151300"/>
            <a:chExt cx="667725" cy="567200"/>
          </a:xfrm>
        </p:grpSpPr>
        <p:sp>
          <p:nvSpPr>
            <p:cNvPr id="326" name="Google Shape;326;p8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" name="Google Shape;339;p8"/>
          <p:cNvSpPr/>
          <p:nvPr/>
        </p:nvSpPr>
        <p:spPr>
          <a:xfrm>
            <a:off x="2962973" y="4068998"/>
            <a:ext cx="3218005" cy="3221491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0" name="Google Shape;340;p8"/>
          <p:cNvGrpSpPr/>
          <p:nvPr/>
        </p:nvGrpSpPr>
        <p:grpSpPr>
          <a:xfrm>
            <a:off x="8419482" y="337714"/>
            <a:ext cx="1051274" cy="787312"/>
            <a:chOff x="3585475" y="1537675"/>
            <a:chExt cx="649175" cy="486175"/>
          </a:xfrm>
        </p:grpSpPr>
        <p:sp>
          <p:nvSpPr>
            <p:cNvPr id="341" name="Google Shape;341;p8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1" name="Google Shape;361;p8"/>
          <p:cNvSpPr/>
          <p:nvPr/>
        </p:nvSpPr>
        <p:spPr>
          <a:xfrm>
            <a:off x="2759525" y="-1497800"/>
            <a:ext cx="2203168" cy="2203168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2" name="Google Shape;362;p8"/>
          <p:cNvGrpSpPr/>
          <p:nvPr/>
        </p:nvGrpSpPr>
        <p:grpSpPr>
          <a:xfrm>
            <a:off x="-379593" y="3281689"/>
            <a:ext cx="1051274" cy="787312"/>
            <a:chOff x="3585475" y="1537675"/>
            <a:chExt cx="649175" cy="486175"/>
          </a:xfrm>
        </p:grpSpPr>
        <p:sp>
          <p:nvSpPr>
            <p:cNvPr id="363" name="Google Shape;363;p8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" name="Google Shape;383;p8"/>
          <p:cNvGrpSpPr/>
          <p:nvPr/>
        </p:nvGrpSpPr>
        <p:grpSpPr>
          <a:xfrm>
            <a:off x="-729635" y="-213115"/>
            <a:ext cx="1626244" cy="1381416"/>
            <a:chOff x="4611450" y="3151300"/>
            <a:chExt cx="667725" cy="567200"/>
          </a:xfrm>
        </p:grpSpPr>
        <p:sp>
          <p:nvSpPr>
            <p:cNvPr id="384" name="Google Shape;384;p8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5954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8" r:id="rId5"/>
    <p:sldLayoutId id="2147483660" r:id="rId6"/>
    <p:sldLayoutId id="2147483661" r:id="rId7"/>
    <p:sldLayoutId id="2147483665" r:id="rId8"/>
    <p:sldLayoutId id="2147483667" r:id="rId9"/>
    <p:sldLayoutId id="2147483672" r:id="rId10"/>
    <p:sldLayoutId id="2147483673" r:id="rId11"/>
    <p:sldLayoutId id="2147483674" r:id="rId12"/>
    <p:sldLayoutId id="2147483681" r:id="rId13"/>
    <p:sldLayoutId id="2147483682" r:id="rId14"/>
    <p:sldLayoutId id="2147483683" r:id="rId15"/>
    <p:sldLayoutId id="214748368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sz="40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642450" cy="3849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Analiza</a:t>
            </a:r>
            <a:r>
              <a:rPr lang="en-US" sz="1200" dirty="0"/>
              <a:t> </a:t>
            </a:r>
            <a:r>
              <a:rPr lang="en-US" sz="1200" dirty="0" err="1"/>
              <a:t>Algoritmilor</a:t>
            </a:r>
            <a:endParaRPr sz="12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721125" y="4336700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2210779" y="313057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1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sp>
        <p:nvSpPr>
          <p:cNvPr id="2239" name="Google Shape;2239;p41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600" dirty="0"/>
              <a:t>Syllabus</a:t>
            </a:r>
          </a:p>
          <a:p>
            <a:pPr lvl="0">
              <a:lnSpc>
                <a:spcPct val="200000"/>
              </a:lnSpc>
            </a:pPr>
            <a:r>
              <a:rPr lang="en" sz="1600" dirty="0"/>
              <a:t>What is an algorithm?</a:t>
            </a:r>
          </a:p>
          <a:p>
            <a:pPr lvl="0">
              <a:lnSpc>
                <a:spcPct val="200000"/>
              </a:lnSpc>
            </a:pPr>
            <a:r>
              <a:rPr lang="en" sz="1600" dirty="0"/>
              <a:t> Grade calculation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dirty="0"/>
              <a:t>A</a:t>
            </a:r>
            <a:r>
              <a:rPr lang="en" dirty="0"/>
              <a:t>ssignments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" dirty="0"/>
              <a:t>Midterm exam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-US" dirty="0"/>
              <a:t>L</a:t>
            </a:r>
            <a:r>
              <a:rPr lang="en" dirty="0"/>
              <a:t>ab Attendance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AutoNum type="arabicPeriod"/>
            </a:pPr>
            <a:r>
              <a:rPr lang="en" dirty="0"/>
              <a:t>Final exam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8" name="Google Shape;3158;p7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Syllabus</a:t>
            </a:r>
            <a:endParaRPr dirty="0"/>
          </a:p>
        </p:txBody>
      </p:sp>
      <p:sp>
        <p:nvSpPr>
          <p:cNvPr id="3159" name="Google Shape;3159;p79"/>
          <p:cNvSpPr txBox="1"/>
          <p:nvPr/>
        </p:nvSpPr>
        <p:spPr>
          <a:xfrm>
            <a:off x="1858297" y="1482213"/>
            <a:ext cx="5353664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39750" lvl="0" indent="-400050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AutoNum type="romanUcPeriod"/>
            </a:pPr>
            <a:r>
              <a:rPr lang="en-US" sz="20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Computability Theory</a:t>
            </a:r>
            <a:endParaRPr sz="2000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39750" lvl="0" indent="-400050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AutoNum type="romanUcPeriod"/>
            </a:pPr>
            <a:r>
              <a:rPr lang="en-US" sz="20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Complexity Theory</a:t>
            </a:r>
          </a:p>
          <a:p>
            <a:pPr marL="539750" lvl="0" indent="-400050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AutoNum type="romanUcPeriod"/>
            </a:pPr>
            <a:r>
              <a:rPr lang="en-US" sz="20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Correctness</a:t>
            </a:r>
            <a:endParaRPr sz="2000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76623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42"/>
          <p:cNvSpPr txBox="1">
            <a:spLocks noGrp="1"/>
          </p:cNvSpPr>
          <p:nvPr>
            <p:ph type="title"/>
          </p:nvPr>
        </p:nvSpPr>
        <p:spPr>
          <a:xfrm>
            <a:off x="1991650" y="2111788"/>
            <a:ext cx="5183700" cy="17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Computability Theory</a:t>
            </a:r>
            <a:endParaRPr sz="5400" dirty="0"/>
          </a:p>
        </p:txBody>
      </p:sp>
      <p:sp>
        <p:nvSpPr>
          <p:cNvPr id="2245" name="Google Shape;2245;p42"/>
          <p:cNvSpPr txBox="1">
            <a:spLocks noGrp="1"/>
          </p:cNvSpPr>
          <p:nvPr>
            <p:ph type="subTitle" idx="1"/>
          </p:nvPr>
        </p:nvSpPr>
        <p:spPr>
          <a:xfrm>
            <a:off x="2135550" y="4019330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are algorithms and what can they do?</a:t>
            </a:r>
            <a:endParaRPr dirty="0"/>
          </a:p>
        </p:txBody>
      </p:sp>
      <p:sp>
        <p:nvSpPr>
          <p:cNvPr id="2246" name="Google Shape;2246;p42"/>
          <p:cNvSpPr/>
          <p:nvPr/>
        </p:nvSpPr>
        <p:spPr>
          <a:xfrm>
            <a:off x="3801900" y="518775"/>
            <a:ext cx="1540213" cy="1540069"/>
          </a:xfrm>
          <a:custGeom>
            <a:avLst/>
            <a:gdLst/>
            <a:ahLst/>
            <a:cxnLst/>
            <a:rect l="l" t="t" r="r" b="b"/>
            <a:pathLst>
              <a:path w="43110" h="43109" extrusionOk="0">
                <a:moveTo>
                  <a:pt x="1" y="0"/>
                </a:moveTo>
                <a:lnTo>
                  <a:pt x="1" y="43108"/>
                </a:lnTo>
                <a:lnTo>
                  <a:pt x="43109" y="43108"/>
                </a:lnTo>
                <a:lnTo>
                  <a:pt x="43109" y="0"/>
                </a:lnTo>
                <a:close/>
              </a:path>
            </a:pathLst>
          </a:custGeom>
          <a:solidFill>
            <a:srgbClr val="0F32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7" name="Google Shape;2247;p42"/>
          <p:cNvSpPr/>
          <p:nvPr/>
        </p:nvSpPr>
        <p:spPr>
          <a:xfrm>
            <a:off x="4063563" y="1124170"/>
            <a:ext cx="1036562" cy="500829"/>
          </a:xfrm>
          <a:custGeom>
            <a:avLst/>
            <a:gdLst/>
            <a:ahLst/>
            <a:cxnLst/>
            <a:rect l="l" t="t" r="r" b="b"/>
            <a:pathLst>
              <a:path w="29013" h="14019" extrusionOk="0">
                <a:moveTo>
                  <a:pt x="0" y="1"/>
                </a:moveTo>
                <a:lnTo>
                  <a:pt x="0" y="704"/>
                </a:lnTo>
                <a:lnTo>
                  <a:pt x="78" y="1446"/>
                </a:lnTo>
                <a:lnTo>
                  <a:pt x="156" y="2148"/>
                </a:lnTo>
                <a:lnTo>
                  <a:pt x="274" y="2812"/>
                </a:lnTo>
                <a:lnTo>
                  <a:pt x="430" y="3515"/>
                </a:lnTo>
                <a:lnTo>
                  <a:pt x="625" y="4179"/>
                </a:lnTo>
                <a:lnTo>
                  <a:pt x="859" y="4804"/>
                </a:lnTo>
                <a:lnTo>
                  <a:pt x="1133" y="5467"/>
                </a:lnTo>
                <a:lnTo>
                  <a:pt x="1406" y="6092"/>
                </a:lnTo>
                <a:lnTo>
                  <a:pt x="1757" y="6678"/>
                </a:lnTo>
                <a:lnTo>
                  <a:pt x="2109" y="7264"/>
                </a:lnTo>
                <a:lnTo>
                  <a:pt x="2460" y="7849"/>
                </a:lnTo>
                <a:lnTo>
                  <a:pt x="2890" y="8396"/>
                </a:lnTo>
                <a:lnTo>
                  <a:pt x="3319" y="8904"/>
                </a:lnTo>
                <a:lnTo>
                  <a:pt x="3749" y="9411"/>
                </a:lnTo>
                <a:lnTo>
                  <a:pt x="4256" y="9919"/>
                </a:lnTo>
                <a:lnTo>
                  <a:pt x="4725" y="10387"/>
                </a:lnTo>
                <a:lnTo>
                  <a:pt x="5272" y="10817"/>
                </a:lnTo>
                <a:lnTo>
                  <a:pt x="5818" y="11246"/>
                </a:lnTo>
                <a:lnTo>
                  <a:pt x="6404" y="11637"/>
                </a:lnTo>
                <a:lnTo>
                  <a:pt x="6990" y="11988"/>
                </a:lnTo>
                <a:lnTo>
                  <a:pt x="7575" y="12340"/>
                </a:lnTo>
                <a:lnTo>
                  <a:pt x="8200" y="12613"/>
                </a:lnTo>
                <a:lnTo>
                  <a:pt x="8864" y="12926"/>
                </a:lnTo>
                <a:lnTo>
                  <a:pt x="9528" y="13160"/>
                </a:lnTo>
                <a:lnTo>
                  <a:pt x="10192" y="13394"/>
                </a:lnTo>
                <a:lnTo>
                  <a:pt x="10894" y="13589"/>
                </a:lnTo>
                <a:lnTo>
                  <a:pt x="11558" y="13745"/>
                </a:lnTo>
                <a:lnTo>
                  <a:pt x="12300" y="13863"/>
                </a:lnTo>
                <a:lnTo>
                  <a:pt x="13003" y="13941"/>
                </a:lnTo>
                <a:lnTo>
                  <a:pt x="13745" y="13980"/>
                </a:lnTo>
                <a:lnTo>
                  <a:pt x="14487" y="14019"/>
                </a:lnTo>
                <a:lnTo>
                  <a:pt x="15268" y="13980"/>
                </a:lnTo>
                <a:lnTo>
                  <a:pt x="15971" y="13941"/>
                </a:lnTo>
                <a:lnTo>
                  <a:pt x="16713" y="13863"/>
                </a:lnTo>
                <a:lnTo>
                  <a:pt x="17415" y="13745"/>
                </a:lnTo>
                <a:lnTo>
                  <a:pt x="18118" y="13589"/>
                </a:lnTo>
                <a:lnTo>
                  <a:pt x="18821" y="13394"/>
                </a:lnTo>
                <a:lnTo>
                  <a:pt x="19485" y="13160"/>
                </a:lnTo>
                <a:lnTo>
                  <a:pt x="20149" y="12926"/>
                </a:lnTo>
                <a:lnTo>
                  <a:pt x="20813" y="12613"/>
                </a:lnTo>
                <a:lnTo>
                  <a:pt x="21437" y="12340"/>
                </a:lnTo>
                <a:lnTo>
                  <a:pt x="22023" y="11988"/>
                </a:lnTo>
                <a:lnTo>
                  <a:pt x="22609" y="11637"/>
                </a:lnTo>
                <a:lnTo>
                  <a:pt x="23194" y="11246"/>
                </a:lnTo>
                <a:lnTo>
                  <a:pt x="23741" y="10817"/>
                </a:lnTo>
                <a:lnTo>
                  <a:pt x="24249" y="10387"/>
                </a:lnTo>
                <a:lnTo>
                  <a:pt x="24756" y="9919"/>
                </a:lnTo>
                <a:lnTo>
                  <a:pt x="25264" y="9411"/>
                </a:lnTo>
                <a:lnTo>
                  <a:pt x="25694" y="8904"/>
                </a:lnTo>
                <a:lnTo>
                  <a:pt x="26123" y="8396"/>
                </a:lnTo>
                <a:lnTo>
                  <a:pt x="26553" y="7849"/>
                </a:lnTo>
                <a:lnTo>
                  <a:pt x="26904" y="7264"/>
                </a:lnTo>
                <a:lnTo>
                  <a:pt x="27255" y="6678"/>
                </a:lnTo>
                <a:lnTo>
                  <a:pt x="27568" y="6092"/>
                </a:lnTo>
                <a:lnTo>
                  <a:pt x="27880" y="5467"/>
                </a:lnTo>
                <a:lnTo>
                  <a:pt x="28154" y="4804"/>
                </a:lnTo>
                <a:lnTo>
                  <a:pt x="28349" y="4179"/>
                </a:lnTo>
                <a:lnTo>
                  <a:pt x="28544" y="3515"/>
                </a:lnTo>
                <a:lnTo>
                  <a:pt x="28739" y="2812"/>
                </a:lnTo>
                <a:lnTo>
                  <a:pt x="28856" y="2148"/>
                </a:lnTo>
                <a:lnTo>
                  <a:pt x="28934" y="1446"/>
                </a:lnTo>
                <a:lnTo>
                  <a:pt x="29013" y="704"/>
                </a:lnTo>
                <a:lnTo>
                  <a:pt x="2901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Euclid’s algorithm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C013A1A-AE7C-F0A1-A58E-5E19F5C22FA0}"/>
              </a:ext>
            </a:extLst>
          </p:cNvPr>
          <p:cNvSpPr txBox="1"/>
          <p:nvPr/>
        </p:nvSpPr>
        <p:spPr>
          <a:xfrm>
            <a:off x="1085850" y="1516073"/>
            <a:ext cx="3486150" cy="2635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effectLst/>
                <a:latin typeface="Lucida Sans Typewriter" panose="020B0509030504030204" pitchFamily="49" charset="0"/>
              </a:rPr>
              <a:t>Euclid_GCD</a:t>
            </a:r>
            <a:r>
              <a:rPr lang="en-US" dirty="0">
                <a:effectLst/>
                <a:latin typeface="Lucida Sans Typewriter" panose="020B0509030504030204" pitchFamily="49" charset="0"/>
              </a:rPr>
              <a:t>(a, b):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/>
                <a:latin typeface="Lucida Sans Typewriter" panose="020B0509030504030204" pitchFamily="49" charset="0"/>
              </a:rPr>
              <a:t>    while (a ≠ b)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/>
                <a:latin typeface="Lucida Sans Typewriter" panose="020B0509030504030204" pitchFamily="49" charset="0"/>
              </a:rPr>
              <a:t>        if (a &gt; b)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/>
                <a:latin typeface="Lucida Sans Typewriter" panose="020B0509030504030204" pitchFamily="49" charset="0"/>
              </a:rPr>
              <a:t>            a := a - b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/>
                <a:latin typeface="Lucida Sans Typewriter" panose="020B0509030504030204" pitchFamily="49" charset="0"/>
              </a:rPr>
              <a:t>        else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/>
                <a:latin typeface="Lucida Sans Typewriter" panose="020B0509030504030204" pitchFamily="49" charset="0"/>
              </a:rPr>
              <a:t>            b := b - a</a:t>
            </a:r>
          </a:p>
          <a:p>
            <a:pPr>
              <a:lnSpc>
                <a:spcPct val="150000"/>
              </a:lnSpc>
            </a:pPr>
            <a:endParaRPr lang="en-US" dirty="0">
              <a:effectLst/>
              <a:latin typeface="Lucida Sans Typewriter" panose="020B05090305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effectLst/>
                <a:latin typeface="Lucida Sans Typewriter" panose="020B0509030504030204" pitchFamily="49" charset="0"/>
              </a:rPr>
              <a:t>    return 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1BD83ABA-A3B7-14B6-7C66-65A04D62A072}"/>
              </a:ext>
            </a:extLst>
          </p:cNvPr>
          <p:cNvSpPr txBox="1"/>
          <p:nvPr/>
        </p:nvSpPr>
        <p:spPr>
          <a:xfrm>
            <a:off x="4572000" y="1516073"/>
            <a:ext cx="3486150" cy="260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effectLst/>
                <a:latin typeface="Lucida Sans Typewriter" panose="020B0509030504030204" pitchFamily="49" charset="0"/>
              </a:rPr>
              <a:t>a = 49, b = 84</a:t>
            </a:r>
          </a:p>
          <a:p>
            <a:pPr>
              <a:lnSpc>
                <a:spcPct val="200000"/>
              </a:lnSpc>
            </a:pPr>
            <a:r>
              <a:rPr lang="en-US" dirty="0">
                <a:effectLst/>
                <a:latin typeface="Lucida Sans Typewriter" panose="020B0509030504030204" pitchFamily="49" charset="0"/>
              </a:rPr>
              <a:t>a = 49, b = 35</a:t>
            </a:r>
          </a:p>
          <a:p>
            <a:pPr>
              <a:lnSpc>
                <a:spcPct val="200000"/>
              </a:lnSpc>
            </a:pPr>
            <a:r>
              <a:rPr lang="en-US" dirty="0">
                <a:effectLst/>
                <a:latin typeface="Lucida Sans Typewriter" panose="020B0509030504030204" pitchFamily="49" charset="0"/>
              </a:rPr>
              <a:t>a = </a:t>
            </a:r>
            <a:r>
              <a:rPr lang="en-US" dirty="0">
                <a:latin typeface="Lucida Sans Typewriter" panose="020B0509030504030204" pitchFamily="49" charset="0"/>
              </a:rPr>
              <a:t>14, b = 35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Lucida Sans Typewriter" panose="020B0509030504030204" pitchFamily="49" charset="0"/>
              </a:rPr>
              <a:t>a</a:t>
            </a:r>
            <a:r>
              <a:rPr lang="en-US" dirty="0">
                <a:effectLst/>
                <a:latin typeface="Lucida Sans Typewriter" panose="020B0509030504030204" pitchFamily="49" charset="0"/>
              </a:rPr>
              <a:t> = 14</a:t>
            </a:r>
            <a:r>
              <a:rPr lang="en-US" dirty="0">
                <a:latin typeface="Lucida Sans Typewriter" panose="020B0509030504030204" pitchFamily="49" charset="0"/>
              </a:rPr>
              <a:t>, b = 21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Lucida Sans Typewriter" panose="020B0509030504030204" pitchFamily="49" charset="0"/>
              </a:rPr>
              <a:t>a</a:t>
            </a:r>
            <a:r>
              <a:rPr lang="en-US" dirty="0">
                <a:effectLst/>
                <a:latin typeface="Lucida Sans Typewriter" panose="020B0509030504030204" pitchFamily="49" charset="0"/>
              </a:rPr>
              <a:t> = </a:t>
            </a:r>
            <a:r>
              <a:rPr lang="en-US" dirty="0">
                <a:latin typeface="Lucida Sans Typewriter" panose="020B0509030504030204" pitchFamily="49" charset="0"/>
              </a:rPr>
              <a:t>14, b = 7</a:t>
            </a:r>
          </a:p>
          <a:p>
            <a:pPr>
              <a:lnSpc>
                <a:spcPct val="200000"/>
              </a:lnSpc>
            </a:pPr>
            <a:r>
              <a:rPr lang="en-US" dirty="0">
                <a:effectLst/>
                <a:latin typeface="Lucida Sans Typewriter" panose="020B0509030504030204" pitchFamily="49" charset="0"/>
              </a:rPr>
              <a:t>a = 7,  b = 7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xmlns="" id="{9E9ABBE1-D5C1-CE84-3B36-A56572FDEB4D}"/>
              </a:ext>
            </a:extLst>
          </p:cNvPr>
          <p:cNvSpPr/>
          <p:nvPr/>
        </p:nvSpPr>
        <p:spPr>
          <a:xfrm>
            <a:off x="1260987" y="1961535"/>
            <a:ext cx="265471" cy="213852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21D898BA-4D8E-6AC9-CF1E-871C11FFAE20}"/>
              </a:ext>
            </a:extLst>
          </p:cNvPr>
          <p:cNvSpPr/>
          <p:nvPr/>
        </p:nvSpPr>
        <p:spPr>
          <a:xfrm>
            <a:off x="4572001" y="3805085"/>
            <a:ext cx="715296" cy="319908"/>
          </a:xfrm>
          <a:prstGeom prst="rect">
            <a:avLst/>
          </a:prstGeom>
          <a:noFill/>
          <a:ln>
            <a:solidFill>
              <a:schemeClr val="tx2"/>
            </a:solidFill>
          </a:ln>
          <a:effectLst>
            <a:glow rad="63500">
              <a:schemeClr val="tx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93827E-7 L 0.04271 0.06389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5" y="31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71 0.06389 L 0.08785 0.25031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6" y="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85 0.25031 L -5.55556E-7 2.22222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92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93827E-7 L 0.04271 0.06389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5" y="3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71 0.06389 L 0.08715 0.11759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15 0.11759 L -5.55556E-7 2.22222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58" y="-58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93827E-7 L 0.04271 0.06389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3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71 0.06389 L 0.08785 0.25031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85 0.25031 L -5.55556E-7 2.22222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92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93827E-7 L 0.04271 0.06389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0" y="3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71 0.06389 L 0.08785 0.2503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3" y="93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85 0.25031 L -5.55556E-7 2.22222E-6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92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93827E-7 L 0.04271 0.06389 " pathEditMode="relative" rAng="0" ptsTypes="AA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9" y="3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71 0.06389 L 0.08716 0.11759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3" y="29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16 0.11759 L -5.55556E-7 -4.93827E-7 " pathEditMode="relative" rAng="0" ptsTypes="AA">
                                      <p:cBhvr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23" y="-58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93827E-7 L -5.55556E-7 0.375 " pathEditMode="relative" rAng="0" ptsTypes="AA">
                                      <p:cBhvr>
                                        <p:cTn id="8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7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/>
          <p:cNvSpPr/>
          <p:nvPr/>
        </p:nvSpPr>
        <p:spPr>
          <a:xfrm>
            <a:off x="3026899" y="3072325"/>
            <a:ext cx="3308251" cy="3376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accent1"/>
              </a:solidFill>
            </a:endParaRPr>
          </a:p>
        </p:txBody>
      </p:sp>
      <p:sp>
        <p:nvSpPr>
          <p:cNvPr id="6" name="Dreptunghi 5"/>
          <p:cNvSpPr/>
          <p:nvPr/>
        </p:nvSpPr>
        <p:spPr>
          <a:xfrm>
            <a:off x="6114757" y="2038350"/>
            <a:ext cx="791307" cy="3376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accent1"/>
              </a:solidFill>
            </a:endParaRPr>
          </a:p>
        </p:txBody>
      </p:sp>
      <p:sp>
        <p:nvSpPr>
          <p:cNvPr id="5" name="Dreptunghi 4"/>
          <p:cNvSpPr/>
          <p:nvPr/>
        </p:nvSpPr>
        <p:spPr>
          <a:xfrm>
            <a:off x="5090162" y="2038350"/>
            <a:ext cx="1815902" cy="3376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accent1"/>
              </a:solidFill>
            </a:endParaRPr>
          </a:p>
        </p:txBody>
      </p:sp>
      <p:sp>
        <p:nvSpPr>
          <p:cNvPr id="2" name="Dreptunghi 1"/>
          <p:cNvSpPr/>
          <p:nvPr/>
        </p:nvSpPr>
        <p:spPr>
          <a:xfrm>
            <a:off x="2471226" y="2038350"/>
            <a:ext cx="2583766" cy="3376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accent1"/>
              </a:solidFill>
            </a:endParaRPr>
          </a:p>
        </p:txBody>
      </p:sp>
      <p:sp>
        <p:nvSpPr>
          <p:cNvPr id="2336" name="Google Shape;2336;p45"/>
          <p:cNvSpPr txBox="1">
            <a:spLocks noGrp="1"/>
          </p:cNvSpPr>
          <p:nvPr>
            <p:ph type="subTitle" idx="1"/>
          </p:nvPr>
        </p:nvSpPr>
        <p:spPr>
          <a:xfrm>
            <a:off x="1656478" y="1491174"/>
            <a:ext cx="6010414" cy="21289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An </a:t>
            </a:r>
            <a:r>
              <a:rPr lang="en" dirty="0">
                <a:solidFill>
                  <a:schemeClr val="bg2"/>
                </a:solidFill>
              </a:rPr>
              <a:t>algorithm</a:t>
            </a:r>
            <a:r>
              <a:rPr lang="en" dirty="0"/>
              <a:t> </a:t>
            </a:r>
            <a:r>
              <a:rPr lang="en" dirty="0" smtClean="0"/>
              <a:t>is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 </a:t>
            </a:r>
            <a:r>
              <a:rPr lang="en" dirty="0"/>
              <a:t>finite sequence </a:t>
            </a:r>
            <a:r>
              <a:rPr lang="en-US" dirty="0">
                <a:effectLst/>
                <a:latin typeface="Arial" panose="020B0604020202020204" pitchFamily="34" charset="0"/>
              </a:rPr>
              <a:t>of precise </a:t>
            </a:r>
            <a:r>
              <a:rPr lang="en-US" dirty="0" smtClean="0">
                <a:effectLst/>
                <a:latin typeface="Arial" panose="020B0604020202020204" pitchFamily="34" charset="0"/>
              </a:rPr>
              <a:t>steps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effectLst/>
                <a:latin typeface="Arial" panose="020B0604020202020204" pitchFamily="34" charset="0"/>
              </a:rPr>
              <a:t>that </a:t>
            </a:r>
            <a:r>
              <a:rPr lang="en-US" dirty="0">
                <a:effectLst/>
                <a:latin typeface="Arial" panose="020B0604020202020204" pitchFamily="34" charset="0"/>
              </a:rPr>
              <a:t>can be used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effectLst/>
                <a:latin typeface="Arial" panose="020B0604020202020204" pitchFamily="34" charset="0"/>
              </a:rPr>
              <a:t>to solve a </a:t>
            </a:r>
            <a:r>
              <a:rPr lang="en-US" dirty="0" smtClean="0">
                <a:effectLst/>
                <a:latin typeface="Arial" panose="020B0604020202020204" pitchFamily="34" charset="0"/>
              </a:rPr>
              <a:t>problem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effectLst/>
                <a:latin typeface="Arial" panose="020B0604020202020204" pitchFamily="34" charset="0"/>
              </a:rPr>
              <a:t>in </a:t>
            </a:r>
            <a:r>
              <a:rPr lang="en-US" dirty="0">
                <a:effectLst/>
                <a:latin typeface="Arial" panose="020B0604020202020204" pitchFamily="34" charset="0"/>
              </a:rPr>
              <a:t>a finite amount of </a:t>
            </a:r>
            <a:r>
              <a:rPr lang="en-US" dirty="0" smtClean="0">
                <a:effectLst/>
                <a:latin typeface="Arial" panose="020B0604020202020204" pitchFamily="34" charset="0"/>
              </a:rPr>
              <a:t>time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6" grpId="0" animBg="1"/>
      <p:bldP spid="6" grpId="1" animBg="1"/>
      <p:bldP spid="5" grpId="0" animBg="1"/>
      <p:bldP spid="5" grpId="1" animBg="1"/>
      <p:bldP spid="2" grpId="0" animBg="1"/>
      <p:bldP spid="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336;p45">
            <a:extLst>
              <a:ext uri="{FF2B5EF4-FFF2-40B4-BE49-F238E27FC236}">
                <a16:creationId xmlns:a16="http://schemas.microsoft.com/office/drawing/2014/main" xmlns="" id="{58A20495-E4DE-8094-2577-EF48C021A776}"/>
              </a:ext>
            </a:extLst>
          </p:cNvPr>
          <p:cNvSpPr txBox="1">
            <a:spLocks/>
          </p:cNvSpPr>
          <p:nvPr/>
        </p:nvSpPr>
        <p:spPr>
          <a:xfrm>
            <a:off x="1294691" y="2371158"/>
            <a:ext cx="6732639" cy="1165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/>
              <a:t>A </a:t>
            </a:r>
            <a:r>
              <a:rPr lang="en-US" sz="1600" i="1" dirty="0"/>
              <a:t>problem</a:t>
            </a:r>
            <a:r>
              <a:rPr lang="en-US" sz="1600" dirty="0"/>
              <a:t> is a function from a set of inputs to a set of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2336;p45">
                <a:extLst>
                  <a:ext uri="{FF2B5EF4-FFF2-40B4-BE49-F238E27FC236}">
                    <a16:creationId xmlns:a16="http://schemas.microsoft.com/office/drawing/2014/main" xmlns="" id="{05D18D18-3A29-B5E1-6892-CDD81CDB13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94692" y="3322539"/>
                <a:ext cx="6732639" cy="116534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3600" i="1" dirty="0"/>
              </a:p>
            </p:txBody>
          </p:sp>
        </mc:Choice>
        <mc:Fallback xmlns="">
          <p:sp>
            <p:nvSpPr>
              <p:cNvPr id="7" name="Google Shape;2336;p45">
                <a:extLst>
                  <a:ext uri="{FF2B5EF4-FFF2-40B4-BE49-F238E27FC236}">
                    <a16:creationId xmlns:a16="http://schemas.microsoft.com/office/drawing/2014/main" id="{05D18D18-3A29-B5E1-6892-CDD81CDB1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692" y="3322539"/>
                <a:ext cx="6732639" cy="11653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342;p46">
                <a:extLst>
                  <a:ext uri="{FF2B5EF4-FFF2-40B4-BE49-F238E27FC236}">
                    <a16:creationId xmlns:a16="http://schemas.microsoft.com/office/drawing/2014/main" xmlns="" id="{1AA7078E-D05B-33CC-EDED-EAEAD40ABE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94691" y="655618"/>
                <a:ext cx="2576673" cy="5223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>
                  <a:spcAft>
                    <a:spcPts val="1600"/>
                  </a:spcAft>
                </a:pPr>
                <a:r>
                  <a:rPr lang="en-US" dirty="0"/>
                  <a:t>What is the GCD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8" name="Google Shape;2342;p46">
                <a:extLst>
                  <a:ext uri="{FF2B5EF4-FFF2-40B4-BE49-F238E27FC236}">
                    <a16:creationId xmlns:a16="http://schemas.microsoft.com/office/drawing/2014/main" id="{1AA7078E-D05B-33CC-EDED-EAEAD40AB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691" y="655618"/>
                <a:ext cx="2576673" cy="522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2342;p46">
                <a:extLst>
                  <a:ext uri="{FF2B5EF4-FFF2-40B4-BE49-F238E27FC236}">
                    <a16:creationId xmlns:a16="http://schemas.microsoft.com/office/drawing/2014/main" xmlns="" id="{73CB4BF5-5B21-F273-459C-420A9E8E93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2463" y="655618"/>
                <a:ext cx="3162301" cy="5223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>
                  <a:spcAft>
                    <a:spcPts val="1600"/>
                  </a:spcAft>
                </a:pPr>
                <a:r>
                  <a:rPr lang="en-US" dirty="0"/>
                  <a:t>What is the shortest path in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between nodes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9" name="Google Shape;2342;p46">
                <a:extLst>
                  <a:ext uri="{FF2B5EF4-FFF2-40B4-BE49-F238E27FC236}">
                    <a16:creationId xmlns:a16="http://schemas.microsoft.com/office/drawing/2014/main" id="{73CB4BF5-5B21-F273-459C-420A9E8E9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463" y="655618"/>
                <a:ext cx="3162301" cy="522300"/>
              </a:xfrm>
              <a:prstGeom prst="rect">
                <a:avLst/>
              </a:prstGeom>
              <a:blipFill>
                <a:blip r:embed="rId5"/>
                <a:stretch>
                  <a:fillRect b="-2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2342;p46">
                <a:extLst>
                  <a:ext uri="{FF2B5EF4-FFF2-40B4-BE49-F238E27FC236}">
                    <a16:creationId xmlns:a16="http://schemas.microsoft.com/office/drawing/2014/main" xmlns="" id="{3BA936FE-0CC1-15B8-E09D-B44318BEEB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83102" y="1466778"/>
                <a:ext cx="2916495" cy="5223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>
                  <a:spcAft>
                    <a:spcPts val="1600"/>
                  </a:spcAft>
                </a:pPr>
                <a:r>
                  <a:rPr lang="en-US" dirty="0"/>
                  <a:t>What is the sorted order of list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0" name="Google Shape;2342;p46">
                <a:extLst>
                  <a:ext uri="{FF2B5EF4-FFF2-40B4-BE49-F238E27FC236}">
                    <a16:creationId xmlns:a16="http://schemas.microsoft.com/office/drawing/2014/main" id="{3BA936FE-0CC1-15B8-E09D-B44318BEE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102" y="1466778"/>
                <a:ext cx="2916495" cy="522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336;p45">
            <a:extLst>
              <a:ext uri="{FF2B5EF4-FFF2-40B4-BE49-F238E27FC236}">
                <a16:creationId xmlns:a16="http://schemas.microsoft.com/office/drawing/2014/main" xmlns="" id="{58A20495-E4DE-8094-2577-EF48C021A776}"/>
              </a:ext>
            </a:extLst>
          </p:cNvPr>
          <p:cNvSpPr txBox="1">
            <a:spLocks/>
          </p:cNvSpPr>
          <p:nvPr/>
        </p:nvSpPr>
        <p:spPr>
          <a:xfrm>
            <a:off x="1294690" y="1638635"/>
            <a:ext cx="6732639" cy="1165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/>
              <a:t>A </a:t>
            </a:r>
            <a:r>
              <a:rPr lang="en-US" sz="1600" b="1" dirty="0">
                <a:solidFill>
                  <a:schemeClr val="bg2"/>
                </a:solidFill>
              </a:rPr>
              <a:t>problem</a:t>
            </a:r>
            <a:r>
              <a:rPr lang="en-US" sz="1600" dirty="0"/>
              <a:t> is a function from a set of inputs to a set of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2336;p45">
                <a:extLst>
                  <a:ext uri="{FF2B5EF4-FFF2-40B4-BE49-F238E27FC236}">
                    <a16:creationId xmlns:a16="http://schemas.microsoft.com/office/drawing/2014/main" xmlns="" id="{05D18D18-3A29-B5E1-6892-CDD81CDB13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94691" y="2590016"/>
                <a:ext cx="6732639" cy="116534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3600" i="1" dirty="0"/>
              </a:p>
            </p:txBody>
          </p:sp>
        </mc:Choice>
        <mc:Fallback>
          <p:sp>
            <p:nvSpPr>
              <p:cNvPr id="7" name="Google Shape;2336;p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5D18D18-3A29-B5E1-6892-CDD81CDB1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691" y="2590016"/>
                <a:ext cx="6732639" cy="116534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98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36;p45">
            <a:extLst>
              <a:ext uri="{FF2B5EF4-FFF2-40B4-BE49-F238E27FC236}">
                <a16:creationId xmlns:a16="http://schemas.microsoft.com/office/drawing/2014/main" xmlns="" id="{EB24D42D-EC6B-CAF8-ADFD-6D494E7B0171}"/>
              </a:ext>
            </a:extLst>
          </p:cNvPr>
          <p:cNvSpPr txBox="1">
            <a:spLocks/>
          </p:cNvSpPr>
          <p:nvPr/>
        </p:nvSpPr>
        <p:spPr>
          <a:xfrm>
            <a:off x="1409697" y="1951723"/>
            <a:ext cx="6732639" cy="1165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/>
              <a:t>A </a:t>
            </a:r>
            <a:r>
              <a:rPr lang="en-US" sz="1600" i="1" dirty="0"/>
              <a:t>decision</a:t>
            </a:r>
            <a:r>
              <a:rPr lang="en-US" sz="1600" dirty="0"/>
              <a:t> </a:t>
            </a:r>
            <a:r>
              <a:rPr lang="en-US" sz="1600" i="1" dirty="0"/>
              <a:t>problem</a:t>
            </a:r>
            <a:r>
              <a:rPr lang="en-US" sz="1600" dirty="0"/>
              <a:t> is a problem with a </a:t>
            </a:r>
            <a:r>
              <a:rPr lang="en-US" sz="1600" dirty="0" err="1"/>
              <a:t>boolean</a:t>
            </a:r>
            <a:r>
              <a:rPr lang="en-US" sz="1600" dirty="0"/>
              <a:t>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36;p45">
                <a:extLst>
                  <a:ext uri="{FF2B5EF4-FFF2-40B4-BE49-F238E27FC236}">
                    <a16:creationId xmlns:a16="http://schemas.microsoft.com/office/drawing/2014/main" xmlns="" id="{772843D0-5B44-A4D1-069C-E5BB0662CE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09698" y="2903104"/>
                <a:ext cx="6732639" cy="116534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lit/>
                        </m:rPr>
                        <a:rPr lang="en-US" sz="36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𝐹𝐴𝐿𝑆𝐸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𝑇𝑅𝑈𝐸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600" i="1" dirty="0"/>
              </a:p>
            </p:txBody>
          </p:sp>
        </mc:Choice>
        <mc:Fallback xmlns="">
          <p:sp>
            <p:nvSpPr>
              <p:cNvPr id="6" name="Google Shape;2336;p45">
                <a:extLst>
                  <a:ext uri="{FF2B5EF4-FFF2-40B4-BE49-F238E27FC236}">
                    <a16:creationId xmlns:a16="http://schemas.microsoft.com/office/drawing/2014/main" id="{772843D0-5B44-A4D1-069C-E5BB0662C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698" y="2903104"/>
                <a:ext cx="6732639" cy="11653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2342;p46">
                <a:extLst>
                  <a:ext uri="{FF2B5EF4-FFF2-40B4-BE49-F238E27FC236}">
                    <a16:creationId xmlns:a16="http://schemas.microsoft.com/office/drawing/2014/main" xmlns="" id="{B4D13B37-FDAF-01CA-B872-27EA37D04D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8245" y="384822"/>
                <a:ext cx="2576673" cy="5223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>
                  <a:spcAft>
                    <a:spcPts val="1600"/>
                  </a:spcAft>
                </a:pPr>
                <a:r>
                  <a:rPr lang="en-US" dirty="0"/>
                  <a:t>Is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prime?</a:t>
                </a:r>
              </a:p>
            </p:txBody>
          </p:sp>
        </mc:Choice>
        <mc:Fallback xmlns="">
          <p:sp>
            <p:nvSpPr>
              <p:cNvPr id="7" name="Google Shape;2342;p46">
                <a:extLst>
                  <a:ext uri="{FF2B5EF4-FFF2-40B4-BE49-F238E27FC236}">
                    <a16:creationId xmlns:a16="http://schemas.microsoft.com/office/drawing/2014/main" id="{B4D13B37-FDAF-01CA-B872-27EA37D04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45" y="384822"/>
                <a:ext cx="2576673" cy="522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342;p46">
                <a:extLst>
                  <a:ext uri="{FF2B5EF4-FFF2-40B4-BE49-F238E27FC236}">
                    <a16:creationId xmlns:a16="http://schemas.microsoft.com/office/drawing/2014/main" xmlns="" id="{CC92011B-9361-3454-F3E6-504F3A2B60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76017" y="384822"/>
                <a:ext cx="3162301" cy="5223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>
                  <a:spcAft>
                    <a:spcPts val="1600"/>
                  </a:spcAft>
                </a:pPr>
                <a:r>
                  <a:rPr lang="en-US" dirty="0"/>
                  <a:t>Is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fully connected?</a:t>
                </a:r>
              </a:p>
            </p:txBody>
          </p:sp>
        </mc:Choice>
        <mc:Fallback xmlns="">
          <p:sp>
            <p:nvSpPr>
              <p:cNvPr id="8" name="Google Shape;2342;p46">
                <a:extLst>
                  <a:ext uri="{FF2B5EF4-FFF2-40B4-BE49-F238E27FC236}">
                    <a16:creationId xmlns:a16="http://schemas.microsoft.com/office/drawing/2014/main" id="{CC92011B-9361-3454-F3E6-504F3A2B6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017" y="384822"/>
                <a:ext cx="3162301" cy="522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2342;p46">
                <a:extLst>
                  <a:ext uri="{FF2B5EF4-FFF2-40B4-BE49-F238E27FC236}">
                    <a16:creationId xmlns:a16="http://schemas.microsoft.com/office/drawing/2014/main" xmlns="" id="{D62283E5-6CC4-C063-FFF8-C54E131CC7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98836" y="1075053"/>
                <a:ext cx="3554362" cy="5223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>
                  <a:spcAft>
                    <a:spcPts val="1600"/>
                  </a:spcAft>
                </a:pPr>
                <a:r>
                  <a:rPr lang="en-US" dirty="0"/>
                  <a:t>Can program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ever trigger a SEGFAULT?</a:t>
                </a:r>
              </a:p>
            </p:txBody>
          </p:sp>
        </mc:Choice>
        <mc:Fallback xmlns="">
          <p:sp>
            <p:nvSpPr>
              <p:cNvPr id="9" name="Google Shape;2342;p46">
                <a:extLst>
                  <a:ext uri="{FF2B5EF4-FFF2-40B4-BE49-F238E27FC236}">
                    <a16:creationId xmlns:a16="http://schemas.microsoft.com/office/drawing/2014/main" id="{D62283E5-6CC4-C063-FFF8-C54E131CC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836" y="1075053"/>
                <a:ext cx="3554362" cy="522300"/>
              </a:xfrm>
              <a:prstGeom prst="rect">
                <a:avLst/>
              </a:prstGeom>
              <a:blipFill>
                <a:blip r:embed="rId6"/>
                <a:stretch>
                  <a:fillRect l="-515" r="-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369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336;p45">
            <a:extLst>
              <a:ext uri="{FF2B5EF4-FFF2-40B4-BE49-F238E27FC236}">
                <a16:creationId xmlns:a16="http://schemas.microsoft.com/office/drawing/2014/main" xmlns="" id="{58A20495-E4DE-8094-2577-EF48C021A776}"/>
              </a:ext>
            </a:extLst>
          </p:cNvPr>
          <p:cNvSpPr txBox="1">
            <a:spLocks/>
          </p:cNvSpPr>
          <p:nvPr/>
        </p:nvSpPr>
        <p:spPr>
          <a:xfrm>
            <a:off x="1294690" y="1638635"/>
            <a:ext cx="6732639" cy="1165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/>
              <a:t>A </a:t>
            </a:r>
            <a:r>
              <a:rPr lang="en-US" sz="1600" b="1" dirty="0">
                <a:solidFill>
                  <a:schemeClr val="bg2"/>
                </a:solidFill>
              </a:rPr>
              <a:t>decision problem</a:t>
            </a:r>
            <a:r>
              <a:rPr lang="en-US" sz="1600" dirty="0"/>
              <a:t> is a problem with a </a:t>
            </a:r>
            <a:r>
              <a:rPr lang="en-US" sz="1600" dirty="0" err="1"/>
              <a:t>boolean</a:t>
            </a:r>
            <a:r>
              <a:rPr lang="en-US" sz="1600" dirty="0"/>
              <a:t> output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2336;p45">
                <a:extLst>
                  <a:ext uri="{FF2B5EF4-FFF2-40B4-BE49-F238E27FC236}">
                    <a16:creationId xmlns:a16="http://schemas.microsoft.com/office/drawing/2014/main" xmlns="" id="{05D18D18-3A29-B5E1-6892-CDD81CDB13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94691" y="2590016"/>
                <a:ext cx="6732639" cy="116534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lit/>
                        </m:rPr>
                        <a:rPr lang="en-US" sz="36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𝐹𝐴𝐿𝑆𝐸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𝑇𝑅𝑈𝐸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600" i="1" dirty="0"/>
              </a:p>
            </p:txBody>
          </p:sp>
        </mc:Choice>
        <mc:Fallback>
          <p:sp>
            <p:nvSpPr>
              <p:cNvPr id="7" name="Google Shape;2336;p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5D18D18-3A29-B5E1-6892-CDD81CDB1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691" y="2590016"/>
                <a:ext cx="6732639" cy="116534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889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46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Inputs (outputs) as strings</a:t>
            </a:r>
            <a:endParaRPr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97CC7688-7443-B8E0-CB00-7CDD5E9B49DB}"/>
              </a:ext>
            </a:extLst>
          </p:cNvPr>
          <p:cNvSpPr/>
          <p:nvPr/>
        </p:nvSpPr>
        <p:spPr>
          <a:xfrm>
            <a:off x="1691236" y="2400230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7B18C3DF-837F-9C5D-80CA-276007F3783D}"/>
              </a:ext>
            </a:extLst>
          </p:cNvPr>
          <p:cNvSpPr/>
          <p:nvPr/>
        </p:nvSpPr>
        <p:spPr>
          <a:xfrm>
            <a:off x="5125632" y="1600605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7EC19FF9-AB7F-58DB-2D85-DF784FADBD00}"/>
              </a:ext>
            </a:extLst>
          </p:cNvPr>
          <p:cNvSpPr/>
          <p:nvPr/>
        </p:nvSpPr>
        <p:spPr>
          <a:xfrm>
            <a:off x="2953594" y="3175716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6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09076516-52E9-BE45-C2AE-7AEC20DFED59}"/>
              </a:ext>
            </a:extLst>
          </p:cNvPr>
          <p:cNvSpPr/>
          <p:nvPr/>
        </p:nvSpPr>
        <p:spPr>
          <a:xfrm>
            <a:off x="4416904" y="3248547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D335F97F-71DE-B1C1-EAE7-0F0FC8E376B5}"/>
              </a:ext>
            </a:extLst>
          </p:cNvPr>
          <p:cNvSpPr/>
          <p:nvPr/>
        </p:nvSpPr>
        <p:spPr>
          <a:xfrm>
            <a:off x="6841142" y="2628830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A4426A2A-5E98-E1C4-E5DC-6EB7588A748E}"/>
              </a:ext>
            </a:extLst>
          </p:cNvPr>
          <p:cNvSpPr/>
          <p:nvPr/>
        </p:nvSpPr>
        <p:spPr>
          <a:xfrm>
            <a:off x="2782312" y="1719557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7B254CD-17B6-A513-8E7E-01EE4C858E45}"/>
              </a:ext>
            </a:extLst>
          </p:cNvPr>
          <p:cNvCxnSpPr>
            <a:stCxn id="5" idx="7"/>
            <a:endCxn id="10" idx="3"/>
          </p:cNvCxnSpPr>
          <p:nvPr/>
        </p:nvCxnSpPr>
        <p:spPr>
          <a:xfrm flipV="1">
            <a:off x="2081481" y="2057805"/>
            <a:ext cx="700831" cy="40938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24CCF7AB-E825-93E8-A8A3-2CF0716B4EF0}"/>
              </a:ext>
            </a:extLst>
          </p:cNvPr>
          <p:cNvCxnSpPr>
            <a:stCxn id="10" idx="6"/>
            <a:endCxn id="6" idx="2"/>
          </p:cNvCxnSpPr>
          <p:nvPr/>
        </p:nvCxnSpPr>
        <p:spPr>
          <a:xfrm flipV="1">
            <a:off x="3239512" y="1829205"/>
            <a:ext cx="1886120" cy="11895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1A992DE4-735F-4335-ED71-6569327EC2D7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2081481" y="2790475"/>
            <a:ext cx="939068" cy="452196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1C71C842-F44C-5864-A9DC-7E1C76B0580F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>
            <a:off x="5515877" y="1990850"/>
            <a:ext cx="1392220" cy="70493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3D16088C-38BB-20A9-6943-7FDA8F972859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 flipH="1">
            <a:off x="4645504" y="2057805"/>
            <a:ext cx="708728" cy="119074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D09E7F8D-C8BE-9A8E-981A-58C22FF848A5}"/>
              </a:ext>
            </a:extLst>
          </p:cNvPr>
          <p:cNvCxnSpPr>
            <a:cxnSpLocks/>
            <a:stCxn id="6" idx="3"/>
            <a:endCxn id="5" idx="6"/>
          </p:cNvCxnSpPr>
          <p:nvPr/>
        </p:nvCxnSpPr>
        <p:spPr>
          <a:xfrm flipH="1">
            <a:off x="2148436" y="1990850"/>
            <a:ext cx="3044151" cy="63798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xmlns="" id="{11E0F048-3158-A293-19E7-57ABE634EA18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4874104" y="3019075"/>
            <a:ext cx="2033993" cy="458072"/>
          </a:xfrm>
          <a:prstGeom prst="curved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xmlns="" id="{D540D92D-6060-17D9-939C-DC7E785D4E16}"/>
              </a:ext>
            </a:extLst>
          </p:cNvPr>
          <p:cNvCxnSpPr>
            <a:cxnSpLocks/>
            <a:stCxn id="9" idx="2"/>
            <a:endCxn id="8" idx="7"/>
          </p:cNvCxnSpPr>
          <p:nvPr/>
        </p:nvCxnSpPr>
        <p:spPr>
          <a:xfrm rot="10800000" flipV="1">
            <a:off x="4807150" y="2857430"/>
            <a:ext cx="2033993" cy="458072"/>
          </a:xfrm>
          <a:prstGeom prst="curved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2342;p46">
            <a:extLst>
              <a:ext uri="{FF2B5EF4-FFF2-40B4-BE49-F238E27FC236}">
                <a16:creationId xmlns:a16="http://schemas.microsoft.com/office/drawing/2014/main" xmlns="" id="{373BBD98-4070-A7A5-9DC6-2AD09BDF9A37}"/>
              </a:ext>
            </a:extLst>
          </p:cNvPr>
          <p:cNvSpPr txBox="1">
            <a:spLocks/>
          </p:cNvSpPr>
          <p:nvPr/>
        </p:nvSpPr>
        <p:spPr>
          <a:xfrm>
            <a:off x="720000" y="4097130"/>
            <a:ext cx="7704000" cy="5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1600"/>
              </a:spcAft>
            </a:pPr>
            <a:r>
              <a:rPr lang="en-US" sz="1600" dirty="0">
                <a:latin typeface="Lucida Sans Typewriter" panose="020B0509030504030204" pitchFamily="49" charset="0"/>
              </a:rPr>
              <a:t>“(1&gt;2);(1&gt;3);(1&gt;6);(2&gt;3);(3&gt;1);(3&gt;4);(3&gt;5);(4&gt;5);(5&gt;4)”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336;p45">
            <a:extLst>
              <a:ext uri="{FF2B5EF4-FFF2-40B4-BE49-F238E27FC236}">
                <a16:creationId xmlns:a16="http://schemas.microsoft.com/office/drawing/2014/main" xmlns="" id="{B8D8C8FF-9CBF-755E-6971-3D6E4F79A6A5}"/>
              </a:ext>
            </a:extLst>
          </p:cNvPr>
          <p:cNvSpPr txBox="1">
            <a:spLocks/>
          </p:cNvSpPr>
          <p:nvPr/>
        </p:nvSpPr>
        <p:spPr>
          <a:xfrm>
            <a:off x="1205679" y="1037697"/>
            <a:ext cx="6732639" cy="1165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/>
              <a:t>A </a:t>
            </a:r>
            <a:r>
              <a:rPr lang="en-US" sz="1600" i="1" dirty="0"/>
              <a:t>problem</a:t>
            </a:r>
            <a:r>
              <a:rPr lang="en-US" sz="1600" dirty="0"/>
              <a:t> is a function from </a:t>
            </a:r>
            <a:r>
              <a:rPr lang="en-US" sz="1600" strike="sngStrike" dirty="0"/>
              <a:t>a set of inputs</a:t>
            </a:r>
            <a:r>
              <a:rPr lang="en-US" sz="1600" dirty="0"/>
              <a:t> to </a:t>
            </a:r>
            <a:r>
              <a:rPr lang="en-US" sz="1600" strike="sngStrike" dirty="0"/>
              <a:t>a set of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2336;p45">
                <a:extLst>
                  <a:ext uri="{FF2B5EF4-FFF2-40B4-BE49-F238E27FC236}">
                    <a16:creationId xmlns:a16="http://schemas.microsoft.com/office/drawing/2014/main" xmlns="" id="{5B671CA7-E63D-A58B-C711-6969C2FF70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5680" y="1989078"/>
                <a:ext cx="6732639" cy="116534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3600" i="1" dirty="0"/>
              </a:p>
            </p:txBody>
          </p:sp>
        </mc:Choice>
        <mc:Fallback xmlns="">
          <p:sp>
            <p:nvSpPr>
              <p:cNvPr id="13" name="Google Shape;2336;p45">
                <a:extLst>
                  <a:ext uri="{FF2B5EF4-FFF2-40B4-BE49-F238E27FC236}">
                    <a16:creationId xmlns:a16="http://schemas.microsoft.com/office/drawing/2014/main" id="{5B671CA7-E63D-A58B-C711-6969C2FF7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680" y="1989078"/>
                <a:ext cx="6732639" cy="11653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2336;p45">
            <a:extLst>
              <a:ext uri="{FF2B5EF4-FFF2-40B4-BE49-F238E27FC236}">
                <a16:creationId xmlns:a16="http://schemas.microsoft.com/office/drawing/2014/main" xmlns="" id="{51BD3238-258A-B12B-C65A-5187F94722A8}"/>
              </a:ext>
            </a:extLst>
          </p:cNvPr>
          <p:cNvSpPr txBox="1">
            <a:spLocks/>
          </p:cNvSpPr>
          <p:nvPr/>
        </p:nvSpPr>
        <p:spPr>
          <a:xfrm>
            <a:off x="4449236" y="1113897"/>
            <a:ext cx="1037163" cy="4332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/>
              <a:t>strings</a:t>
            </a:r>
            <a:endParaRPr lang="en-US" sz="1600" strike="sngStrike" dirty="0"/>
          </a:p>
        </p:txBody>
      </p:sp>
      <p:sp>
        <p:nvSpPr>
          <p:cNvPr id="15" name="Google Shape;2336;p45">
            <a:extLst>
              <a:ext uri="{FF2B5EF4-FFF2-40B4-BE49-F238E27FC236}">
                <a16:creationId xmlns:a16="http://schemas.microsoft.com/office/drawing/2014/main" xmlns="" id="{6B687437-51C1-B831-FF8F-CE82432A3CA2}"/>
              </a:ext>
            </a:extLst>
          </p:cNvPr>
          <p:cNvSpPr txBox="1">
            <a:spLocks/>
          </p:cNvSpPr>
          <p:nvPr/>
        </p:nvSpPr>
        <p:spPr>
          <a:xfrm>
            <a:off x="6193777" y="1113897"/>
            <a:ext cx="1037163" cy="4332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/>
              <a:t>strings</a:t>
            </a:r>
            <a:endParaRPr lang="en-US" sz="1600" strike="sngStrike" dirty="0"/>
          </a:p>
        </p:txBody>
      </p:sp>
      <p:sp>
        <p:nvSpPr>
          <p:cNvPr id="16" name="Google Shape;2336;p45">
            <a:extLst>
              <a:ext uri="{FF2B5EF4-FFF2-40B4-BE49-F238E27FC236}">
                <a16:creationId xmlns:a16="http://schemas.microsoft.com/office/drawing/2014/main" xmlns="" id="{CAC24D9A-7CC4-B3D1-9D8C-1CE5BC0C1078}"/>
              </a:ext>
            </a:extLst>
          </p:cNvPr>
          <p:cNvSpPr txBox="1">
            <a:spLocks/>
          </p:cNvSpPr>
          <p:nvPr/>
        </p:nvSpPr>
        <p:spPr>
          <a:xfrm>
            <a:off x="1205679" y="3316262"/>
            <a:ext cx="6732639" cy="1165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A </a:t>
            </a:r>
            <a:r>
              <a:rPr lang="en-US" i="1" dirty="0"/>
              <a:t>decision</a:t>
            </a:r>
            <a:r>
              <a:rPr lang="en-US" dirty="0"/>
              <a:t> </a:t>
            </a:r>
            <a:r>
              <a:rPr lang="en-US" i="1" dirty="0"/>
              <a:t>problem</a:t>
            </a:r>
            <a:r>
              <a:rPr lang="en-US" dirty="0"/>
              <a:t> is a problem with a </a:t>
            </a:r>
            <a:r>
              <a:rPr lang="en-US" dirty="0" err="1"/>
              <a:t>boolean</a:t>
            </a:r>
            <a:r>
              <a:rPr lang="en-US" dirty="0"/>
              <a:t>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Google Shape;2336;p45">
                <a:extLst>
                  <a:ext uri="{FF2B5EF4-FFF2-40B4-BE49-F238E27FC236}">
                    <a16:creationId xmlns:a16="http://schemas.microsoft.com/office/drawing/2014/main" xmlns="" id="{5618C56C-9E15-AF1A-D5BA-66AE313C42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5679" y="3806397"/>
                <a:ext cx="6732639" cy="116534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𝐹𝐴𝐿𝑆𝐸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𝑇𝑅𝑈𝐸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7" name="Google Shape;2336;p45">
                <a:extLst>
                  <a:ext uri="{FF2B5EF4-FFF2-40B4-BE49-F238E27FC236}">
                    <a16:creationId xmlns:a16="http://schemas.microsoft.com/office/drawing/2014/main" id="{5618C56C-9E15-AF1A-D5BA-66AE313C4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679" y="3806397"/>
                <a:ext cx="6732639" cy="11653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p50"/>
          <p:cNvSpPr txBox="1">
            <a:spLocks noGrp="1"/>
          </p:cNvSpPr>
          <p:nvPr>
            <p:ph type="title"/>
          </p:nvPr>
        </p:nvSpPr>
        <p:spPr>
          <a:xfrm>
            <a:off x="1152900" y="1307100"/>
            <a:ext cx="68382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Administrative stuff</a:t>
            </a:r>
            <a:endParaRPr sz="7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Grade calculation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15E58FB-8571-3E1C-DDD5-5006E7171A72}"/>
              </a:ext>
            </a:extLst>
          </p:cNvPr>
          <p:cNvSpPr txBox="1"/>
          <p:nvPr/>
        </p:nvSpPr>
        <p:spPr>
          <a:xfrm>
            <a:off x="720000" y="1093911"/>
            <a:ext cx="3852000" cy="3768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dirty="0"/>
              <a:t>Semester activities: </a:t>
            </a:r>
            <a:r>
              <a:rPr lang="en-US" b="1" dirty="0"/>
              <a:t>60 points</a:t>
            </a:r>
          </a:p>
          <a:p>
            <a:pPr>
              <a:lnSpc>
                <a:spcPct val="300000"/>
              </a:lnSpc>
            </a:pPr>
            <a:r>
              <a:rPr lang="en-US" b="1" dirty="0"/>
              <a:t>	</a:t>
            </a:r>
            <a:r>
              <a:rPr lang="en-US" dirty="0"/>
              <a:t>Assignments: </a:t>
            </a:r>
            <a:r>
              <a:rPr lang="en-US" b="1" dirty="0"/>
              <a:t>20 points</a:t>
            </a:r>
          </a:p>
          <a:p>
            <a:pPr>
              <a:lnSpc>
                <a:spcPct val="300000"/>
              </a:lnSpc>
            </a:pPr>
            <a:r>
              <a:rPr lang="en-US" b="1" dirty="0"/>
              <a:t>	</a:t>
            </a:r>
            <a:r>
              <a:rPr lang="en-US" dirty="0"/>
              <a:t>Partial exam: </a:t>
            </a:r>
            <a:r>
              <a:rPr lang="en-US" b="1" dirty="0"/>
              <a:t>30 points</a:t>
            </a:r>
          </a:p>
          <a:p>
            <a:pPr>
              <a:lnSpc>
                <a:spcPct val="300000"/>
              </a:lnSpc>
            </a:pPr>
            <a:r>
              <a:rPr lang="en-US" b="1" dirty="0"/>
              <a:t>	</a:t>
            </a:r>
            <a:r>
              <a:rPr lang="en-US" dirty="0"/>
              <a:t>Lab attendance: </a:t>
            </a:r>
            <a:r>
              <a:rPr lang="en-US" b="1" dirty="0"/>
              <a:t>10 points</a:t>
            </a:r>
          </a:p>
          <a:p>
            <a:pPr>
              <a:lnSpc>
                <a:spcPct val="300000"/>
              </a:lnSpc>
            </a:pPr>
            <a:r>
              <a:rPr lang="en-US" dirty="0"/>
              <a:t>Exam: </a:t>
            </a:r>
            <a:r>
              <a:rPr lang="en-US" b="1" dirty="0"/>
              <a:t>40 points</a:t>
            </a:r>
          </a:p>
          <a:p>
            <a:pPr>
              <a:lnSpc>
                <a:spcPct val="250000"/>
              </a:lnSpc>
            </a:pP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62ED730-EE88-2BF2-CE7E-56E959A1AF23}"/>
              </a:ext>
            </a:extLst>
          </p:cNvPr>
          <p:cNvSpPr txBox="1"/>
          <p:nvPr/>
        </p:nvSpPr>
        <p:spPr>
          <a:xfrm>
            <a:off x="4572000" y="1094622"/>
            <a:ext cx="3852000" cy="3261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sz="1800" b="1" dirty="0"/>
              <a:t>Minimum 30 points required</a:t>
            </a:r>
            <a:r>
              <a:rPr lang="en-US" sz="1800" dirty="0"/>
              <a:t>.</a:t>
            </a:r>
          </a:p>
          <a:p>
            <a:pPr>
              <a:lnSpc>
                <a:spcPct val="300000"/>
              </a:lnSpc>
            </a:pPr>
            <a:endParaRPr lang="en-US" sz="1800" b="1" dirty="0"/>
          </a:p>
          <a:p>
            <a:pPr>
              <a:lnSpc>
                <a:spcPct val="300000"/>
              </a:lnSpc>
            </a:pPr>
            <a:endParaRPr lang="en-US" sz="1800" b="1" dirty="0"/>
          </a:p>
          <a:p>
            <a:pPr>
              <a:lnSpc>
                <a:spcPct val="300000"/>
              </a:lnSpc>
            </a:pPr>
            <a:r>
              <a:rPr lang="en-US" sz="1800" b="1" dirty="0"/>
              <a:t>Minimum 20 points required.</a:t>
            </a:r>
          </a:p>
        </p:txBody>
      </p:sp>
    </p:spTree>
    <p:extLst>
      <p:ext uri="{BB962C8B-B14F-4D97-AF65-F5344CB8AC3E}">
        <p14:creationId xmlns:p14="http://schemas.microsoft.com/office/powerpoint/2010/main" val="150011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Assignments (20p)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15E58FB-8571-3E1C-DDD5-5006E7171A72}"/>
              </a:ext>
            </a:extLst>
          </p:cNvPr>
          <p:cNvSpPr txBox="1"/>
          <p:nvPr/>
        </p:nvSpPr>
        <p:spPr>
          <a:xfrm>
            <a:off x="720000" y="1222441"/>
            <a:ext cx="5961600" cy="76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sz="1800" dirty="0"/>
              <a:t>Two assignments, </a:t>
            </a:r>
            <a:r>
              <a:rPr lang="en-US" sz="1800" b="1" dirty="0"/>
              <a:t>10 points each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62ED730-EE88-2BF2-CE7E-56E959A1AF23}"/>
              </a:ext>
            </a:extLst>
          </p:cNvPr>
          <p:cNvSpPr txBox="1"/>
          <p:nvPr/>
        </p:nvSpPr>
        <p:spPr>
          <a:xfrm>
            <a:off x="720000" y="2045083"/>
            <a:ext cx="3852000" cy="19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dirty="0"/>
              <a:t>First assignment:</a:t>
            </a:r>
          </a:p>
          <a:p>
            <a:pPr>
              <a:lnSpc>
                <a:spcPct val="300000"/>
              </a:lnSpc>
            </a:pPr>
            <a:r>
              <a:rPr lang="en-US" dirty="0"/>
              <a:t>	Turing Machines</a:t>
            </a:r>
          </a:p>
          <a:p>
            <a:pPr>
              <a:lnSpc>
                <a:spcPct val="300000"/>
              </a:lnSpc>
            </a:pPr>
            <a:r>
              <a:rPr lang="en-US" dirty="0"/>
              <a:t>	</a:t>
            </a:r>
            <a:r>
              <a:rPr lang="en-US" b="1" dirty="0"/>
              <a:t>1.NOV.2022 – 14.NOV.2022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E70337E-CF2F-5647-A5B1-EBE8956248D7}"/>
              </a:ext>
            </a:extLst>
          </p:cNvPr>
          <p:cNvSpPr txBox="1"/>
          <p:nvPr/>
        </p:nvSpPr>
        <p:spPr>
          <a:xfrm>
            <a:off x="4572000" y="2045083"/>
            <a:ext cx="3852000" cy="19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dirty="0"/>
              <a:t>Second assignment:</a:t>
            </a:r>
          </a:p>
          <a:p>
            <a:pPr>
              <a:lnSpc>
                <a:spcPct val="300000"/>
              </a:lnSpc>
            </a:pPr>
            <a:r>
              <a:rPr lang="en-US" dirty="0"/>
              <a:t>	P and NP</a:t>
            </a:r>
          </a:p>
          <a:p>
            <a:pPr>
              <a:lnSpc>
                <a:spcPct val="300000"/>
              </a:lnSpc>
            </a:pPr>
            <a:r>
              <a:rPr lang="en-US" dirty="0"/>
              <a:t>	</a:t>
            </a:r>
            <a:r>
              <a:rPr lang="en-US" b="1" dirty="0"/>
              <a:t>19.DEC.2022 – 15.JAN.2023</a:t>
            </a:r>
          </a:p>
        </p:txBody>
      </p:sp>
    </p:spTree>
    <p:extLst>
      <p:ext uri="{BB962C8B-B14F-4D97-AF65-F5344CB8AC3E}">
        <p14:creationId xmlns:p14="http://schemas.microsoft.com/office/powerpoint/2010/main" val="249051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Midterm exam (30p)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15E58FB-8571-3E1C-DDD5-5006E7171A72}"/>
              </a:ext>
            </a:extLst>
          </p:cNvPr>
          <p:cNvSpPr txBox="1"/>
          <p:nvPr/>
        </p:nvSpPr>
        <p:spPr>
          <a:xfrm>
            <a:off x="720000" y="1232922"/>
            <a:ext cx="7704000" cy="2677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300000"/>
              </a:lnSpc>
            </a:pPr>
            <a:r>
              <a:rPr lang="en-US" dirty="0"/>
              <a:t>15 multiple-choice questions</a:t>
            </a:r>
            <a:endParaRPr lang="en-US" b="1" dirty="0"/>
          </a:p>
          <a:p>
            <a:pPr>
              <a:lnSpc>
                <a:spcPct val="300000"/>
              </a:lnSpc>
            </a:pPr>
            <a:r>
              <a:rPr lang="en-US" dirty="0"/>
              <a:t>2 points per questions</a:t>
            </a:r>
          </a:p>
          <a:p>
            <a:pPr>
              <a:lnSpc>
                <a:spcPct val="300000"/>
              </a:lnSpc>
            </a:pPr>
            <a:r>
              <a:rPr lang="en-US" dirty="0"/>
              <a:t>6</a:t>
            </a:r>
            <a:r>
              <a:rPr lang="en-US" dirty="0" smtClean="0"/>
              <a:t>0 </a:t>
            </a:r>
            <a:r>
              <a:rPr lang="en-US" dirty="0"/>
              <a:t>minutes</a:t>
            </a:r>
          </a:p>
          <a:p>
            <a:pPr>
              <a:lnSpc>
                <a:spcPct val="300000"/>
              </a:lnSpc>
            </a:pPr>
            <a:r>
              <a:rPr lang="en-US" b="1" dirty="0"/>
              <a:t>On December 21</a:t>
            </a:r>
            <a:r>
              <a:rPr lang="en-US" b="1" baseline="30000" dirty="0"/>
              <a:t>st</a:t>
            </a:r>
            <a:r>
              <a:rPr lang="en-US" b="1" dirty="0"/>
              <a:t>, 18:00 (at the lecture)</a:t>
            </a:r>
          </a:p>
        </p:txBody>
      </p:sp>
    </p:spTree>
    <p:extLst>
      <p:ext uri="{BB962C8B-B14F-4D97-AF65-F5344CB8AC3E}">
        <p14:creationId xmlns:p14="http://schemas.microsoft.com/office/powerpoint/2010/main" val="29186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Lab attendance (10p)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15E58FB-8571-3E1C-DDD5-5006E7171A72}"/>
              </a:ext>
            </a:extLst>
          </p:cNvPr>
          <p:cNvSpPr txBox="1"/>
          <p:nvPr/>
        </p:nvSpPr>
        <p:spPr>
          <a:xfrm>
            <a:off x="720000" y="1741911"/>
            <a:ext cx="3852000" cy="2476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dirty="0"/>
              <a:t>12 labs</a:t>
            </a:r>
          </a:p>
          <a:p>
            <a:pPr>
              <a:lnSpc>
                <a:spcPct val="300000"/>
              </a:lnSpc>
            </a:pPr>
            <a:r>
              <a:rPr lang="en-US" b="1" dirty="0"/>
              <a:t>1 point per lab</a:t>
            </a:r>
          </a:p>
          <a:p>
            <a:pPr>
              <a:lnSpc>
                <a:spcPct val="300000"/>
              </a:lnSpc>
            </a:pPr>
            <a:r>
              <a:rPr lang="en-US" b="1" dirty="0"/>
              <a:t>Physical presence + active engagement</a:t>
            </a:r>
          </a:p>
          <a:p>
            <a:pPr>
              <a:lnSpc>
                <a:spcPct val="250000"/>
              </a:lnSpc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0686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Lecture (0p)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15E58FB-8571-3E1C-DDD5-5006E7171A72}"/>
              </a:ext>
            </a:extLst>
          </p:cNvPr>
          <p:cNvSpPr txBox="1"/>
          <p:nvPr/>
        </p:nvSpPr>
        <p:spPr>
          <a:xfrm>
            <a:off x="1525348" y="2150128"/>
            <a:ext cx="6093303" cy="843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000" dirty="0"/>
              <a:t>Slides and lecture notes available on </a:t>
            </a:r>
            <a:r>
              <a:rPr lang="en-US" sz="2000" dirty="0" err="1"/>
              <a:t>moodle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4395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CA1A121-A41C-29D5-0970-30E29BBC2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96" y="516731"/>
            <a:ext cx="6800808" cy="432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0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 (40p)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15E58FB-8571-3E1C-DDD5-5006E7171A72}"/>
              </a:ext>
            </a:extLst>
          </p:cNvPr>
          <p:cNvSpPr txBox="1"/>
          <p:nvPr/>
        </p:nvSpPr>
        <p:spPr>
          <a:xfrm>
            <a:off x="610375" y="1721517"/>
            <a:ext cx="7923250" cy="170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sz="1800" dirty="0"/>
              <a:t>You need </a:t>
            </a:r>
            <a:r>
              <a:rPr lang="en-US" sz="1800" b="1" dirty="0"/>
              <a:t>a minimum of 30 points </a:t>
            </a:r>
            <a:r>
              <a:rPr lang="en-US" sz="1800" dirty="0"/>
              <a:t>in semester activities to take the exam</a:t>
            </a:r>
            <a:endParaRPr lang="en-US" sz="1800" b="1" dirty="0"/>
          </a:p>
          <a:p>
            <a:pPr>
              <a:lnSpc>
                <a:spcPct val="25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sz="1800" dirty="0"/>
              <a:t>You need </a:t>
            </a:r>
            <a:r>
              <a:rPr lang="en-US" sz="1800" b="1" dirty="0"/>
              <a:t>a minimum of 20 points </a:t>
            </a:r>
            <a:r>
              <a:rPr lang="en-US" sz="1800" dirty="0"/>
              <a:t>on the exam in order to pass</a:t>
            </a:r>
          </a:p>
        </p:txBody>
      </p:sp>
    </p:spTree>
    <p:extLst>
      <p:ext uri="{BB962C8B-B14F-4D97-AF65-F5344CB8AC3E}">
        <p14:creationId xmlns:p14="http://schemas.microsoft.com/office/powerpoint/2010/main" val="213861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461</Words>
  <Application>Microsoft Office PowerPoint</Application>
  <PresentationFormat>Expunere pe ecran (16:9)</PresentationFormat>
  <Paragraphs>97</Paragraphs>
  <Slides>20</Slides>
  <Notes>20</Notes>
  <HiddenSlides>2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20</vt:i4>
      </vt:variant>
    </vt:vector>
  </HeadingPairs>
  <TitlesOfParts>
    <vt:vector size="27" baseType="lpstr">
      <vt:lpstr>Arial</vt:lpstr>
      <vt:lpstr>Nunito</vt:lpstr>
      <vt:lpstr>Karla Regular</vt:lpstr>
      <vt:lpstr>Lucida Sans Typewriter</vt:lpstr>
      <vt:lpstr>Roboto Condensed Light</vt:lpstr>
      <vt:lpstr>Cambria Math</vt:lpstr>
      <vt:lpstr>Mathematics Subject for Middle School - 6th Grade: Algebra by Slidesgo</vt:lpstr>
      <vt:lpstr>Introduction</vt:lpstr>
      <vt:lpstr>Contents</vt:lpstr>
      <vt:lpstr>Syllabus</vt:lpstr>
      <vt:lpstr>Computability Theory</vt:lpstr>
      <vt:lpstr>Euclid’s algorithm</vt:lpstr>
      <vt:lpstr>Prezentare PowerPoint</vt:lpstr>
      <vt:lpstr>Prezentare PowerPoint</vt:lpstr>
      <vt:lpstr>Prezentare PowerPoint</vt:lpstr>
      <vt:lpstr>Prezentare PowerPoint</vt:lpstr>
      <vt:lpstr>Prezentare PowerPoint</vt:lpstr>
      <vt:lpstr>Inputs (outputs) as strings</vt:lpstr>
      <vt:lpstr>Prezentare PowerPoint</vt:lpstr>
      <vt:lpstr>Administrative stuff</vt:lpstr>
      <vt:lpstr>Grade calculation</vt:lpstr>
      <vt:lpstr>Assignments (20p)</vt:lpstr>
      <vt:lpstr>Midterm exam (30p)</vt:lpstr>
      <vt:lpstr>Lab attendance (10p)</vt:lpstr>
      <vt:lpstr>Lecture (0p)</vt:lpstr>
      <vt:lpstr>Prezentare PowerPoint</vt:lpstr>
      <vt:lpstr>Exam (40p)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Turing Machine</dc:title>
  <dc:creator>mihai</dc:creator>
  <cp:lastModifiedBy>adfafhdafhadjfh@outlook.com</cp:lastModifiedBy>
  <cp:revision>24</cp:revision>
  <dcterms:modified xsi:type="dcterms:W3CDTF">2022-10-12T14:20:42Z</dcterms:modified>
</cp:coreProperties>
</file>