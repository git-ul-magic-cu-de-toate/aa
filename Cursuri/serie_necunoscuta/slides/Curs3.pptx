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30"/>
  </p:notesMasterIdLst>
  <p:sldIdLst>
    <p:sldId id="256" r:id="rId2"/>
    <p:sldId id="320" r:id="rId3"/>
    <p:sldId id="322" r:id="rId4"/>
    <p:sldId id="325" r:id="rId5"/>
    <p:sldId id="323" r:id="rId6"/>
    <p:sldId id="324" r:id="rId7"/>
    <p:sldId id="270" r:id="rId8"/>
    <p:sldId id="319" r:id="rId9"/>
    <p:sldId id="330" r:id="rId10"/>
    <p:sldId id="332" r:id="rId11"/>
    <p:sldId id="353" r:id="rId12"/>
    <p:sldId id="333" r:id="rId13"/>
    <p:sldId id="334" r:id="rId14"/>
    <p:sldId id="267" r:id="rId15"/>
    <p:sldId id="336" r:id="rId16"/>
    <p:sldId id="335" r:id="rId17"/>
    <p:sldId id="345" r:id="rId18"/>
    <p:sldId id="346" r:id="rId19"/>
    <p:sldId id="327" r:id="rId20"/>
    <p:sldId id="351" r:id="rId21"/>
    <p:sldId id="338" r:id="rId22"/>
    <p:sldId id="352" r:id="rId23"/>
    <p:sldId id="350" r:id="rId24"/>
    <p:sldId id="347" r:id="rId25"/>
    <p:sldId id="349" r:id="rId26"/>
    <p:sldId id="343" r:id="rId27"/>
    <p:sldId id="261" r:id="rId28"/>
    <p:sldId id="344" r:id="rId29"/>
  </p:sldIdLst>
  <p:sldSz cx="9144000" cy="5143500" type="screen16x9"/>
  <p:notesSz cx="6858000" cy="9144000"/>
  <p:embeddedFontLst>
    <p:embeddedFont>
      <p:font typeface="Roboto Condensed Light" charset="0"/>
      <p:regular r:id="rId31"/>
      <p:italic r:id="rId32"/>
    </p:embeddedFont>
    <p:embeddedFont>
      <p:font typeface="Cambria Math" pitchFamily="18" charset="0"/>
      <p:regular r:id="rId33"/>
    </p:embeddedFont>
    <p:embeddedFont>
      <p:font typeface="Karla Regular" charset="0"/>
      <p:bold r:id="rId34"/>
      <p:boldItalic r:id="rId35"/>
    </p:embeddedFont>
    <p:embeddedFont>
      <p:font typeface="Karla" charset="0"/>
      <p:regular r:id="rId36"/>
      <p:bold r:id="rId37"/>
      <p:italic r:id="rId38"/>
      <p:boldItalic r:id="rId39"/>
    </p:embeddedFont>
    <p:embeddedFont>
      <p:font typeface="Nunito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47" autoAdjust="0"/>
    <p:restoredTop sz="90604" autoAdjust="0"/>
  </p:normalViewPr>
  <p:slideViewPr>
    <p:cSldViewPr snapToGrid="0">
      <p:cViewPr varScale="1">
        <p:scale>
          <a:sx n="191" d="100"/>
          <a:sy n="191" d="100"/>
        </p:scale>
        <p:origin x="-594" y="-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0779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65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7549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2113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92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gd3de2aedb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2" name="Google Shape;2502;gd3de2aedb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957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9828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933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933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82998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29783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423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9132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3783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405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405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385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385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27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gd3de2aebdd_0_22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6" name="Google Shape;2406;gd3de2aebdd_0_22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927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84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7484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4050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52947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3" name="Google Shape;2333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0" name="Google Shape;2250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13"/>
          <p:cNvSpPr txBox="1">
            <a:spLocks noGrp="1"/>
          </p:cNvSpPr>
          <p:nvPr>
            <p:ph type="title" idx="2"/>
          </p:nvPr>
        </p:nvSpPr>
        <p:spPr>
          <a:xfrm>
            <a:off x="2069628" y="1627200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7" name="Google Shape;527;p13"/>
          <p:cNvSpPr txBox="1">
            <a:spLocks noGrp="1"/>
          </p:cNvSpPr>
          <p:nvPr>
            <p:ph type="subTitle" idx="1"/>
          </p:nvPr>
        </p:nvSpPr>
        <p:spPr>
          <a:xfrm>
            <a:off x="2069613" y="2154888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13"/>
          <p:cNvSpPr txBox="1">
            <a:spLocks noGrp="1"/>
          </p:cNvSpPr>
          <p:nvPr>
            <p:ph type="title" idx="3"/>
          </p:nvPr>
        </p:nvSpPr>
        <p:spPr>
          <a:xfrm>
            <a:off x="5618175" y="1627200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9" name="Google Shape;529;p13"/>
          <p:cNvSpPr txBox="1">
            <a:spLocks noGrp="1"/>
          </p:cNvSpPr>
          <p:nvPr>
            <p:ph type="subTitle" idx="4"/>
          </p:nvPr>
        </p:nvSpPr>
        <p:spPr>
          <a:xfrm>
            <a:off x="5618183" y="2154888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13"/>
          <p:cNvSpPr txBox="1">
            <a:spLocks noGrp="1"/>
          </p:cNvSpPr>
          <p:nvPr>
            <p:ph type="title" idx="5"/>
          </p:nvPr>
        </p:nvSpPr>
        <p:spPr>
          <a:xfrm>
            <a:off x="2069628" y="3141552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1" name="Google Shape;531;p13"/>
          <p:cNvSpPr txBox="1">
            <a:spLocks noGrp="1"/>
          </p:cNvSpPr>
          <p:nvPr>
            <p:ph type="subTitle" idx="6"/>
          </p:nvPr>
        </p:nvSpPr>
        <p:spPr>
          <a:xfrm>
            <a:off x="2069613" y="3669262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13"/>
          <p:cNvSpPr txBox="1">
            <a:spLocks noGrp="1"/>
          </p:cNvSpPr>
          <p:nvPr>
            <p:ph type="title" idx="7"/>
          </p:nvPr>
        </p:nvSpPr>
        <p:spPr>
          <a:xfrm>
            <a:off x="5618174" y="3141552"/>
            <a:ext cx="278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3" name="Google Shape;533;p13"/>
          <p:cNvSpPr txBox="1">
            <a:spLocks noGrp="1"/>
          </p:cNvSpPr>
          <p:nvPr>
            <p:ph type="subTitle" idx="8"/>
          </p:nvPr>
        </p:nvSpPr>
        <p:spPr>
          <a:xfrm>
            <a:off x="5618183" y="3669262"/>
            <a:ext cx="2305500" cy="52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13"/>
          <p:cNvSpPr txBox="1">
            <a:spLocks noGrp="1"/>
          </p:cNvSpPr>
          <p:nvPr>
            <p:ph type="title" idx="9" hasCustomPrompt="1"/>
          </p:nvPr>
        </p:nvSpPr>
        <p:spPr>
          <a:xfrm>
            <a:off x="874125" y="1644072"/>
            <a:ext cx="1048200" cy="10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5" name="Google Shape;535;p13"/>
          <p:cNvSpPr txBox="1">
            <a:spLocks noGrp="1"/>
          </p:cNvSpPr>
          <p:nvPr>
            <p:ph type="title" idx="13" hasCustomPrompt="1"/>
          </p:nvPr>
        </p:nvSpPr>
        <p:spPr>
          <a:xfrm>
            <a:off x="874125" y="3153175"/>
            <a:ext cx="1048200" cy="104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6" name="Google Shape;536;p13"/>
          <p:cNvSpPr txBox="1">
            <a:spLocks noGrp="1"/>
          </p:cNvSpPr>
          <p:nvPr>
            <p:ph type="title" idx="14" hasCustomPrompt="1"/>
          </p:nvPr>
        </p:nvSpPr>
        <p:spPr>
          <a:xfrm>
            <a:off x="4419500" y="1644072"/>
            <a:ext cx="1048200" cy="104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7" name="Google Shape;537;p13"/>
          <p:cNvSpPr txBox="1">
            <a:spLocks noGrp="1"/>
          </p:cNvSpPr>
          <p:nvPr>
            <p:ph type="title" idx="15" hasCustomPrompt="1"/>
          </p:nvPr>
        </p:nvSpPr>
        <p:spPr>
          <a:xfrm>
            <a:off x="4419500" y="3145774"/>
            <a:ext cx="1048200" cy="104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7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538" name="Google Shape;538;p13"/>
          <p:cNvGrpSpPr/>
          <p:nvPr/>
        </p:nvGrpSpPr>
        <p:grpSpPr>
          <a:xfrm>
            <a:off x="2399960" y="1283818"/>
            <a:ext cx="4287930" cy="3642388"/>
            <a:chOff x="4611450" y="3151300"/>
            <a:chExt cx="667725" cy="567200"/>
          </a:xfrm>
        </p:grpSpPr>
        <p:sp>
          <p:nvSpPr>
            <p:cNvPr id="539" name="Google Shape;539;p13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3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3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3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3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3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2" name="Google Shape;552;p13"/>
          <p:cNvSpPr/>
          <p:nvPr/>
        </p:nvSpPr>
        <p:spPr>
          <a:xfrm>
            <a:off x="8378961" y="26808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872595" y="4716251"/>
            <a:ext cx="1051274" cy="787312"/>
            <a:chOff x="3585475" y="1537675"/>
            <a:chExt cx="649175" cy="486175"/>
          </a:xfrm>
        </p:grpSpPr>
        <p:sp>
          <p:nvSpPr>
            <p:cNvPr id="554" name="Google Shape;554;p13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13"/>
          <p:cNvSpPr/>
          <p:nvPr/>
        </p:nvSpPr>
        <p:spPr>
          <a:xfrm>
            <a:off x="7520775" y="4201375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-1178725" y="2671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326777" y="4479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7" name="Google Shape;577;p13"/>
          <p:cNvGrpSpPr/>
          <p:nvPr/>
        </p:nvGrpSpPr>
        <p:grpSpPr>
          <a:xfrm>
            <a:off x="7313632" y="-125274"/>
            <a:ext cx="1051274" cy="787312"/>
            <a:chOff x="3585475" y="1537675"/>
            <a:chExt cx="649175" cy="486175"/>
          </a:xfrm>
        </p:grpSpPr>
        <p:sp>
          <p:nvSpPr>
            <p:cNvPr id="578" name="Google Shape;578;p13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7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7"/>
          <p:cNvSpPr/>
          <p:nvPr/>
        </p:nvSpPr>
        <p:spPr>
          <a:xfrm rot="10800000">
            <a:off x="8070742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057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781" name="Google Shape;781;p18"/>
          <p:cNvGrpSpPr/>
          <p:nvPr/>
        </p:nvGrpSpPr>
        <p:grpSpPr>
          <a:xfrm rot="10800000">
            <a:off x="-3511090" y="669950"/>
            <a:ext cx="4287930" cy="3642388"/>
            <a:chOff x="4611450" y="3151300"/>
            <a:chExt cx="667725" cy="567200"/>
          </a:xfrm>
        </p:grpSpPr>
        <p:sp>
          <p:nvSpPr>
            <p:cNvPr id="782" name="Google Shape;782;p1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8"/>
          <p:cNvGrpSpPr/>
          <p:nvPr/>
        </p:nvGrpSpPr>
        <p:grpSpPr>
          <a:xfrm rot="10800000">
            <a:off x="8229660" y="669950"/>
            <a:ext cx="4287930" cy="3642388"/>
            <a:chOff x="4611450" y="3151300"/>
            <a:chExt cx="667725" cy="567200"/>
          </a:xfrm>
        </p:grpSpPr>
        <p:sp>
          <p:nvSpPr>
            <p:cNvPr id="796" name="Google Shape;796;p18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18"/>
          <p:cNvSpPr/>
          <p:nvPr/>
        </p:nvSpPr>
        <p:spPr>
          <a:xfrm rot="10800000" flipH="1">
            <a:off x="8629529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8"/>
          <p:cNvSpPr/>
          <p:nvPr/>
        </p:nvSpPr>
        <p:spPr>
          <a:xfrm rot="10800000" flipH="1">
            <a:off x="-1008996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8"/>
          <p:cNvSpPr/>
          <p:nvPr/>
        </p:nvSpPr>
        <p:spPr>
          <a:xfrm rot="10800000" flipH="1">
            <a:off x="286806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18"/>
          <p:cNvGrpSpPr/>
          <p:nvPr/>
        </p:nvGrpSpPr>
        <p:grpSpPr>
          <a:xfrm rot="10800000">
            <a:off x="7732768" y="4770143"/>
            <a:ext cx="1051274" cy="787312"/>
            <a:chOff x="3585475" y="1537675"/>
            <a:chExt cx="649175" cy="486175"/>
          </a:xfrm>
        </p:grpSpPr>
        <p:sp>
          <p:nvSpPr>
            <p:cNvPr id="813" name="Google Shape;813;p1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833;p18"/>
          <p:cNvGrpSpPr/>
          <p:nvPr/>
        </p:nvGrpSpPr>
        <p:grpSpPr>
          <a:xfrm rot="10800000">
            <a:off x="459031" y="-423544"/>
            <a:ext cx="1051274" cy="787312"/>
            <a:chOff x="3585475" y="1537675"/>
            <a:chExt cx="649175" cy="486175"/>
          </a:xfrm>
        </p:grpSpPr>
        <p:sp>
          <p:nvSpPr>
            <p:cNvPr id="834" name="Google Shape;834;p18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4" name="Google Shape;854;p18"/>
          <p:cNvSpPr txBox="1">
            <a:spLocks noGrp="1"/>
          </p:cNvSpPr>
          <p:nvPr>
            <p:ph type="title" idx="2"/>
          </p:nvPr>
        </p:nvSpPr>
        <p:spPr>
          <a:xfrm>
            <a:off x="1444300" y="18861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title" idx="3"/>
          </p:nvPr>
        </p:nvSpPr>
        <p:spPr>
          <a:xfrm>
            <a:off x="4957147" y="3122347"/>
            <a:ext cx="27426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8"/>
          <p:cNvSpPr txBox="1">
            <a:spLocks noGrp="1"/>
          </p:cNvSpPr>
          <p:nvPr>
            <p:ph type="subTitle" idx="1"/>
          </p:nvPr>
        </p:nvSpPr>
        <p:spPr>
          <a:xfrm>
            <a:off x="4957150" y="3609975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subTitle" idx="4"/>
          </p:nvPr>
        </p:nvSpPr>
        <p:spPr>
          <a:xfrm>
            <a:off x="1444475" y="2373775"/>
            <a:ext cx="27426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776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174" name="Google Shape;174;p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188" name="Google Shape;188;p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6"/>
          <p:cNvSpPr/>
          <p:nvPr/>
        </p:nvSpPr>
        <p:spPr>
          <a:xfrm flipH="1">
            <a:off x="-1633725" y="424715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 flipH="1">
            <a:off x="8367144" y="-789298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6"/>
          <p:cNvSpPr/>
          <p:nvPr/>
        </p:nvSpPr>
        <p:spPr>
          <a:xfrm flipH="1">
            <a:off x="8070742" y="23045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" name="Google Shape;204;p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205" name="Google Shape;205;p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226" name="Google Shape;226;p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7070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4"/>
          <p:cNvSpPr txBox="1">
            <a:spLocks noGrp="1"/>
          </p:cNvSpPr>
          <p:nvPr>
            <p:ph type="title"/>
          </p:nvPr>
        </p:nvSpPr>
        <p:spPr>
          <a:xfrm>
            <a:off x="2391900" y="3022051"/>
            <a:ext cx="4360200" cy="576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0" name="Google Shape;600;p14"/>
          <p:cNvSpPr txBox="1">
            <a:spLocks noGrp="1"/>
          </p:cNvSpPr>
          <p:nvPr>
            <p:ph type="subTitle" idx="1"/>
          </p:nvPr>
        </p:nvSpPr>
        <p:spPr>
          <a:xfrm>
            <a:off x="1956450" y="1589538"/>
            <a:ext cx="5231100" cy="12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3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1" name="Google Shape;601;p14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602" name="Google Shape;602;p1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5" name="Google Shape;615;p14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6" name="Google Shape;616;p14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617" name="Google Shape;617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7" name="Google Shape;637;p14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638" name="Google Shape;638;p1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14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13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73" r:id="rId5"/>
    <p:sldLayoutId id="2147483681" r:id="rId6"/>
    <p:sldLayoutId id="2147483682" r:id="rId7"/>
    <p:sldLayoutId id="2147483683" r:id="rId8"/>
    <p:sldLayoutId id="2147483686" r:id="rId9"/>
    <p:sldLayoutId id="2147483687" r:id="rId10"/>
    <p:sldLayoutId id="2147483689" r:id="rId11"/>
    <p:sldLayoutId id="214748369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Computing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642450" cy="3849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3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FBD18AB-AB36-F00C-E39A-2178AFF3D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6255" y="1033226"/>
            <a:ext cx="3438012" cy="314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2239" name="Google Shape;2239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600" dirty="0"/>
              <a:t>Possible results of running a Turing Machine</a:t>
            </a: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600" dirty="0"/>
              <a:t>Configurations</a:t>
            </a:r>
          </a:p>
          <a:p>
            <a:pPr>
              <a:lnSpc>
                <a:spcPct val="200000"/>
              </a:lnSpc>
            </a:pPr>
            <a:r>
              <a:rPr lang="en" sz="1600" dirty="0"/>
              <a:t>Solving a problem</a:t>
            </a:r>
            <a:r>
              <a:rPr lang="en" sz="1600" dirty="0" smtClean="0"/>
              <a:t>:</a:t>
            </a:r>
            <a:endParaRPr lang="en" sz="1100" dirty="0"/>
          </a:p>
          <a:p>
            <a:pPr lvl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</a:t>
            </a:r>
            <a:r>
              <a:rPr lang="en" sz="1600" dirty="0" smtClean="0"/>
              <a:t>omputing</a:t>
            </a:r>
            <a:endParaRPr lang="en" sz="1800" dirty="0"/>
          </a:p>
          <a:p>
            <a:pPr lvl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Deciding</a:t>
            </a:r>
            <a:endParaRPr lang="en" sz="1600" dirty="0"/>
          </a:p>
          <a:p>
            <a:pPr lvl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smtClean="0"/>
              <a:t>Accepting</a:t>
            </a:r>
            <a:endParaRPr lang="en" sz="1600" dirty="0" smtClean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" sz="1600" dirty="0" smtClean="0"/>
              <a:t>The </a:t>
            </a:r>
            <a:r>
              <a:rPr lang="en" sz="1600" dirty="0"/>
              <a:t>Church-Turing thesis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Doing nothing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1400414"/>
                  </p:ext>
                </p:extLst>
              </p:nvPr>
            </p:nvGraphicFramePr>
            <p:xfrm>
              <a:off x="1109816" y="1689757"/>
              <a:ext cx="6924368" cy="1763986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0,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1400414"/>
                  </p:ext>
                </p:extLst>
              </p:nvPr>
            </p:nvGraphicFramePr>
            <p:xfrm>
              <a:off x="1109816" y="1689757"/>
              <a:ext cx="6924368" cy="1763986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465" t="-2759" r="-2465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465" t="-102759" r="-3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465" t="-102759" r="-2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465" t="-102759" r="-1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465" t="-102759" r="-2465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742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Writing 1 forever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14117864"/>
                  </p:ext>
                </p:extLst>
              </p:nvPr>
            </p:nvGraphicFramePr>
            <p:xfrm>
              <a:off x="1109816" y="1689757"/>
              <a:ext cx="6924368" cy="1763986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0" smtClean="0">
                                    <a:latin typeface="Cambria Math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14117864"/>
                  </p:ext>
                </p:extLst>
              </p:nvPr>
            </p:nvGraphicFramePr>
            <p:xfrm>
              <a:off x="1109816" y="1689757"/>
              <a:ext cx="6924368" cy="1763986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465" t="-2759" r="-2465" b="-10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465" t="-102759" r="-3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102465" t="-102759" r="-2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202465" t="-102759" r="-102465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o-RO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3"/>
                          <a:stretch>
                            <a:fillRect l="-302465" t="-102759" r="-2465" b="-6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000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Flipping forever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19563026"/>
                  </p:ext>
                </p:extLst>
              </p:nvPr>
            </p:nvGraphicFramePr>
            <p:xfrm>
              <a:off x="1109816" y="1689757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71503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19563026"/>
                  </p:ext>
                </p:extLst>
              </p:nvPr>
            </p:nvGraphicFramePr>
            <p:xfrm>
              <a:off x="1109816" y="1689757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3448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3448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3448" r="-2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3448" r="-1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3448" r="-3169" b="-1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3448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3448" r="-2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3448" r="-1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3448" r="-3169" b="-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1503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347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2A3DCA66-1E0A-1397-5872-E90019C87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Halting on some inputs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xmlns="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59560906"/>
                  </p:ext>
                </p:extLst>
              </p:nvPr>
            </p:nvGraphicFramePr>
            <p:xfrm>
              <a:off x="1109816" y="1689757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xmlns="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𝐻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8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en-US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8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8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→</m:t>
                                </m:r>
                                <m:r>
                                  <a:rPr lang="ar-AE" sz="28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9715030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59560906"/>
                  </p:ext>
                </p:extLst>
              </p:nvPr>
            </p:nvGraphicFramePr>
            <p:xfrm>
              <a:off x="1109816" y="1689757"/>
              <a:ext cx="6924368" cy="2645979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881993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8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0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800" b="1" dirty="0">
                              <a:sym typeface="Karla"/>
                            </a:rPr>
                            <a:t>1</a:t>
                          </a:r>
                          <a:endParaRPr lang="ro-RO" sz="28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3448" r="-3169" b="-2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3448" r="-3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3448" r="-2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3448" r="-103169" b="-10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3448" r="-3169" b="-10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1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3448" r="-3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3448" r="-2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3448" r="-103169" b="-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3448" r="-3169" b="-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1503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014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When a machine runs…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Google Shape;2977;p68">
                <a:extLst>
                  <a:ext uri="{FF2B5EF4-FFF2-40B4-BE49-F238E27FC236}">
                    <a16:creationId xmlns:a16="http://schemas.microsoft.com/office/drawing/2014/main" xmlns="" id="{5B1DABF5-8A93-2E1B-77A8-187B9A5DCF57}"/>
                  </a:ext>
                </a:extLst>
              </p:cNvPr>
              <p:cNvSpPr txBox="1"/>
              <p:nvPr/>
            </p:nvSpPr>
            <p:spPr>
              <a:xfrm>
                <a:off x="1028895" y="1812781"/>
                <a:ext cx="7086207" cy="55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 smtClean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…it </a:t>
                </a:r>
                <a:r>
                  <a:rPr lang="en" sz="20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can </a:t>
                </a:r>
                <a:r>
                  <a:rPr lang="en" sz="2000" dirty="0" smtClean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eventually halt </a:t>
                </a:r>
                <a:r>
                  <a:rPr lang="en" sz="2000" dirty="0">
                    <a:solidFill>
                      <a:srgbClr val="191919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in one of the final states: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𝑌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𝑁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𝐻</m:t>
                    </m:r>
                  </m:oMath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0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>
          <p:sp>
            <p:nvSpPr>
              <p:cNvPr id="2" name="Google Shape;2977;p6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B1DABF5-8A93-2E1B-77A8-187B9A5DC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895" y="1812781"/>
                <a:ext cx="7086207" cy="558900"/>
              </a:xfrm>
              <a:prstGeom prst="rect">
                <a:avLst/>
              </a:prstGeom>
              <a:blipFill rotWithShape="1">
                <a:blip r:embed="rId3"/>
                <a:stretch>
                  <a:fillRect l="-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Google Shape;2977;p68">
                <a:extLst>
                  <a:ext uri="{FF2B5EF4-FFF2-40B4-BE49-F238E27FC236}">
                    <a16:creationId xmlns:a16="http://schemas.microsoft.com/office/drawing/2014/main" xmlns="" id="{68190E7B-8022-C9CA-CAD0-809B4A2C90D1}"/>
                  </a:ext>
                </a:extLst>
              </p:cNvPr>
              <p:cNvSpPr txBox="1"/>
              <p:nvPr/>
            </p:nvSpPr>
            <p:spPr>
              <a:xfrm>
                <a:off x="1028894" y="3968582"/>
                <a:ext cx="7086207" cy="723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191919"/>
                          </a:solidFill>
                          <a:latin typeface="Cambria Math"/>
                          <a:ea typeface="Karla Regular"/>
                          <a:cs typeface="Karla Regular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6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  <m:t>1001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rgbClr val="191919"/>
                          </a:solidFill>
                          <a:latin typeface="Cambria Math"/>
                          <a:ea typeface="Karla Regular"/>
                          <a:cs typeface="Karla Regular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sz="36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>
          <p:sp>
            <p:nvSpPr>
              <p:cNvPr id="3" name="Google Shape;2977;p68">
                <a:extLst>
                  <a:ext uri="{FF2B5EF4-FFF2-40B4-BE49-F238E27FC236}">
                    <a16:creationId xmlns:a16="http://schemas.microsoft.com/office/drawing/2014/main" xmlns="" id="{68190E7B-8022-C9CA-CAD0-809B4A2C9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894" y="3968582"/>
                <a:ext cx="7086207" cy="7237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2977;p68">
            <a:extLst>
              <a:ext uri="{FF2B5EF4-FFF2-40B4-BE49-F238E27FC236}">
                <a16:creationId xmlns:a16="http://schemas.microsoft.com/office/drawing/2014/main" xmlns="" id="{68190E7B-8022-C9CA-CAD0-809B4A2C90D1}"/>
              </a:ext>
            </a:extLst>
          </p:cNvPr>
          <p:cNvSpPr txBox="1"/>
          <p:nvPr/>
        </p:nvSpPr>
        <p:spPr>
          <a:xfrm>
            <a:off x="1028895" y="3324644"/>
            <a:ext cx="7086207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>
                <a:solidFill>
                  <a:srgbClr val="191919"/>
                </a:solidFill>
                <a:latin typeface="Karla Regular"/>
                <a:ea typeface="Karla Regular"/>
                <a:cs typeface="Karla Regular"/>
                <a:sym typeface="Karla Regular"/>
              </a:rPr>
              <a:t>…it </a:t>
            </a:r>
            <a:r>
              <a:rPr lang="en-US" sz="2000" dirty="0">
                <a:solidFill>
                  <a:srgbClr val="191919"/>
                </a:solidFill>
                <a:latin typeface="Karla Regular"/>
                <a:ea typeface="Karla Regular"/>
                <a:cs typeface="Karla Regular"/>
                <a:sym typeface="Karla Regular"/>
              </a:rPr>
              <a:t>can go on forever, without </a:t>
            </a:r>
            <a:r>
              <a:rPr lang="en-US" sz="2000" dirty="0" smtClean="0">
                <a:solidFill>
                  <a:srgbClr val="191919"/>
                </a:solidFill>
                <a:latin typeface="Karla Regular"/>
                <a:ea typeface="Karla Regular"/>
                <a:cs typeface="Karla Regular"/>
                <a:sym typeface="Karla Regular"/>
              </a:rPr>
              <a:t>halting</a:t>
            </a:r>
            <a:endParaRPr sz="2000" dirty="0">
              <a:solidFill>
                <a:srgbClr val="191919"/>
              </a:solidFill>
              <a:latin typeface="Karla Regular"/>
              <a:ea typeface="Karla Regular"/>
              <a:cs typeface="Karla Regular"/>
              <a:sym typeface="Karla Regula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xmlns="" id="{8C8E4798-73D5-54DE-5CDE-B245F1B2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13836"/>
              </p:ext>
            </p:extLst>
          </p:nvPr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2012B25-3155-1052-1B3F-772FFB15AFA6}"/>
              </a:ext>
            </a:extLst>
          </p:cNvPr>
          <p:cNvGrpSpPr/>
          <p:nvPr/>
        </p:nvGrpSpPr>
        <p:grpSpPr>
          <a:xfrm>
            <a:off x="3385524" y="1379055"/>
            <a:ext cx="826935" cy="1968444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Configurations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E70F21F-71E1-2E9A-5C51-2F9DF90966E4}"/>
              </a:ext>
            </a:extLst>
          </p:cNvPr>
          <p:cNvSpPr txBox="1"/>
          <p:nvPr/>
        </p:nvSpPr>
        <p:spPr>
          <a:xfrm>
            <a:off x="720000" y="3925548"/>
            <a:ext cx="77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(100, 1101,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B147B8-96F8-1DB2-61D4-713B8143D46A}"/>
              </a:ext>
            </a:extLst>
          </p:cNvPr>
          <p:cNvSpPr txBox="1"/>
          <p:nvPr/>
        </p:nvSpPr>
        <p:spPr>
          <a:xfrm>
            <a:off x="5640236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C0F027A-C01D-0A03-0D6C-D07488B1D1E2}"/>
              </a:ext>
            </a:extLst>
          </p:cNvPr>
          <p:cNvSpPr txBox="1"/>
          <p:nvPr/>
        </p:nvSpPr>
        <p:spPr>
          <a:xfrm>
            <a:off x="4901766" y="2675861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4EB849B-3165-F52D-E994-0B0C6D35314D}"/>
              </a:ext>
            </a:extLst>
          </p:cNvPr>
          <p:cNvSpPr txBox="1"/>
          <p:nvPr/>
        </p:nvSpPr>
        <p:spPr>
          <a:xfrm>
            <a:off x="4176637" y="2683277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E8CA7A6-C781-1044-1E08-11807097E50A}"/>
              </a:ext>
            </a:extLst>
          </p:cNvPr>
          <p:cNvSpPr txBox="1"/>
          <p:nvPr/>
        </p:nvSpPr>
        <p:spPr>
          <a:xfrm>
            <a:off x="3437655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84CC697-7475-FB3C-41C8-F57C1FCF7A5E}"/>
              </a:ext>
            </a:extLst>
          </p:cNvPr>
          <p:cNvSpPr txBox="1"/>
          <p:nvPr/>
        </p:nvSpPr>
        <p:spPr>
          <a:xfrm>
            <a:off x="6373813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18C74707-0F15-0479-99DE-6FF6F8DE3659}"/>
              </a:ext>
            </a:extLst>
          </p:cNvPr>
          <p:cNvSpPr txBox="1"/>
          <p:nvPr/>
        </p:nvSpPr>
        <p:spPr>
          <a:xfrm>
            <a:off x="7096484" y="2668445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F5A37D2-EF30-DA38-6AD5-408F2160BB90}"/>
              </a:ext>
            </a:extLst>
          </p:cNvPr>
          <p:cNvSpPr txBox="1"/>
          <p:nvPr/>
        </p:nvSpPr>
        <p:spPr>
          <a:xfrm>
            <a:off x="5640236" y="1478901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b="1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52F0E6C-2B2E-9E87-2014-1DF0F5F5812B}"/>
              </a:ext>
            </a:extLst>
          </p:cNvPr>
          <p:cNvSpPr txBox="1"/>
          <p:nvPr/>
        </p:nvSpPr>
        <p:spPr>
          <a:xfrm>
            <a:off x="7831154" y="2683277"/>
            <a:ext cx="72267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946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9877E-6 L 0.0783 -0.0003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1 L 0.1592 0.001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3 L 0.24271 0.001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8.64198E-7 L -0.07274 0.2432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46" y="121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-0.01389 0.2435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4" y="1216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34568E-6 L -0.13038 0.2447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28" y="1222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4.44444E-6 L -0.1684 0.2447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20" y="1222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-0.22518 0.2447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67" y="1222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-0.28472 0.2447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36" y="12222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60494E-6 L -0.05781 0.47593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9" y="2379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8.64198E-7 L -0.34253 0.24167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35" y="120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3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8" grpId="0"/>
      <p:bldP spid="18" grpId="1"/>
      <p:bldP spid="18" grpId="2"/>
      <p:bldP spid="19" grpId="0"/>
      <p:bldP spid="19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6EE50DB-F819-A45B-CD12-B04B7C065ABC}"/>
              </a:ext>
            </a:extLst>
          </p:cNvPr>
          <p:cNvSpPr txBox="1"/>
          <p:nvPr/>
        </p:nvSpPr>
        <p:spPr>
          <a:xfrm>
            <a:off x="539332" y="3491315"/>
            <a:ext cx="8065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(100, 1,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FBA5D638-345A-06B8-2531-5A43E401A60D}"/>
                  </a:ext>
                </a:extLst>
              </p:cNvPr>
              <p:cNvSpPr txBox="1"/>
              <p:nvPr/>
            </p:nvSpPr>
            <p:spPr>
              <a:xfrm>
                <a:off x="511678" y="3503192"/>
                <a:ext cx="8046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(1001,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BA5D638-345A-06B8-2531-5A43E401A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78" y="3503192"/>
                <a:ext cx="80469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E7F92B9E-D485-E4FB-1346-C732B47CAFEF}"/>
                  </a:ext>
                </a:extLst>
              </p:cNvPr>
              <p:cNvSpPr txBox="1"/>
              <p:nvPr/>
            </p:nvSpPr>
            <p:spPr>
              <a:xfrm>
                <a:off x="484024" y="3502836"/>
                <a:ext cx="810220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1001,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F92B9E-D485-E4FB-1346-C732B47CA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24" y="3502836"/>
                <a:ext cx="8102208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1765" b="-329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10E6F9B-9473-DDD5-A162-816ADA55DFDC}"/>
              </a:ext>
            </a:extLst>
          </p:cNvPr>
          <p:cNvSpPr txBox="1"/>
          <p:nvPr/>
        </p:nvSpPr>
        <p:spPr>
          <a:xfrm>
            <a:off x="520896" y="3502836"/>
            <a:ext cx="8102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(1, 001,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EE2F427F-4636-EAF4-A982-45E69BB2C9A8}"/>
              </a:ext>
            </a:extLst>
          </p:cNvPr>
          <p:cNvSpPr txBox="1"/>
          <p:nvPr/>
        </p:nvSpPr>
        <p:spPr>
          <a:xfrm>
            <a:off x="539332" y="3502836"/>
            <a:ext cx="80653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(10, 01,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xmlns="" id="{79523C49-3997-D0E3-8417-1A1494741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333615"/>
              </p:ext>
            </p:extLst>
          </p:nvPr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03EF36-0850-2ADD-476A-4B2BBC370329}"/>
              </a:ext>
            </a:extLst>
          </p:cNvPr>
          <p:cNvGrpSpPr/>
          <p:nvPr/>
        </p:nvGrpSpPr>
        <p:grpSpPr>
          <a:xfrm>
            <a:off x="3385524" y="1379055"/>
            <a:ext cx="826935" cy="1968444"/>
            <a:chOff x="3363401" y="1840231"/>
            <a:chExt cx="826935" cy="196844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D008B36C-71FA-62C8-A19E-B7E8525C502B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q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2BADB52-550C-DD77-44F6-5850570E8F8F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0172212-8D74-6AE8-99A0-7C5E8518574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Google Shape;2386;p49">
            <a:extLst>
              <a:ext uri="{FF2B5EF4-FFF2-40B4-BE49-F238E27FC236}">
                <a16:creationId xmlns:a16="http://schemas.microsoft.com/office/drawing/2014/main" xmlns="" id="{F32FE2B2-D47F-2D62-961B-78A7E17E9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From one configuration to another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370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9877E-6 L 0.0783 -0.00031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1 L 0.1592 0.00123 " pathEditMode="relative" rAng="0" ptsTypes="AA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3 L 0.24271 0.0012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271 0.00123 L 0.32101 0.00123 " pathEditMode="relative" rAng="0" ptsTypes="AA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E99A9D4A-6345-1BD7-39BB-ACD8A638C0EB}"/>
                  </a:ext>
                </a:extLst>
              </p:cNvPr>
              <p:cNvSpPr txBox="1"/>
              <p:nvPr/>
            </p:nvSpPr>
            <p:spPr>
              <a:xfrm>
                <a:off x="548549" y="3510211"/>
                <a:ext cx="8046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(1001,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99A9D4A-6345-1BD7-39BB-ACD8A638C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49" y="3510211"/>
                <a:ext cx="80469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B3B4E4D3-0F0D-FB91-58AA-AA6ADE699130}"/>
              </a:ext>
            </a:extLst>
          </p:cNvPr>
          <p:cNvSpPr txBox="1"/>
          <p:nvPr/>
        </p:nvSpPr>
        <p:spPr>
          <a:xfrm>
            <a:off x="558180" y="3529947"/>
            <a:ext cx="8008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(100, </a:t>
            </a:r>
            <a:r>
              <a:rPr lang="en-US" sz="2800" dirty="0" smtClean="0"/>
              <a:t>1,</a:t>
            </a:r>
            <a:r>
              <a:rPr lang="en-US" sz="2800" b="1" dirty="0" smtClean="0"/>
              <a:t> </a:t>
            </a:r>
            <a:r>
              <a:rPr lang="en-US" sz="2800" b="1" dirty="0"/>
              <a:t>r</a:t>
            </a:r>
            <a:r>
              <a:rPr lang="en-US" sz="2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49CE17BF-8C1F-5AC2-7271-FD98989EE860}"/>
              </a:ext>
            </a:extLst>
          </p:cNvPr>
          <p:cNvSpPr txBox="1"/>
          <p:nvPr/>
        </p:nvSpPr>
        <p:spPr>
          <a:xfrm>
            <a:off x="587076" y="3529947"/>
            <a:ext cx="80083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(10, </a:t>
            </a:r>
            <a:r>
              <a:rPr lang="en-US" sz="2800" dirty="0" smtClean="0"/>
              <a:t>00,</a:t>
            </a:r>
            <a:r>
              <a:rPr lang="en-US" sz="2800" b="1" dirty="0" smtClean="0"/>
              <a:t> </a:t>
            </a:r>
            <a:r>
              <a:rPr lang="en-US" sz="2800" b="1" dirty="0"/>
              <a:t>r</a:t>
            </a:r>
            <a:r>
              <a:rPr lang="en-US" sz="2800" dirty="0"/>
              <a:t>)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xmlns="" id="{79523C49-3997-D0E3-8417-1A1494741291}"/>
              </a:ext>
            </a:extLst>
          </p:cNvPr>
          <p:cNvGraphicFramePr>
            <a:graphicFrameLocks noGrp="1"/>
          </p:cNvGraphicFramePr>
          <p:nvPr/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sp>
        <p:nvSpPr>
          <p:cNvPr id="11" name="Google Shape;2386;p49">
            <a:extLst>
              <a:ext uri="{FF2B5EF4-FFF2-40B4-BE49-F238E27FC236}">
                <a16:creationId xmlns:a16="http://schemas.microsoft.com/office/drawing/2014/main" xmlns="" id="{F32FE2B2-D47F-2D62-961B-78A7E17E9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From one configuration to another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DBC3BF2-76E2-76CE-9E4C-B4D66ECE3B77}"/>
              </a:ext>
            </a:extLst>
          </p:cNvPr>
          <p:cNvSpPr txBox="1"/>
          <p:nvPr/>
        </p:nvSpPr>
        <p:spPr>
          <a:xfrm>
            <a:off x="5691727" y="2675900"/>
            <a:ext cx="609548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03EF36-0850-2ADD-476A-4B2BBC370329}"/>
              </a:ext>
            </a:extLst>
          </p:cNvPr>
          <p:cNvGrpSpPr/>
          <p:nvPr/>
        </p:nvGrpSpPr>
        <p:grpSpPr>
          <a:xfrm>
            <a:off x="5583034" y="1371680"/>
            <a:ext cx="826935" cy="1968444"/>
            <a:chOff x="3363401" y="1840231"/>
            <a:chExt cx="826935" cy="196844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D008B36C-71FA-62C8-A19E-B7E8525C502B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2BADB52-550C-DD77-44F6-5850570E8F8F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0172212-8D74-6AE8-99A0-7C5E8518574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318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055 -0.00061 L 8.33333E-7 -4.69136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28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69136E-6 L -0.08073 0.0021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45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1"/>
      <p:bldP spid="2" grpId="0"/>
      <p:bldP spid="2" grpId="1"/>
      <p:bldP spid="3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A134914D-C0B1-6624-DD32-4AF8014A0DA8}"/>
                  </a:ext>
                </a:extLst>
              </p:cNvPr>
              <p:cNvSpPr txBox="1"/>
              <p:nvPr/>
            </p:nvSpPr>
            <p:spPr>
              <a:xfrm>
                <a:off x="587076" y="3561400"/>
                <a:ext cx="80469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r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134914D-C0B1-6624-DD32-4AF8014A0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6" y="3561400"/>
                <a:ext cx="804690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F73FF3C4-3C96-8340-4775-843424ECE7B0}"/>
              </a:ext>
            </a:extLst>
          </p:cNvPr>
          <p:cNvSpPr txBox="1"/>
          <p:nvPr/>
        </p:nvSpPr>
        <p:spPr>
          <a:xfrm>
            <a:off x="587076" y="3561400"/>
            <a:ext cx="804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(1, </a:t>
            </a:r>
            <a:r>
              <a:rPr lang="en-US" sz="2800" dirty="0" smtClean="0"/>
              <a:t>010,</a:t>
            </a:r>
            <a:r>
              <a:rPr lang="en-US" sz="2800" b="1" dirty="0" smtClean="0"/>
              <a:t> s</a:t>
            </a:r>
            <a:r>
              <a:rPr lang="en-US" sz="2800" dirty="0" smtClean="0"/>
              <a:t>)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0A2EEAC5-AFB9-2437-548F-AC1B19B9175E}"/>
                  </a:ext>
                </a:extLst>
              </p:cNvPr>
              <p:cNvSpPr txBox="1"/>
              <p:nvPr/>
            </p:nvSpPr>
            <p:spPr>
              <a:xfrm>
                <a:off x="625562" y="3562993"/>
                <a:ext cx="80276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  <m:r>
                      <a:rPr lang="en-US" sz="2800" i="1">
                        <a:latin typeface="Cambria Math" panose="02040503050406030204" pitchFamily="18" charset="0"/>
                        <a:sym typeface="Karla"/>
                      </a:rPr>
                      <m:t> </m:t>
                    </m:r>
                  </m:oMath>
                </a14:m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s</a:t>
                </a:r>
                <a:r>
                  <a:rPr lang="en-US" sz="2800" dirty="0" smtClean="0"/>
                  <a:t>)</a:t>
                </a:r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2EEAC5-AFB9-2437-548F-AC1B19B9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2" y="3562993"/>
                <a:ext cx="8027638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xmlns="" id="{79523C49-3997-D0E3-8417-1A1494741291}"/>
              </a:ext>
            </a:extLst>
          </p:cNvPr>
          <p:cNvGraphicFramePr>
            <a:graphicFrameLocks noGrp="1"/>
          </p:cNvGraphicFramePr>
          <p:nvPr/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sp>
        <p:nvSpPr>
          <p:cNvPr id="11" name="Google Shape;2386;p49">
            <a:extLst>
              <a:ext uri="{FF2B5EF4-FFF2-40B4-BE49-F238E27FC236}">
                <a16:creationId xmlns:a16="http://schemas.microsoft.com/office/drawing/2014/main" xmlns="" id="{F32FE2B2-D47F-2D62-961B-78A7E17E9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From one configuration to another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DBC3BF2-76E2-76CE-9E4C-B4D66ECE3B77}"/>
              </a:ext>
            </a:extLst>
          </p:cNvPr>
          <p:cNvSpPr txBox="1"/>
          <p:nvPr/>
        </p:nvSpPr>
        <p:spPr>
          <a:xfrm>
            <a:off x="5691727" y="2675900"/>
            <a:ext cx="609548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F7AE803-C4B6-1D9D-E637-6639AF9E474E}"/>
              </a:ext>
            </a:extLst>
          </p:cNvPr>
          <p:cNvSpPr txBox="1"/>
          <p:nvPr/>
        </p:nvSpPr>
        <p:spPr>
          <a:xfrm>
            <a:off x="4966112" y="2653777"/>
            <a:ext cx="609548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03EF36-0850-2ADD-476A-4B2BBC370329}"/>
              </a:ext>
            </a:extLst>
          </p:cNvPr>
          <p:cNvGrpSpPr/>
          <p:nvPr/>
        </p:nvGrpSpPr>
        <p:grpSpPr>
          <a:xfrm>
            <a:off x="4873320" y="1371680"/>
            <a:ext cx="826935" cy="1968444"/>
            <a:chOff x="3363401" y="1840231"/>
            <a:chExt cx="826935" cy="196844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D008B36C-71FA-62C8-A19E-B7E8525C502B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s</a:t>
              </a:r>
              <a:endParaRPr lang="en-US" sz="280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2BADB52-550C-DD77-44F6-5850570E8F8F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0172212-8D74-6AE8-99A0-7C5E8518574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852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3.36933E-6 L -0.08004 0.0003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004 0.00031 L -0.1625 -0.00092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-0.00092 L -0.24323 -0.00092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2" grpId="0"/>
      <p:bldP spid="12" grpId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xmlns="" id="{79523C49-3997-D0E3-8417-1A1494741291}"/>
              </a:ext>
            </a:extLst>
          </p:cNvPr>
          <p:cNvGraphicFramePr>
            <a:graphicFrameLocks noGrp="1"/>
          </p:cNvGraphicFramePr>
          <p:nvPr/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sp>
        <p:nvSpPr>
          <p:cNvPr id="11" name="Google Shape;2386;p49">
            <a:extLst>
              <a:ext uri="{FF2B5EF4-FFF2-40B4-BE49-F238E27FC236}">
                <a16:creationId xmlns:a16="http://schemas.microsoft.com/office/drawing/2014/main" xmlns="" id="{F32FE2B2-D47F-2D62-961B-78A7E17E9B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From one configuration to another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DBC3BF2-76E2-76CE-9E4C-B4D66ECE3B77}"/>
              </a:ext>
            </a:extLst>
          </p:cNvPr>
          <p:cNvSpPr txBox="1"/>
          <p:nvPr/>
        </p:nvSpPr>
        <p:spPr>
          <a:xfrm>
            <a:off x="5691727" y="2675900"/>
            <a:ext cx="609548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F7AE803-C4B6-1D9D-E637-6639AF9E474E}"/>
              </a:ext>
            </a:extLst>
          </p:cNvPr>
          <p:cNvSpPr txBox="1"/>
          <p:nvPr/>
        </p:nvSpPr>
        <p:spPr>
          <a:xfrm>
            <a:off x="4966112" y="2653777"/>
            <a:ext cx="609548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0B03EF36-0850-2ADD-476A-4B2BBC370329}"/>
              </a:ext>
            </a:extLst>
          </p:cNvPr>
          <p:cNvGrpSpPr/>
          <p:nvPr/>
        </p:nvGrpSpPr>
        <p:grpSpPr>
          <a:xfrm>
            <a:off x="3392899" y="1379054"/>
            <a:ext cx="826935" cy="1968444"/>
            <a:chOff x="3363401" y="1840231"/>
            <a:chExt cx="826935" cy="196844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xmlns="" id="{D008B36C-71FA-62C8-A19E-B7E8525C502B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H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92BADB52-550C-DD77-44F6-5850570E8F8F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0172212-8D74-6AE8-99A0-7C5E8518574C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0A2EEAC5-AFB9-2437-548F-AC1B19B9175E}"/>
                  </a:ext>
                </a:extLst>
              </p:cNvPr>
              <p:cNvSpPr txBox="1"/>
              <p:nvPr/>
            </p:nvSpPr>
            <p:spPr>
              <a:xfrm>
                <a:off x="558181" y="3543416"/>
                <a:ext cx="80276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  <m:r>
                      <a:rPr lang="en-US" sz="2800" i="1">
                        <a:latin typeface="Cambria Math" panose="02040503050406030204" pitchFamily="18" charset="0"/>
                        <a:sym typeface="Karla"/>
                      </a:rPr>
                      <m:t> </m:t>
                    </m:r>
                  </m:oMath>
                </a14:m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s</a:t>
                </a:r>
                <a:r>
                  <a:rPr lang="en-US" sz="2800" dirty="0" smtClean="0"/>
                  <a:t>)</a:t>
                </a:r>
                <a:endParaRPr lang="en-US" sz="28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2EEAC5-AFB9-2437-548F-AC1B19B9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81" y="3543416"/>
                <a:ext cx="8027638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6740A696-4CBC-12F1-2637-82DFC5FCF827}"/>
                  </a:ext>
                </a:extLst>
              </p:cNvPr>
              <p:cNvSpPr txBox="1"/>
              <p:nvPr/>
            </p:nvSpPr>
            <p:spPr>
              <a:xfrm>
                <a:off x="3245661" y="3543416"/>
                <a:ext cx="265267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H</a:t>
                </a:r>
                <a:r>
                  <a:rPr lang="en-US" sz="2800" dirty="0"/>
                  <a:t>)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740A696-4CBC-12F1-2637-82DFC5FCF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661" y="3543416"/>
                <a:ext cx="2652678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4587"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37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143 0.00062 L -3.33333E-6 3.7037E-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992845" y="704055"/>
                <a:ext cx="219280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1001,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5" y="704055"/>
                <a:ext cx="2192807" cy="523220"/>
              </a:xfrm>
              <a:prstGeom prst="rect">
                <a:avLst/>
              </a:prstGeom>
              <a:blipFill>
                <a:blip r:embed="rId3"/>
                <a:stretch>
                  <a:fillRect l="-58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E17AF5B-F08A-F7DD-C51B-83DED1F0BA73}"/>
              </a:ext>
            </a:extLst>
          </p:cNvPr>
          <p:cNvSpPr txBox="1"/>
          <p:nvPr/>
        </p:nvSpPr>
        <p:spPr>
          <a:xfrm>
            <a:off x="992845" y="1335803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(1, 001,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454F251-2D06-4C4D-E8B5-9B4A65ADC7C8}"/>
              </a:ext>
            </a:extLst>
          </p:cNvPr>
          <p:cNvSpPr txBox="1"/>
          <p:nvPr/>
        </p:nvSpPr>
        <p:spPr>
          <a:xfrm>
            <a:off x="992845" y="1974441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(10, 01,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3B66E59-F9F9-FB6C-C3E6-803ED10B8028}"/>
              </a:ext>
            </a:extLst>
          </p:cNvPr>
          <p:cNvSpPr txBox="1"/>
          <p:nvPr/>
        </p:nvSpPr>
        <p:spPr>
          <a:xfrm>
            <a:off x="992844" y="2613079"/>
            <a:ext cx="2765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(100, 1,</a:t>
            </a:r>
            <a:r>
              <a:rPr lang="en-US" sz="2800" b="1" dirty="0"/>
              <a:t> q</a:t>
            </a:r>
            <a:r>
              <a:rPr lang="en-US" sz="28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01AE84E3-6F95-4DD8-48CC-9AD361078883}"/>
                  </a:ext>
                </a:extLst>
              </p:cNvPr>
              <p:cNvSpPr txBox="1"/>
              <p:nvPr/>
            </p:nvSpPr>
            <p:spPr>
              <a:xfrm>
                <a:off x="992844" y="3262827"/>
                <a:ext cx="276532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(1001,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</m:oMath>
                </a14:m>
                <a:r>
                  <a:rPr lang="en-US" sz="2800" dirty="0"/>
                  <a:t>,</a:t>
                </a:r>
                <a:r>
                  <a:rPr lang="en-US" sz="2800" b="1" dirty="0"/>
                  <a:t> q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1AE84E3-6F95-4DD8-48CC-9AD361078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44" y="3262827"/>
                <a:ext cx="2765323" cy="523220"/>
              </a:xfrm>
              <a:prstGeom prst="rect">
                <a:avLst/>
              </a:prstGeom>
              <a:blipFill>
                <a:blip r:embed="rId4"/>
                <a:stretch>
                  <a:fillRect l="-4636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3D98BE00-A046-BEA1-E12E-7CCE531B40AB}"/>
              </a:ext>
            </a:extLst>
          </p:cNvPr>
          <p:cNvSpPr txBox="1"/>
          <p:nvPr/>
        </p:nvSpPr>
        <p:spPr>
          <a:xfrm>
            <a:off x="992844" y="3883465"/>
            <a:ext cx="3200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(100, </a:t>
            </a:r>
            <a:r>
              <a:rPr lang="en-US" sz="2800" dirty="0" smtClean="0"/>
              <a:t>1,</a:t>
            </a:r>
            <a:r>
              <a:rPr lang="en-US" sz="2800" b="1" dirty="0" smtClean="0"/>
              <a:t> </a:t>
            </a:r>
            <a:r>
              <a:rPr lang="en-US" sz="2800" b="1" dirty="0"/>
              <a:t>r</a:t>
            </a:r>
            <a:r>
              <a:rPr lang="en-US" sz="28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6AB81FC8-AF64-CC63-BEA2-3C80E8B962B4}"/>
              </a:ext>
            </a:extLst>
          </p:cNvPr>
          <p:cNvSpPr txBox="1"/>
          <p:nvPr/>
        </p:nvSpPr>
        <p:spPr>
          <a:xfrm>
            <a:off x="5385834" y="704055"/>
            <a:ext cx="2298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(10, </a:t>
            </a:r>
            <a:r>
              <a:rPr lang="en-US" sz="2800" dirty="0" smtClean="0"/>
              <a:t>00,</a:t>
            </a:r>
            <a:r>
              <a:rPr lang="en-US" sz="2800" b="1" dirty="0" smtClean="0"/>
              <a:t> </a:t>
            </a:r>
            <a:r>
              <a:rPr lang="en-US" sz="2800" b="1" dirty="0"/>
              <a:t>r</a:t>
            </a:r>
            <a:r>
              <a:rPr lang="en-US" sz="28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B32410A4-2E31-40FE-5CB1-B4144305DFB9}"/>
              </a:ext>
            </a:extLst>
          </p:cNvPr>
          <p:cNvSpPr txBox="1"/>
          <p:nvPr/>
        </p:nvSpPr>
        <p:spPr>
          <a:xfrm>
            <a:off x="5385834" y="1339891"/>
            <a:ext cx="31031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(1, </a:t>
            </a:r>
            <a:r>
              <a:rPr lang="en-US" sz="2800" dirty="0" smtClean="0"/>
              <a:t>010,</a:t>
            </a:r>
            <a:r>
              <a:rPr lang="en-US" sz="2800" b="1" dirty="0" smtClean="0"/>
              <a:t> s</a:t>
            </a:r>
            <a:r>
              <a:rPr lang="en-US" sz="2800" dirty="0" smtClean="0"/>
              <a:t>)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AAA5194-E15C-7C9E-5AC1-E46807106356}"/>
                  </a:ext>
                </a:extLst>
              </p:cNvPr>
              <p:cNvSpPr txBox="1"/>
              <p:nvPr/>
            </p:nvSpPr>
            <p:spPr>
              <a:xfrm>
                <a:off x="5388296" y="1978529"/>
                <a:ext cx="341323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s</a:t>
                </a:r>
                <a:r>
                  <a:rPr lang="en-US" sz="2800" dirty="0" smtClean="0"/>
                  <a:t>)</a:t>
                </a:r>
                <a:endParaRPr lang="en-US" sz="28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AA5194-E15C-7C9E-5AC1-E46807106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296" y="1978529"/>
                <a:ext cx="341323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3750" t="-11765" b="-329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639E69DD-E562-043C-2101-BFF63EBD8C51}"/>
                  </a:ext>
                </a:extLst>
              </p:cNvPr>
              <p:cNvSpPr txBox="1"/>
              <p:nvPr/>
            </p:nvSpPr>
            <p:spPr>
              <a:xfrm>
                <a:off x="5385834" y="2628277"/>
                <a:ext cx="27118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>
                        <a:latin typeface="Cambria Math" panose="02040503050406030204" pitchFamily="18" charset="0"/>
                        <a:sym typeface="Karla"/>
                      </a:rPr>
                      <m:t>◻</m:t>
                    </m:r>
                    <m:r>
                      <a:rPr lang="en-US" sz="2800" i="1">
                        <a:latin typeface="Cambria Math" panose="02040503050406030204" pitchFamily="18" charset="0"/>
                        <a:sym typeface="Karla"/>
                      </a:rPr>
                      <m:t> </m:t>
                    </m:r>
                  </m:oMath>
                </a14:m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s</a:t>
                </a:r>
                <a:r>
                  <a:rPr lang="en-US" sz="2800" dirty="0" smtClean="0"/>
                  <a:t>)</a:t>
                </a:r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9E69DD-E562-043C-2101-BFF63EBD8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2628277"/>
                <a:ext cx="2711860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730"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4CA1C495-1BEA-FCB2-262B-D321154DFB2F}"/>
                  </a:ext>
                </a:extLst>
              </p:cNvPr>
              <p:cNvSpPr txBox="1"/>
              <p:nvPr/>
            </p:nvSpPr>
            <p:spPr>
              <a:xfrm>
                <a:off x="5385834" y="3226205"/>
                <a:ext cx="32114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800" dirty="0"/>
                  <a:t>, </a:t>
                </a:r>
                <a:r>
                  <a:rPr lang="en-US" sz="2800" dirty="0" smtClean="0"/>
                  <a:t>1010,</a:t>
                </a:r>
                <a:r>
                  <a:rPr lang="en-US" sz="2800" b="1" dirty="0" smtClean="0"/>
                  <a:t> </a:t>
                </a:r>
                <a:r>
                  <a:rPr lang="en-US" sz="2800" b="1" dirty="0"/>
                  <a:t>H</a:t>
                </a:r>
                <a:r>
                  <a:rPr lang="en-US" sz="2800" dirty="0"/>
                  <a:t>) 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A1C495-1BEA-FCB2-262B-D321154DF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34" y="3226205"/>
                <a:ext cx="3211462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3992"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23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step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821F564A-2FD8-19A7-1AB4-62DF5CEBAC7F}"/>
                  </a:ext>
                </a:extLst>
              </p:cNvPr>
              <p:cNvSpPr txBox="1"/>
              <p:nvPr/>
            </p:nvSpPr>
            <p:spPr>
              <a:xfrm>
                <a:off x="1497330" y="1571437"/>
                <a:ext cx="61493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1F564A-2FD8-19A7-1AB4-62DF5CEBA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30" y="1571437"/>
                <a:ext cx="614934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B4F2B3DF-2597-41DB-555C-E5C99EF21AF8}"/>
                  </a:ext>
                </a:extLst>
              </p:cNvPr>
              <p:cNvSpPr txBox="1"/>
              <p:nvPr/>
            </p:nvSpPr>
            <p:spPr>
              <a:xfrm>
                <a:off x="921774" y="3097161"/>
                <a:ext cx="724883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“From configuration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machine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goes to configuration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in one step.”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F2B3DF-2597-41DB-555C-E5C99EF2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4" y="3097161"/>
                <a:ext cx="7248833" cy="954107"/>
              </a:xfrm>
              <a:prstGeom prst="rect">
                <a:avLst/>
              </a:prstGeom>
              <a:blipFill>
                <a:blip r:embed="rId4"/>
                <a:stretch>
                  <a:fillRect t="-6369" r="-168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53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179C5A0-4406-A59F-B4A9-24D6EF997266}"/>
              </a:ext>
            </a:extLst>
          </p:cNvPr>
          <p:cNvSpPr/>
          <p:nvPr/>
        </p:nvSpPr>
        <p:spPr>
          <a:xfrm>
            <a:off x="4365524" y="3635477"/>
            <a:ext cx="781664" cy="361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8" name="Google Shape;2408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Zero or more steps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821F564A-2FD8-19A7-1AB4-62DF5CEBAC7F}"/>
                  </a:ext>
                </a:extLst>
              </p:cNvPr>
              <p:cNvSpPr txBox="1"/>
              <p:nvPr/>
            </p:nvSpPr>
            <p:spPr>
              <a:xfrm>
                <a:off x="1497330" y="1571437"/>
                <a:ext cx="614934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C</m:t>
                      </m:r>
                      <m:sSubSup>
                        <m:sSubSupPr>
                          <m:ctrlPr>
                            <a:rPr lang="en-US" sz="3600" b="0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36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36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1F564A-2FD8-19A7-1AB4-62DF5CEBA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30" y="1571437"/>
                <a:ext cx="6149340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6311E5A-1235-D823-9F05-FFE253294814}"/>
              </a:ext>
            </a:extLst>
          </p:cNvPr>
          <p:cNvSpPr/>
          <p:nvPr/>
        </p:nvSpPr>
        <p:spPr>
          <a:xfrm>
            <a:off x="6472085" y="3635477"/>
            <a:ext cx="931605" cy="361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C01A3C8-4017-31D4-781D-C149CD98DF40}"/>
              </a:ext>
            </a:extLst>
          </p:cNvPr>
          <p:cNvSpPr/>
          <p:nvPr/>
        </p:nvSpPr>
        <p:spPr>
          <a:xfrm>
            <a:off x="5574890" y="3635477"/>
            <a:ext cx="1828799" cy="361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B4F2B3DF-2597-41DB-555C-E5C99EF21AF8}"/>
                  </a:ext>
                </a:extLst>
              </p:cNvPr>
              <p:cNvSpPr txBox="1"/>
              <p:nvPr/>
            </p:nvSpPr>
            <p:spPr>
              <a:xfrm>
                <a:off x="921774" y="3097161"/>
                <a:ext cx="724883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“From configuration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, machine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goes to configuration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in zero or more steps.”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4F2B3DF-2597-41DB-555C-E5C99EF21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4" y="3097161"/>
                <a:ext cx="7248833" cy="954107"/>
              </a:xfrm>
              <a:prstGeom prst="rect">
                <a:avLst/>
              </a:prstGeom>
              <a:blipFill>
                <a:blip r:embed="rId4"/>
                <a:stretch>
                  <a:fillRect t="-6369" r="-168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65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0" grpId="0"/>
      <p:bldP spid="4" grpId="0" animBg="1"/>
      <p:bldP spid="4" grpId="1" animBg="1"/>
      <p:bldP spid="5" grpId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Computing an output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921774" y="1950293"/>
                <a:ext cx="735207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600" dirty="0" smtClean="0"/>
                  <a:t>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3600" dirty="0"/>
                  <a:t>, 1001,</a:t>
                </a:r>
                <a:r>
                  <a:rPr lang="en-US" sz="3600" b="1" dirty="0"/>
                  <a:t> q</a:t>
                </a:r>
                <a:r>
                  <a:rPr lang="en-US" sz="3600" dirty="0"/>
                  <a:t>)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b="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⊢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3600" dirty="0"/>
                  <a:t>   (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/>
                        <a:sym typeface="Karla"/>
                      </a:rPr>
                      <m:t>𝜖</m:t>
                    </m:r>
                  </m:oMath>
                </a14:m>
                <a:r>
                  <a:rPr lang="en-US" sz="3600" dirty="0"/>
                  <a:t>, </a:t>
                </a:r>
                <a:r>
                  <a:rPr lang="en-US" sz="3600" dirty="0" smtClean="0"/>
                  <a:t>1010,</a:t>
                </a:r>
                <a:r>
                  <a:rPr lang="en-US" sz="3600" b="1" dirty="0" smtClean="0"/>
                  <a:t> </a:t>
                </a:r>
                <a:r>
                  <a:rPr lang="en-US" sz="3600" b="1" dirty="0"/>
                  <a:t>H</a:t>
                </a:r>
                <a:r>
                  <a:rPr lang="en-US" sz="3600" dirty="0"/>
                  <a:t>)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4" y="1950293"/>
                <a:ext cx="7352071" cy="646331"/>
              </a:xfrm>
              <a:prstGeom prst="rect">
                <a:avLst/>
              </a:prstGeom>
              <a:blipFill rotWithShape="1">
                <a:blip r:embed="rId3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69D5D462-DAE5-4DCD-71C3-62CB88A3BA79}"/>
                  </a:ext>
                </a:extLst>
              </p:cNvPr>
              <p:cNvSpPr txBox="1"/>
              <p:nvPr/>
            </p:nvSpPr>
            <p:spPr>
              <a:xfrm>
                <a:off x="921773" y="4105614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“On input 1001,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i="1" dirty="0"/>
                  <a:t>computes </a:t>
                </a:r>
                <a:r>
                  <a:rPr lang="en-US" sz="2800" dirty="0"/>
                  <a:t>output 1010”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D5D462-DAE5-4DCD-71C3-62CB88A3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3" y="4105614"/>
                <a:ext cx="7248833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74B6FA13-8DE4-43DF-A54B-79B6589EE2D6}"/>
                  </a:ext>
                </a:extLst>
              </p:cNvPr>
              <p:cNvSpPr txBox="1"/>
              <p:nvPr/>
            </p:nvSpPr>
            <p:spPr>
              <a:xfrm>
                <a:off x="921772" y="3064840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1001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→1010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B6FA13-8DE4-43DF-A54B-79B6589EE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2" y="3064840"/>
                <a:ext cx="7248833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47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Computing a 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01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1</m:t>
                      </m:r>
                      <m:r>
                        <a:rPr lang="en-US" sz="20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1011000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blipFill rotWithShape="1">
                <a:blip r:embed="rId3"/>
                <a:stretch>
                  <a:fillRect l="-182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i="1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01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1</m:t>
                      </m:r>
                      <m:r>
                        <a:rPr lang="en-US" sz="2000" i="1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1011000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165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Dreptunghi 6"/>
              <p:cNvSpPr/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𝑐𝑜𝑚𝑝𝑢𝑡𝑒𝑠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o-RO" sz="3600" dirty="0"/>
              </a:p>
            </p:txBody>
          </p:sp>
        </mc:Choice>
        <mc:Fallback>
          <p:sp>
            <p:nvSpPr>
              <p:cNvPr id="7" name="Dreptunghi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86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Computable functions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Dreptunghi 6"/>
              <p:cNvSpPr/>
              <p:nvPr/>
            </p:nvSpPr>
            <p:spPr>
              <a:xfrm>
                <a:off x="591954" y="2457015"/>
                <a:ext cx="795528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𝑖𝑠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𝑐𝑜𝑚𝑝𝑢𝑡𝑎𝑏𝑙𝑒</m:t>
                      </m:r>
                      <m:r>
                        <a:rPr lang="en-US" sz="3200" b="0" i="1" smtClean="0">
                          <a:latin typeface="Cambria Math"/>
                        </a:rPr>
                        <m:t> ≝∃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, </m:t>
                      </m:r>
                      <m:r>
                        <a:rPr lang="en-US" sz="3200" b="0" i="1" smtClean="0">
                          <a:latin typeface="Cambria Math"/>
                        </a:rPr>
                        <m:t>𝑠</m:t>
                      </m:r>
                      <m:r>
                        <a:rPr lang="en-US" sz="3200" b="0" i="1" smtClean="0">
                          <a:latin typeface="Cambria Math"/>
                        </a:rPr>
                        <m:t>.</m:t>
                      </m:r>
                      <m:r>
                        <a:rPr lang="en-US" sz="3200" b="0" i="1" smtClean="0">
                          <a:latin typeface="Cambria Math"/>
                        </a:rPr>
                        <m:t>𝑡</m:t>
                      </m:r>
                      <m:r>
                        <a:rPr lang="en-US" sz="3200" b="0" i="1" smtClean="0">
                          <a:latin typeface="Cambria Math"/>
                        </a:rPr>
                        <m:t>.  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𝑐𝑜𝑚𝑝𝑢𝑡𝑒𝑠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2800" dirty="0"/>
              </a:p>
            </p:txBody>
          </p:sp>
        </mc:Choice>
        <mc:Fallback>
          <p:sp>
            <p:nvSpPr>
              <p:cNvPr id="7" name="Dreptunghi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54" y="2457015"/>
                <a:ext cx="7955280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681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Accepting an input</a:t>
            </a:r>
            <a:endParaRPr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xmlns="" id="{8C8E4798-73D5-54DE-5CDE-B245F1B2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930176"/>
              </p:ext>
            </p:extLst>
          </p:nvPr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2012B25-3155-1052-1B3F-772FFB15AFA6}"/>
              </a:ext>
            </a:extLst>
          </p:cNvPr>
          <p:cNvGrpSpPr/>
          <p:nvPr/>
        </p:nvGrpSpPr>
        <p:grpSpPr>
          <a:xfrm>
            <a:off x="3385524" y="1379055"/>
            <a:ext cx="826935" cy="1968444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65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9877E-6 L 0.0783 -0.0003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1 L 0.1592 0.001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3 L 0.24271 0.001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271 0.00123 L 0.32344 0.00123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344 0.00123 L 0.4 0.00123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 0.00123 L 0.4809 0.00123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xmlns="" id="{82B90708-5057-6130-A4D8-86954A929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54721"/>
              </p:ext>
            </p:extLst>
          </p:nvPr>
        </p:nvGraphicFramePr>
        <p:xfrm>
          <a:off x="-2425725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11" name="Group 15">
            <a:extLst>
              <a:ext uri="{FF2B5EF4-FFF2-40B4-BE49-F238E27FC236}">
                <a16:creationId xmlns:a16="http://schemas.microsoft.com/office/drawing/2014/main" xmlns="" id="{B808B079-BFC1-51F5-4B8B-BB2EAB3F2664}"/>
              </a:ext>
            </a:extLst>
          </p:cNvPr>
          <p:cNvGrpSpPr/>
          <p:nvPr/>
        </p:nvGrpSpPr>
        <p:grpSpPr>
          <a:xfrm>
            <a:off x="7044277" y="1387006"/>
            <a:ext cx="826935" cy="1968444"/>
            <a:chOff x="3363401" y="1840231"/>
            <a:chExt cx="826935" cy="1968444"/>
          </a:xfrm>
        </p:grpSpPr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xmlns="" id="{985F681F-50D2-8BF6-55DA-77DD6B582FA9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e0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xmlns="" id="{757F44D1-1FFF-4A2B-3CC1-75970825CC7C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0">
              <a:extLst>
                <a:ext uri="{FF2B5EF4-FFF2-40B4-BE49-F238E27FC236}">
                  <a16:creationId xmlns:a16="http://schemas.microsoft.com/office/drawing/2014/main" xmlns="" id="{912D1525-2EF8-8F5F-02C8-EE434C855E48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xmlns="" id="{0BC7624A-59B3-570E-6417-D133F7209A41}"/>
              </a:ext>
            </a:extLst>
          </p:cNvPr>
          <p:cNvSpPr/>
          <p:nvPr/>
        </p:nvSpPr>
        <p:spPr>
          <a:xfrm>
            <a:off x="7041330" y="1386556"/>
            <a:ext cx="826935" cy="7315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Y</a:t>
            </a:r>
          </a:p>
        </p:txBody>
      </p:sp>
      <p:sp>
        <p:nvSpPr>
          <p:cNvPr id="16" name="Google Shape;2371;p48">
            <a:extLst>
              <a:ext uri="{FF2B5EF4-FFF2-40B4-BE49-F238E27FC236}">
                <a16:creationId xmlns:a16="http://schemas.microsoft.com/office/drawing/2014/main" xmlns="" id="{C29F14DB-D547-6C1A-1B92-1BED11078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Accepting an input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xmlns="" id="{F565FFCB-81C5-AD88-6945-497E49FED11E}"/>
                  </a:ext>
                </a:extLst>
              </p:cNvPr>
              <p:cNvSpPr txBox="1"/>
              <p:nvPr/>
            </p:nvSpPr>
            <p:spPr>
              <a:xfrm>
                <a:off x="855406" y="3590597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100010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𝑇𝑅𝑈𝐸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65FFCB-81C5-AD88-6945-497E49FED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06" y="3590597"/>
                <a:ext cx="7248833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xmlns="" id="{69D5D462-DAE5-4DCD-71C3-62CB88A3BA79}"/>
                  </a:ext>
                </a:extLst>
              </p:cNvPr>
              <p:cNvSpPr txBox="1"/>
              <p:nvPr/>
            </p:nvSpPr>
            <p:spPr>
              <a:xfrm>
                <a:off x="921772" y="4367224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“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i="1" dirty="0" smtClean="0"/>
                  <a:t>accepts </a:t>
                </a:r>
                <a:r>
                  <a:rPr lang="en-US" sz="2800" dirty="0" smtClean="0"/>
                  <a:t>input 100010”</a:t>
                </a:r>
                <a:endParaRPr lang="en-US" sz="2800" dirty="0"/>
              </a:p>
            </p:txBody>
          </p:sp>
        </mc:Choice>
        <mc:Fallback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D5D462-DAE5-4DCD-71C3-62CB88A3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2" y="4367224"/>
                <a:ext cx="7248833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89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0.00031 L -1.38889E-6 -1.11111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71;p48">
            <a:extLst>
              <a:ext uri="{FF2B5EF4-FFF2-40B4-BE49-F238E27FC236}">
                <a16:creationId xmlns:a16="http://schemas.microsoft.com/office/drawing/2014/main" xmlns="" id="{E9847CDE-A6E8-8790-A719-3578F68CA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Rejecting an input</a:t>
            </a:r>
            <a:endParaRPr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xmlns="" id="{8C8E4798-73D5-54DE-5CDE-B245F1B2E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914185"/>
              </p:ext>
            </p:extLst>
          </p:nvPr>
        </p:nvGraphicFramePr>
        <p:xfrm>
          <a:off x="-2410976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2012B25-3155-1052-1B3F-772FFB15AFA6}"/>
              </a:ext>
            </a:extLst>
          </p:cNvPr>
          <p:cNvGrpSpPr/>
          <p:nvPr/>
        </p:nvGrpSpPr>
        <p:grpSpPr>
          <a:xfrm>
            <a:off x="3385524" y="1379055"/>
            <a:ext cx="826935" cy="1968444"/>
            <a:chOff x="3363401" y="1840231"/>
            <a:chExt cx="826935" cy="196844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xmlns="" id="{BB82DE1B-434B-5856-6302-060EEC18D1DF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q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B354B301-6F43-0BCB-F658-9D7A213D0752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B4414DDC-7B36-DC5B-8DBE-1C74F3828588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364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09877E-6 L 0.0783 -0.00031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3 -0.00031 L 0.1592 0.00123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92 0.00123 L 0.24271 0.0012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271 0.00123 L 0.32344 0.00123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344 0.00123 L 0.4 0.00123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 0.00123 L 0.4809 0.00123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xmlns="" id="{82B90708-5057-6130-A4D8-86954A929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345583"/>
              </p:ext>
            </p:extLst>
          </p:nvPr>
        </p:nvGraphicFramePr>
        <p:xfrm>
          <a:off x="-2425725" y="2571750"/>
          <a:ext cx="14630400" cy="73152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xmlns="" val="22100908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69563277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423496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2605008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0588179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04979814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0534673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7869425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14215558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72050313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37887136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6645937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417520888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1978092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43595803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181308596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96716146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531441889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3986434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xmlns="" val="2775553135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1669796"/>
                  </a:ext>
                </a:extLst>
              </a:tr>
            </a:tbl>
          </a:graphicData>
        </a:graphic>
      </p:graphicFrame>
      <p:grpSp>
        <p:nvGrpSpPr>
          <p:cNvPr id="11" name="Group 15">
            <a:extLst>
              <a:ext uri="{FF2B5EF4-FFF2-40B4-BE49-F238E27FC236}">
                <a16:creationId xmlns:a16="http://schemas.microsoft.com/office/drawing/2014/main" xmlns="" id="{B808B079-BFC1-51F5-4B8B-BB2EAB3F2664}"/>
              </a:ext>
            </a:extLst>
          </p:cNvPr>
          <p:cNvGrpSpPr/>
          <p:nvPr/>
        </p:nvGrpSpPr>
        <p:grpSpPr>
          <a:xfrm>
            <a:off x="7044277" y="1387006"/>
            <a:ext cx="826935" cy="1968444"/>
            <a:chOff x="3363401" y="1840231"/>
            <a:chExt cx="826935" cy="1968444"/>
          </a:xfrm>
        </p:grpSpPr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xmlns="" id="{985F681F-50D2-8BF6-55DA-77DD6B582FA9}"/>
                </a:ext>
              </a:extLst>
            </p:cNvPr>
            <p:cNvSpPr/>
            <p:nvPr/>
          </p:nvSpPr>
          <p:spPr>
            <a:xfrm>
              <a:off x="3363401" y="1840231"/>
              <a:ext cx="826935" cy="73151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/>
                <a:t>e0</a:t>
              </a: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xmlns="" id="{757F44D1-1FFF-4A2B-3CC1-75970825CC7C}"/>
                </a:ext>
              </a:extLst>
            </p:cNvPr>
            <p:cNvSpPr/>
            <p:nvPr/>
          </p:nvSpPr>
          <p:spPr>
            <a:xfrm>
              <a:off x="3371352" y="2973788"/>
              <a:ext cx="811033" cy="834887"/>
            </a:xfrm>
            <a:prstGeom prst="rect">
              <a:avLst/>
            </a:prstGeom>
            <a:solidFill>
              <a:schemeClr val="accent1">
                <a:alpha val="32000"/>
              </a:schemeClr>
            </a:solidFill>
            <a:ln w="3810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0">
              <a:extLst>
                <a:ext uri="{FF2B5EF4-FFF2-40B4-BE49-F238E27FC236}">
                  <a16:creationId xmlns:a16="http://schemas.microsoft.com/office/drawing/2014/main" xmlns="" id="{912D1525-2EF8-8F5F-02C8-EE434C855E48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3776869" y="2571750"/>
              <a:ext cx="0" cy="4020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ctangle: Rounded Corners 9">
            <a:extLst>
              <a:ext uri="{FF2B5EF4-FFF2-40B4-BE49-F238E27FC236}">
                <a16:creationId xmlns:a16="http://schemas.microsoft.com/office/drawing/2014/main" xmlns="" id="{0BC7624A-59B3-570E-6417-D133F7209A41}"/>
              </a:ext>
            </a:extLst>
          </p:cNvPr>
          <p:cNvSpPr/>
          <p:nvPr/>
        </p:nvSpPr>
        <p:spPr>
          <a:xfrm>
            <a:off x="7044276" y="1387006"/>
            <a:ext cx="826935" cy="7315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N</a:t>
            </a:r>
          </a:p>
        </p:txBody>
      </p:sp>
      <p:sp>
        <p:nvSpPr>
          <p:cNvPr id="16" name="Google Shape;2371;p48">
            <a:extLst>
              <a:ext uri="{FF2B5EF4-FFF2-40B4-BE49-F238E27FC236}">
                <a16:creationId xmlns:a16="http://schemas.microsoft.com/office/drawing/2014/main" xmlns="" id="{C29F14DB-D547-6C1A-1B92-1BED11078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Rejecting an input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xmlns="" id="{F565FFCB-81C5-AD88-6945-497E49FED11E}"/>
                  </a:ext>
                </a:extLst>
              </p:cNvPr>
              <p:cNvSpPr txBox="1"/>
              <p:nvPr/>
            </p:nvSpPr>
            <p:spPr>
              <a:xfrm>
                <a:off x="921771" y="3576976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[111001]→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𝐹𝐴𝐿𝑆𝐸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65FFCB-81C5-AD88-6945-497E49FED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1" y="3576976"/>
                <a:ext cx="7248833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xmlns="" id="{69D5D462-DAE5-4DCD-71C3-62CB88A3BA79}"/>
                  </a:ext>
                </a:extLst>
              </p:cNvPr>
              <p:cNvSpPr txBox="1"/>
              <p:nvPr/>
            </p:nvSpPr>
            <p:spPr>
              <a:xfrm>
                <a:off x="921772" y="4367224"/>
                <a:ext cx="72488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“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i="1" dirty="0" smtClean="0"/>
                  <a:t>rejects</a:t>
                </a:r>
                <a:r>
                  <a:rPr lang="en-US" sz="2800" dirty="0" smtClean="0"/>
                  <a:t> input 111001”</a:t>
                </a:r>
                <a:endParaRPr lang="en-US" sz="2800" dirty="0"/>
              </a:p>
            </p:txBody>
          </p:sp>
        </mc:Choice>
        <mc:Fallback>
          <p:sp>
            <p:nvSpPr>
              <p:cNvPr id="18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D5D462-DAE5-4DCD-71C3-62CB88A3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72" y="4367224"/>
                <a:ext cx="7248833" cy="523220"/>
              </a:xfrm>
              <a:prstGeom prst="rect">
                <a:avLst/>
              </a:prstGeom>
              <a:blipFill rotWithShape="1">
                <a:blip r:embed="rId4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7 -0.00031 L -1.38889E-6 -1.11111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5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Deciding a 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blipFill rotWithShape="1">
                <a:blip r:embed="rId3"/>
                <a:stretch>
                  <a:fillRect l="-182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165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Dreptunghi 8"/>
              <p:cNvSpPr/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/>
                        </a:rPr>
                        <m:t>𝑑𝑒𝑐𝑖𝑑𝑒𝑠</m:t>
                      </m:r>
                      <m:r>
                        <a:rPr lang="en-US" sz="3600" b="0" i="1" smtClean="0">
                          <a:latin typeface="Cambria Math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o-RO" sz="3600" dirty="0"/>
              </a:p>
            </p:txBody>
          </p:sp>
        </mc:Choice>
        <mc:Fallback>
          <p:sp>
            <p:nvSpPr>
              <p:cNvPr id="9" name="Dreptunghi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78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Accepting a function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1161877"/>
                <a:ext cx="3676035" cy="3170099"/>
              </a:xfrm>
              <a:prstGeom prst="rect">
                <a:avLst/>
              </a:prstGeom>
              <a:blipFill rotWithShape="1">
                <a:blip r:embed="rId3"/>
                <a:stretch>
                  <a:fillRect l="-182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𝜖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⊥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𝐹𝐴𝐿𝑆𝐸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/>
                        </a:rPr>
                        <m:t>M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1010111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</a:rPr>
                        <m:t>⊥</m:t>
                      </m:r>
                    </m:oMath>
                  </m:oMathPara>
                </a14:m>
                <a:endParaRPr lang="en-US" sz="2000" b="0" dirty="0" smtClean="0"/>
              </a:p>
              <a:p>
                <a:pPr/>
                <a:r>
                  <a:rPr lang="en-US" sz="2000" dirty="0" smtClean="0"/>
                  <a:t>…</a:t>
                </a:r>
                <a:endParaRPr lang="en-US" sz="2000" dirty="0"/>
              </a:p>
              <a:p>
                <a:pPr/>
                <a:endParaRPr lang="en-US" sz="2000" dirty="0"/>
              </a:p>
            </p:txBody>
          </p:sp>
        </mc:Choice>
        <mc:Fallback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8" y="1156941"/>
                <a:ext cx="3676035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165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Dreptunghi 8"/>
              <p:cNvSpPr/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600" b="0" i="1" smtClean="0">
                          <a:latin typeface="Cambria Math"/>
                        </a:rPr>
                        <m:t>𝑎𝑐𝑐𝑒𝑝𝑡𝑠</m:t>
                      </m:r>
                      <m:r>
                        <a:rPr lang="en-US" sz="3600" b="0" i="1" smtClean="0">
                          <a:latin typeface="Cambria Math"/>
                        </a:rPr>
                        <m:t>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o-RO" sz="3600" dirty="0"/>
              </a:p>
            </p:txBody>
          </p:sp>
        </mc:Choice>
        <mc:Fallback>
          <p:sp>
            <p:nvSpPr>
              <p:cNvPr id="9" name="Dreptunghi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4074058"/>
                <a:ext cx="735207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3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72B4907C-C739-0652-8994-EBDADF41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decision problems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Dreptunghi 6"/>
              <p:cNvSpPr/>
              <p:nvPr/>
            </p:nvSpPr>
            <p:spPr>
              <a:xfrm>
                <a:off x="591954" y="1762071"/>
                <a:ext cx="795528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𝑖𝑠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𝑎𝑐𝑐𝑒𝑝𝑡𝑎𝑏𝑙𝑒</m:t>
                      </m:r>
                      <m:r>
                        <a:rPr lang="en-US" sz="3200" b="0" i="1" smtClean="0">
                          <a:latin typeface="Cambria Math"/>
                        </a:rPr>
                        <m:t>≝∃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, </m:t>
                      </m:r>
                      <m:r>
                        <a:rPr lang="en-US" sz="3200" b="0" i="1" smtClean="0">
                          <a:latin typeface="Cambria Math"/>
                        </a:rPr>
                        <m:t>𝑠</m:t>
                      </m:r>
                      <m:r>
                        <a:rPr lang="en-US" sz="3200" b="0" i="1" smtClean="0">
                          <a:latin typeface="Cambria Math"/>
                        </a:rPr>
                        <m:t>.</m:t>
                      </m:r>
                      <m:r>
                        <a:rPr lang="en-US" sz="3200" b="0" i="1" smtClean="0">
                          <a:latin typeface="Cambria Math"/>
                        </a:rPr>
                        <m:t>𝑡</m:t>
                      </m:r>
                      <m:r>
                        <a:rPr lang="en-US" sz="3200" b="0" i="1" smtClean="0">
                          <a:latin typeface="Cambria Math"/>
                        </a:rPr>
                        <m:t>.  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𝑎𝑐𝑐𝑒𝑝𝑡𝑠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2800" dirty="0"/>
              </a:p>
            </p:txBody>
          </p:sp>
        </mc:Choice>
        <mc:Fallback>
          <p:sp>
            <p:nvSpPr>
              <p:cNvPr id="7" name="Dreptunghi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54" y="1762071"/>
                <a:ext cx="7955280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Dreptunghi 3"/>
              <p:cNvSpPr/>
              <p:nvPr/>
            </p:nvSpPr>
            <p:spPr>
              <a:xfrm>
                <a:off x="697327" y="3189406"/>
                <a:ext cx="795528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𝑖𝑠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𝑑𝑒𝑐𝑖𝑑𝑎𝑏𝑙𝑒</m:t>
                      </m:r>
                      <m:r>
                        <a:rPr lang="en-US" sz="3200" b="0" i="1" smtClean="0">
                          <a:latin typeface="Cambria Math"/>
                        </a:rPr>
                        <m:t>≝∃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, </m:t>
                      </m:r>
                      <m:r>
                        <a:rPr lang="en-US" sz="3200" b="0" i="1" smtClean="0">
                          <a:latin typeface="Cambria Math"/>
                        </a:rPr>
                        <m:t>𝑠</m:t>
                      </m:r>
                      <m:r>
                        <a:rPr lang="en-US" sz="3200" b="0" i="1" smtClean="0">
                          <a:latin typeface="Cambria Math"/>
                        </a:rPr>
                        <m:t>.</m:t>
                      </m:r>
                      <m:r>
                        <a:rPr lang="en-US" sz="3200" b="0" i="1" smtClean="0">
                          <a:latin typeface="Cambria Math"/>
                        </a:rPr>
                        <m:t>𝑡</m:t>
                      </m:r>
                      <m:r>
                        <a:rPr lang="en-US" sz="3200" b="0" i="1" smtClean="0">
                          <a:latin typeface="Cambria Math"/>
                        </a:rPr>
                        <m:t>.  </m:t>
                      </m:r>
                      <m:r>
                        <a:rPr lang="en-US" sz="3200" b="0" i="1" smtClean="0">
                          <a:latin typeface="Cambria Math"/>
                        </a:rPr>
                        <m:t>𝑀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𝑑𝑒𝑐𝑖𝑑𝑒𝑠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ro-RO" sz="2800" dirty="0"/>
              </a:p>
            </p:txBody>
          </p:sp>
        </mc:Choice>
        <mc:Fallback>
          <p:sp>
            <p:nvSpPr>
              <p:cNvPr id="4" name="Dreptunghi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27" y="3189406"/>
                <a:ext cx="7955280" cy="5847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800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xmlns="" id="{72B4907C-C739-0652-8994-EBDADF41FE9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2B4907C-C739-0652-8994-EBDADF41F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t="-7447" b="-5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A757227-5967-D44B-E58C-99EF7043041F}"/>
                  </a:ext>
                </a:extLst>
              </p:cNvPr>
              <p:cNvSpPr txBox="1"/>
              <p:nvPr/>
            </p:nvSpPr>
            <p:spPr>
              <a:xfrm>
                <a:off x="895963" y="1557164"/>
                <a:ext cx="3676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𝑅𝐸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𝑎𝑐𝑐𝑒𝑝𝑡𝑎𝑏𝑙𝑒</m:t>
                      </m:r>
                      <m:r>
                        <m:rPr>
                          <m:lit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57227-5967-D44B-E58C-99EF70430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63" y="1557164"/>
                <a:ext cx="3676037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DEFA2641-3C3D-E63D-7168-E2CB851D9B43}"/>
                  </a:ext>
                </a:extLst>
              </p:cNvPr>
              <p:cNvSpPr txBox="1"/>
              <p:nvPr/>
            </p:nvSpPr>
            <p:spPr>
              <a:xfrm>
                <a:off x="4572000" y="1557164"/>
                <a:ext cx="37608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lit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𝑑𝑒𝑐𝑖𝑑𝑎𝑏𝑙𝑒</m:t>
                      </m:r>
                      <m:r>
                        <m:rPr>
                          <m:lit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FA2641-3C3D-E63D-7168-E2CB851D9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557164"/>
                <a:ext cx="3760839" cy="40011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xmlns="" id="{FD1D3FE5-ECFB-C470-561D-22333BF09ACA}"/>
              </a:ext>
            </a:extLst>
          </p:cNvPr>
          <p:cNvSpPr>
            <a:spLocks/>
          </p:cNvSpPr>
          <p:nvPr/>
        </p:nvSpPr>
        <p:spPr>
          <a:xfrm>
            <a:off x="3200400" y="2086227"/>
            <a:ext cx="2743200" cy="274320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449158F5-4BB4-5C4E-51C2-34894EE20BAD}"/>
              </a:ext>
            </a:extLst>
          </p:cNvPr>
          <p:cNvSpPr>
            <a:spLocks noChangeAspect="1"/>
          </p:cNvSpPr>
          <p:nvPr/>
        </p:nvSpPr>
        <p:spPr>
          <a:xfrm>
            <a:off x="4267701" y="3090290"/>
            <a:ext cx="1423859" cy="1423859"/>
          </a:xfrm>
          <a:prstGeom prst="ellipse">
            <a:avLst/>
          </a:prstGeom>
          <a:solidFill>
            <a:schemeClr val="accent6"/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918F0DA-1DE9-18C3-28A5-89C92B724A9D}"/>
              </a:ext>
            </a:extLst>
          </p:cNvPr>
          <p:cNvSpPr txBox="1"/>
          <p:nvPr/>
        </p:nvSpPr>
        <p:spPr>
          <a:xfrm>
            <a:off x="3865797" y="2157177"/>
            <a:ext cx="11138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434424E-C005-AC06-10FC-9CBAD6B49D24}"/>
              </a:ext>
            </a:extLst>
          </p:cNvPr>
          <p:cNvSpPr txBox="1"/>
          <p:nvPr/>
        </p:nvSpPr>
        <p:spPr>
          <a:xfrm>
            <a:off x="1627678" y="2496713"/>
            <a:ext cx="1581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2"/>
                </a:solidFill>
              </a:rPr>
              <a:t>Pairs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xmlns="" id="{7056A4F1-8BAB-8F6E-933D-D64C0B6D8A69}"/>
              </a:ext>
            </a:extLst>
          </p:cNvPr>
          <p:cNvSpPr/>
          <p:nvPr/>
        </p:nvSpPr>
        <p:spPr>
          <a:xfrm>
            <a:off x="3582576" y="3560496"/>
            <a:ext cx="283221" cy="250333"/>
          </a:xfrm>
          <a:prstGeom prst="mathMultiply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8EA7D006-FD1B-3544-23A8-77AD6DFCC357}"/>
              </a:ext>
            </a:extLst>
          </p:cNvPr>
          <p:cNvCxnSpPr>
            <a:cxnSpLocks/>
          </p:cNvCxnSpPr>
          <p:nvPr/>
        </p:nvCxnSpPr>
        <p:spPr>
          <a:xfrm>
            <a:off x="2524715" y="2994053"/>
            <a:ext cx="1197621" cy="68782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E8641C3-217E-1AF3-E3C5-67CCED8B9204}"/>
              </a:ext>
            </a:extLst>
          </p:cNvPr>
          <p:cNvSpPr txBox="1"/>
          <p:nvPr/>
        </p:nvSpPr>
        <p:spPr>
          <a:xfrm>
            <a:off x="6363475" y="2814744"/>
            <a:ext cx="1969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Decoding</a:t>
            </a:r>
          </a:p>
        </p:txBody>
      </p:sp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xmlns="" id="{036D87D3-7BDC-1884-EDD6-71218A3250B5}"/>
              </a:ext>
            </a:extLst>
          </p:cNvPr>
          <p:cNvSpPr/>
          <p:nvPr/>
        </p:nvSpPr>
        <p:spPr>
          <a:xfrm>
            <a:off x="5257597" y="3852328"/>
            <a:ext cx="283221" cy="250333"/>
          </a:xfrm>
          <a:prstGeom prst="mathMultiply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xmlns="" id="{DD26457C-F55A-7BCB-31EC-77E08DEB6178}"/>
              </a:ext>
            </a:extLst>
          </p:cNvPr>
          <p:cNvCxnSpPr>
            <a:cxnSpLocks/>
          </p:cNvCxnSpPr>
          <p:nvPr/>
        </p:nvCxnSpPr>
        <p:spPr>
          <a:xfrm flipH="1">
            <a:off x="5399207" y="3142343"/>
            <a:ext cx="870964" cy="835152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793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  <p:bldP spid="8" grpId="0" animBg="1"/>
      <p:bldP spid="9" grpId="0"/>
      <p:bldP spid="11" grpId="0"/>
      <p:bldP spid="17" grpId="0" animBg="1"/>
      <p:bldP spid="23" grpId="0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subTitle" idx="1"/>
          </p:nvPr>
        </p:nvSpPr>
        <p:spPr>
          <a:xfrm>
            <a:off x="1738867" y="2209103"/>
            <a:ext cx="5831044" cy="1397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“</a:t>
            </a:r>
            <a:r>
              <a:rPr lang="en-US" i="1" dirty="0"/>
              <a:t>The problems solvable by algorithms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are those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computable by Turing machines.</a:t>
            </a:r>
            <a:r>
              <a:rPr lang="en" i="1" dirty="0"/>
              <a:t>”</a:t>
            </a:r>
            <a:endParaRPr i="1" dirty="0"/>
          </a:p>
        </p:txBody>
      </p:sp>
      <p:sp>
        <p:nvSpPr>
          <p:cNvPr id="3" name="Google Shape;2371;p48">
            <a:extLst>
              <a:ext uri="{FF2B5EF4-FFF2-40B4-BE49-F238E27FC236}">
                <a16:creationId xmlns:a16="http://schemas.microsoft.com/office/drawing/2014/main" xmlns="" id="{1A4C917D-256D-3979-42A1-7BEBF1E869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006953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The Church-Turing thesis 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F50A458-07DA-89F3-7B1C-008C06861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9" y="1579653"/>
            <a:ext cx="1622228" cy="2167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625DABE-3FD3-6F6C-F0BF-A62093F86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972" y="1584978"/>
            <a:ext cx="1622228" cy="2197721"/>
          </a:xfrm>
          <a:prstGeom prst="rect">
            <a:avLst/>
          </a:prstGeom>
        </p:spPr>
      </p:pic>
      <p:sp>
        <p:nvSpPr>
          <p:cNvPr id="8" name="Google Shape;2336;p45">
            <a:extLst>
              <a:ext uri="{FF2B5EF4-FFF2-40B4-BE49-F238E27FC236}">
                <a16:creationId xmlns:a16="http://schemas.microsoft.com/office/drawing/2014/main" xmlns="" id="{2CA4661E-A039-1A51-2B71-CAE1FCC62F24}"/>
              </a:ext>
            </a:extLst>
          </p:cNvPr>
          <p:cNvSpPr txBox="1">
            <a:spLocks/>
          </p:cNvSpPr>
          <p:nvPr/>
        </p:nvSpPr>
        <p:spPr>
          <a:xfrm>
            <a:off x="-223408" y="3706176"/>
            <a:ext cx="2302322" cy="83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3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800" i="1" dirty="0"/>
              <a:t>Alonzo Church</a:t>
            </a:r>
          </a:p>
          <a:p>
            <a:pPr marL="0" indent="0"/>
            <a:r>
              <a:rPr lang="en-US" sz="1800" i="1" dirty="0"/>
              <a:t>(1903 – 1995)</a:t>
            </a:r>
          </a:p>
        </p:txBody>
      </p:sp>
      <p:sp>
        <p:nvSpPr>
          <p:cNvPr id="9" name="Google Shape;2336;p45">
            <a:extLst>
              <a:ext uri="{FF2B5EF4-FFF2-40B4-BE49-F238E27FC236}">
                <a16:creationId xmlns:a16="http://schemas.microsoft.com/office/drawing/2014/main" xmlns="" id="{C11B5211-6451-6FDD-F55A-24331F38BD0C}"/>
              </a:ext>
            </a:extLst>
          </p:cNvPr>
          <p:cNvSpPr txBox="1">
            <a:spLocks/>
          </p:cNvSpPr>
          <p:nvPr/>
        </p:nvSpPr>
        <p:spPr>
          <a:xfrm>
            <a:off x="7008925" y="3699525"/>
            <a:ext cx="2302322" cy="83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3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None/>
              <a:defRPr sz="1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indent="0"/>
            <a:r>
              <a:rPr lang="en-US" sz="1800" i="1" dirty="0"/>
              <a:t>Alan Turing</a:t>
            </a:r>
          </a:p>
          <a:p>
            <a:pPr marL="0" indent="0"/>
            <a:r>
              <a:rPr lang="en-US" sz="1800" i="1" dirty="0"/>
              <a:t>(1912 – 1954)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6" grpId="0" uiExpand="1" build="p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71;p48">
                <a:extLst>
                  <a:ext uri="{FF2B5EF4-FFF2-40B4-BE49-F238E27FC236}">
                    <a16:creationId xmlns:a16="http://schemas.microsoft.com/office/drawing/2014/main" xmlns="" id="{FE0BF8D8-29A8-E55A-F88C-E81ABDE6C10B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/>
                  <a:t>All roads lead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5" name="Google Shape;2371;p48">
                <a:extLst>
                  <a:ext uri="{FF2B5EF4-FFF2-40B4-BE49-F238E27FC236}">
                    <a16:creationId xmlns:a16="http://schemas.microsoft.com/office/drawing/2014/main" id="{FE0BF8D8-29A8-E55A-F88C-E81ABDE6C10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0000" y="445025"/>
                <a:ext cx="7704000" cy="572700"/>
              </a:xfrm>
              <a:prstGeom prst="rect">
                <a:avLst/>
              </a:prstGeom>
              <a:blipFill>
                <a:blip r:embed="rId3"/>
                <a:stretch>
                  <a:fillRect t="-7447" b="-5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2977;p68">
            <a:extLst>
              <a:ext uri="{FF2B5EF4-FFF2-40B4-BE49-F238E27FC236}">
                <a16:creationId xmlns:a16="http://schemas.microsoft.com/office/drawing/2014/main" xmlns="" id="{4ADFC993-5682-54BA-3EAD-85FC7DD92E24}"/>
              </a:ext>
            </a:extLst>
          </p:cNvPr>
          <p:cNvSpPr txBox="1"/>
          <p:nvPr/>
        </p:nvSpPr>
        <p:spPr>
          <a:xfrm>
            <a:off x="1028895" y="1246173"/>
            <a:ext cx="3543105" cy="357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Recursive functions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-GR" sz="2000" dirty="0">
                <a:latin typeface="Karla Regular" charset="0"/>
              </a:rPr>
              <a:t>λ</a:t>
            </a:r>
            <a:r>
              <a:rPr lang="en-US" sz="2000" dirty="0">
                <a:latin typeface="Karla Regular" charset="0"/>
              </a:rPr>
              <a:t>-calculus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Turing machines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Markov algorithms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RAM machines</a:t>
            </a:r>
            <a:endParaRPr sz="2000" dirty="0">
              <a:solidFill>
                <a:srgbClr val="191919"/>
              </a:solidFill>
              <a:latin typeface="Karla Regular" charset="0"/>
              <a:ea typeface="Karla Regular"/>
              <a:cs typeface="Karla Regular"/>
              <a:sym typeface="Karla Regular"/>
            </a:endParaRPr>
          </a:p>
        </p:txBody>
      </p:sp>
      <p:sp>
        <p:nvSpPr>
          <p:cNvPr id="3" name="Google Shape;2977;p68">
            <a:extLst>
              <a:ext uri="{FF2B5EF4-FFF2-40B4-BE49-F238E27FC236}">
                <a16:creationId xmlns:a16="http://schemas.microsoft.com/office/drawing/2014/main" xmlns="" id="{90CAAB8E-F1DF-AEB5-3A85-76EC05377E7C}"/>
              </a:ext>
            </a:extLst>
          </p:cNvPr>
          <p:cNvSpPr txBox="1"/>
          <p:nvPr/>
        </p:nvSpPr>
        <p:spPr>
          <a:xfrm>
            <a:off x="4880895" y="1244824"/>
            <a:ext cx="3543105" cy="357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Queue automata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Karla Regular" charset="0"/>
              </a:rPr>
              <a:t>Counter machines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Post canonical system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Wang B-machine</a:t>
            </a:r>
          </a:p>
          <a:p>
            <a:pPr marL="0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Uniform </a:t>
            </a: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B</a:t>
            </a:r>
            <a:r>
              <a:rPr lang="en-US" sz="2000" dirty="0" smtClean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oolean </a:t>
            </a:r>
            <a:r>
              <a:rPr lang="en-US" sz="2000" dirty="0">
                <a:solidFill>
                  <a:srgbClr val="191919"/>
                </a:solidFill>
                <a:latin typeface="Karla Regular" charset="0"/>
                <a:ea typeface="Karla Regular"/>
                <a:cs typeface="Karla Regular"/>
                <a:sym typeface="Karla Regular"/>
              </a:rPr>
              <a:t>circuits</a:t>
            </a:r>
            <a:endParaRPr sz="2000" dirty="0">
              <a:solidFill>
                <a:srgbClr val="191919"/>
              </a:solidFill>
              <a:latin typeface="Karla Regular" charset="0"/>
              <a:ea typeface="Karla Regular"/>
              <a:cs typeface="Karla Regular"/>
              <a:sym typeface="Karla Regula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1183</Words>
  <Application>Microsoft Office PowerPoint</Application>
  <PresentationFormat>Expunere pe ecran (16:9)</PresentationFormat>
  <Paragraphs>277</Paragraphs>
  <Slides>28</Slides>
  <Notes>28</Notes>
  <HiddenSlides>2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28</vt:i4>
      </vt:variant>
    </vt:vector>
  </HeadingPairs>
  <TitlesOfParts>
    <vt:vector size="35" baseType="lpstr">
      <vt:lpstr>Arial</vt:lpstr>
      <vt:lpstr>Roboto Condensed Light</vt:lpstr>
      <vt:lpstr>Cambria Math</vt:lpstr>
      <vt:lpstr>Karla Regular</vt:lpstr>
      <vt:lpstr>Karla</vt:lpstr>
      <vt:lpstr>Nunito</vt:lpstr>
      <vt:lpstr>Mathematics Subject for Middle School - 6th Grade: Algebra by Slidesgo</vt:lpstr>
      <vt:lpstr>Computing</vt:lpstr>
      <vt:lpstr>Contents</vt:lpstr>
      <vt:lpstr>Doing nothing</vt:lpstr>
      <vt:lpstr>Writing 1 forever</vt:lpstr>
      <vt:lpstr>Flipping forever</vt:lpstr>
      <vt:lpstr>Halting on some inputs</vt:lpstr>
      <vt:lpstr>When a machine runs…</vt:lpstr>
      <vt:lpstr>Configurations</vt:lpstr>
      <vt:lpstr>From one configuration to another</vt:lpstr>
      <vt:lpstr>From one configuration to another</vt:lpstr>
      <vt:lpstr>From one configuration to another</vt:lpstr>
      <vt:lpstr>From one configuration to another</vt:lpstr>
      <vt:lpstr>Prezentare PowerPoint</vt:lpstr>
      <vt:lpstr>One step</vt:lpstr>
      <vt:lpstr>Zero or more steps</vt:lpstr>
      <vt:lpstr>Computing an output</vt:lpstr>
      <vt:lpstr>Computing a function</vt:lpstr>
      <vt:lpstr>Computable functions</vt:lpstr>
      <vt:lpstr>Accepting an input</vt:lpstr>
      <vt:lpstr>Accepting an input</vt:lpstr>
      <vt:lpstr>Rejecting an input</vt:lpstr>
      <vt:lpstr>Rejecting an input</vt:lpstr>
      <vt:lpstr>Deciding a function</vt:lpstr>
      <vt:lpstr>Accepting a function</vt:lpstr>
      <vt:lpstr>Types of decision problems</vt:lpstr>
      <vt:lpstr>The sets RE, R</vt:lpstr>
      <vt:lpstr>The Church-Turing thesis </vt:lpstr>
      <vt:lpstr>All roads lead to 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42</cp:revision>
  <dcterms:modified xsi:type="dcterms:W3CDTF">2022-10-21T09:48:40Z</dcterms:modified>
</cp:coreProperties>
</file>