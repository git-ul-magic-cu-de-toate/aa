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28"/>
  </p:notesMasterIdLst>
  <p:sldIdLst>
    <p:sldId id="257" r:id="rId2"/>
    <p:sldId id="256" r:id="rId3"/>
    <p:sldId id="322" r:id="rId4"/>
    <p:sldId id="331" r:id="rId5"/>
    <p:sldId id="328" r:id="rId6"/>
    <p:sldId id="323" r:id="rId7"/>
    <p:sldId id="329" r:id="rId8"/>
    <p:sldId id="330" r:id="rId9"/>
    <p:sldId id="265" r:id="rId10"/>
    <p:sldId id="333" r:id="rId11"/>
    <p:sldId id="332" r:id="rId12"/>
    <p:sldId id="343" r:id="rId13"/>
    <p:sldId id="344" r:id="rId14"/>
    <p:sldId id="346" r:id="rId15"/>
    <p:sldId id="327" r:id="rId16"/>
    <p:sldId id="334" r:id="rId17"/>
    <p:sldId id="324" r:id="rId18"/>
    <p:sldId id="336" r:id="rId19"/>
    <p:sldId id="337" r:id="rId20"/>
    <p:sldId id="338" r:id="rId21"/>
    <p:sldId id="345" r:id="rId22"/>
    <p:sldId id="318" r:id="rId23"/>
    <p:sldId id="339" r:id="rId24"/>
    <p:sldId id="340" r:id="rId25"/>
    <p:sldId id="341" r:id="rId26"/>
    <p:sldId id="342" r:id="rId27"/>
  </p:sldIdLst>
  <p:sldSz cx="9144000" cy="5143500" type="screen16x9"/>
  <p:notesSz cx="6858000" cy="9144000"/>
  <p:embeddedFontLst>
    <p:embeddedFont>
      <p:font typeface="Roboto Condensed Light" charset="0"/>
      <p:regular r:id="rId29"/>
      <p:italic r:id="rId30"/>
    </p:embeddedFont>
    <p:embeddedFont>
      <p:font typeface="Cambria Math" pitchFamily="18" charset="0"/>
      <p:regular r:id="rId31"/>
    </p:embeddedFont>
    <p:embeddedFont>
      <p:font typeface="Karla" charset="0"/>
      <p:regular r:id="rId32"/>
      <p:bold r:id="rId33"/>
      <p:italic r:id="rId34"/>
      <p:boldItalic r:id="rId35"/>
    </p:embeddedFont>
    <p:embeddedFont>
      <p:font typeface="Nunito" charset="0"/>
      <p:regular r:id="rId36"/>
      <p:bold r:id="rId37"/>
      <p:italic r:id="rId38"/>
      <p:boldItalic r:id="rId39"/>
    </p:embeddedFont>
    <p:embeddedFont>
      <p:font typeface="Lucida Sans" charset="0"/>
      <p:regular r:id="rId40"/>
      <p:bold r:id="rId41"/>
      <p:italic r:id="rId42"/>
      <p:boldItalic r:id="rId43"/>
    </p:embeddedFont>
    <p:embeddedFont>
      <p:font typeface="Karla Regular" charset="0"/>
      <p:bold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5FC7F6E-7D7C-429E-9E02-8E8779DB5895}">
  <a:tblStyle styleId="{D5FC7F6E-7D7C-429E-9E02-8E8779DB58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18" autoAdjust="0"/>
  </p:normalViewPr>
  <p:slideViewPr>
    <p:cSldViewPr snapToGrid="0">
      <p:cViewPr varScale="1">
        <p:scale>
          <a:sx n="131" d="100"/>
          <a:sy n="131" d="100"/>
        </p:scale>
        <p:origin x="-450" y="-9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font" Target="fonts/font15.fntdata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6636593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2" name="Google Shape;2202;gcec4d2707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3" name="Google Shape;2203;gcec4d2707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99f2f57a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99f2f57a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896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70958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0602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5517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7243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24039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2284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70655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28963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3949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893600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5806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3216984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56658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gd3de2aebdd_0_217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4" name="Google Shape;2384;gd3de2aebdd_0_217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Formal information about the triplet members written on the blackboard live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08377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63652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gd3de2aedb6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6" name="Google Shape;2576;gd3de2aedb6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Write configurations live on the blackboard for input 110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6828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91879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169375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1638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bd6c00e730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bd6c00e730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95030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2399960" y="826618"/>
            <a:ext cx="4287930" cy="3642388"/>
            <a:chOff x="4611450" y="3151300"/>
            <a:chExt cx="667725" cy="567200"/>
          </a:xfrm>
        </p:grpSpPr>
        <p:sp>
          <p:nvSpPr>
            <p:cNvPr id="10" name="Google Shape;10;p2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" name="Google Shape;23;p2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591200" cy="47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25" name="Google Shape;25;p2"/>
          <p:cNvGrpSpPr/>
          <p:nvPr/>
        </p:nvGrpSpPr>
        <p:grpSpPr>
          <a:xfrm flipH="1">
            <a:off x="7641120" y="4577926"/>
            <a:ext cx="1051274" cy="787312"/>
            <a:chOff x="3585475" y="1537675"/>
            <a:chExt cx="649175" cy="486175"/>
          </a:xfrm>
        </p:grpSpPr>
        <p:sp>
          <p:nvSpPr>
            <p:cNvPr id="26" name="Google Shape;26;p2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2"/>
          <p:cNvSpPr/>
          <p:nvPr/>
        </p:nvSpPr>
        <p:spPr>
          <a:xfrm flipH="1">
            <a:off x="7937525" y="1510200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"/>
          <p:cNvSpPr/>
          <p:nvPr/>
        </p:nvSpPr>
        <p:spPr>
          <a:xfrm flipH="1">
            <a:off x="8256002" y="1510202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4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AutoNum type="arabicPeriod"/>
              <a:defRPr sz="1200">
                <a:solidFill>
                  <a:schemeClr val="accent4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rabicPeriod"/>
              <a:defRPr>
                <a:solidFill>
                  <a:schemeClr val="accent4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Roboto Condensed Light"/>
              <a:buAutoNum type="alphaLcPeriod"/>
              <a:defRPr>
                <a:solidFill>
                  <a:schemeClr val="accent4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200"/>
              <a:buFont typeface="Roboto Condensed Light"/>
              <a:buAutoNum type="romanLcPeriod"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7322400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" name="Google Shape;56;p4"/>
          <p:cNvGrpSpPr/>
          <p:nvPr/>
        </p:nvGrpSpPr>
        <p:grpSpPr>
          <a:xfrm>
            <a:off x="-1096660" y="3536723"/>
            <a:ext cx="1626244" cy="1381416"/>
            <a:chOff x="4611450" y="3151300"/>
            <a:chExt cx="667725" cy="567200"/>
          </a:xfrm>
        </p:grpSpPr>
        <p:sp>
          <p:nvSpPr>
            <p:cNvPr id="57" name="Google Shape;57;p4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" name="Google Shape;70;p4"/>
          <p:cNvSpPr/>
          <p:nvPr/>
        </p:nvSpPr>
        <p:spPr>
          <a:xfrm>
            <a:off x="6019775" y="4576963"/>
            <a:ext cx="2203209" cy="2205532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" name="Google Shape;71;p4"/>
          <p:cNvGrpSpPr/>
          <p:nvPr/>
        </p:nvGrpSpPr>
        <p:grpSpPr>
          <a:xfrm>
            <a:off x="7677857" y="337714"/>
            <a:ext cx="1051274" cy="787312"/>
            <a:chOff x="3585475" y="1537675"/>
            <a:chExt cx="649175" cy="486175"/>
          </a:xfrm>
        </p:grpSpPr>
        <p:sp>
          <p:nvSpPr>
            <p:cNvPr id="72" name="Google Shape;72;p4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4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4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2" name="Google Shape;92;p4"/>
          <p:cNvSpPr/>
          <p:nvPr/>
        </p:nvSpPr>
        <p:spPr>
          <a:xfrm>
            <a:off x="-1428200" y="-1177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2"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428" name="Google Shape;1428;p27"/>
          <p:cNvGrpSpPr/>
          <p:nvPr/>
        </p:nvGrpSpPr>
        <p:grpSpPr>
          <a:xfrm rot="10800000" flipH="1">
            <a:off x="8367160" y="669950"/>
            <a:ext cx="4287930" cy="3642388"/>
            <a:chOff x="4611450" y="3151300"/>
            <a:chExt cx="667725" cy="567200"/>
          </a:xfrm>
        </p:grpSpPr>
        <p:sp>
          <p:nvSpPr>
            <p:cNvPr id="1429" name="Google Shape;1429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Google Shape;1430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Google Shape;1431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Google Shape;1432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Google Shape;1433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Google Shape;1439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Google Shape;1440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2" name="Google Shape;1442;p27"/>
          <p:cNvGrpSpPr/>
          <p:nvPr/>
        </p:nvGrpSpPr>
        <p:grpSpPr>
          <a:xfrm rot="10800000" flipH="1">
            <a:off x="-3376540" y="669950"/>
            <a:ext cx="4287930" cy="3642388"/>
            <a:chOff x="4611450" y="3151300"/>
            <a:chExt cx="667725" cy="567200"/>
          </a:xfrm>
        </p:grpSpPr>
        <p:sp>
          <p:nvSpPr>
            <p:cNvPr id="1443" name="Google Shape;1443;p2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2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Google Shape;1445;p2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Google Shape;1446;p2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2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2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2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2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Google Shape;1451;p2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Google Shape;1452;p2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Google Shape;1453;p2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Google Shape;1454;p2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Google Shape;1455;p2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6" name="Google Shape;1456;p27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7" name="Google Shape;1457;p27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8" name="Google Shape;1458;p27"/>
          <p:cNvSpPr/>
          <p:nvPr/>
        </p:nvSpPr>
        <p:spPr>
          <a:xfrm rot="10800000">
            <a:off x="8070742" y="4121226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9" name="Google Shape;1459;p27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1460" name="Google Shape;1460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Google Shape;1461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Google Shape;1462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Google Shape;1463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Google Shape;1464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Google Shape;1465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Google Shape;1466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Google Shape;1467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Google Shape;1468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Google Shape;1469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Google Shape;1470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Google Shape;1471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Google Shape;1472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Google Shape;1473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Google Shape;1474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Google Shape;1475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Google Shape;1476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Google Shape;1477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Google Shape;1478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Google Shape;1479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80" name="Google Shape;1480;p27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1481" name="Google Shape;1481;p2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Google Shape;1482;p2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Google Shape;1483;p2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Google Shape;1484;p2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Google Shape;1485;p2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Google Shape;1486;p2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2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2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2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2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Google Shape;1491;p2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Google Shape;1492;p2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Google Shape;1493;p2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2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2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2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2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2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2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2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TITLE_ONLY_2_3_1">
    <p:bg>
      <p:bgPr>
        <a:solidFill>
          <a:schemeClr val="lt1"/>
        </a:solidFill>
        <a:effectLst/>
      </p:bgPr>
    </p:bg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35"/>
          <p:cNvSpPr/>
          <p:nvPr/>
        </p:nvSpPr>
        <p:spPr>
          <a:xfrm rot="10800000">
            <a:off x="-1633725" y="-1256389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1" name="Google Shape;2021;p35"/>
          <p:cNvSpPr/>
          <p:nvPr/>
        </p:nvSpPr>
        <p:spPr>
          <a:xfrm rot="10800000">
            <a:off x="8367144" y="4142370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2" name="Google Shape;2022;p35"/>
          <p:cNvGrpSpPr/>
          <p:nvPr/>
        </p:nvGrpSpPr>
        <p:grpSpPr>
          <a:xfrm rot="10800000" flipH="1">
            <a:off x="359957" y="4770143"/>
            <a:ext cx="1051274" cy="787312"/>
            <a:chOff x="3585475" y="1537675"/>
            <a:chExt cx="649175" cy="486175"/>
          </a:xfrm>
        </p:grpSpPr>
        <p:sp>
          <p:nvSpPr>
            <p:cNvPr id="2023" name="Google Shape;2023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5" name="Google Shape;2025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0" name="Google Shape;2030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3" name="Google Shape;2033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4" name="Google Shape;2034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5" name="Google Shape;2035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6" name="Google Shape;2036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7" name="Google Shape;2037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8" name="Google Shape;2038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9" name="Google Shape;2039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0" name="Google Shape;2040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1" name="Google Shape;2041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2" name="Google Shape;2042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43" name="Google Shape;2043;p35"/>
          <p:cNvGrpSpPr/>
          <p:nvPr/>
        </p:nvGrpSpPr>
        <p:grpSpPr>
          <a:xfrm rot="10800000" flipH="1">
            <a:off x="7633694" y="-423544"/>
            <a:ext cx="1051274" cy="787312"/>
            <a:chOff x="3585475" y="1537675"/>
            <a:chExt cx="649175" cy="486175"/>
          </a:xfrm>
        </p:grpSpPr>
        <p:sp>
          <p:nvSpPr>
            <p:cNvPr id="2044" name="Google Shape;2044;p3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5" name="Google Shape;2045;p3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6" name="Google Shape;2046;p3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7" name="Google Shape;2047;p3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8" name="Google Shape;2048;p3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9" name="Google Shape;2049;p3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0" name="Google Shape;2050;p3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1" name="Google Shape;2051;p3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3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3" name="Google Shape;2053;p3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4" name="Google Shape;2054;p3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5" name="Google Shape;2055;p3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6" name="Google Shape;2056;p3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7" name="Google Shape;2057;p3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8" name="Google Shape;2058;p3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9" name="Google Shape;2059;p3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0" name="Google Shape;2060;p3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1" name="Google Shape;2061;p3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3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3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ONE_COLUMN_TEXT_1">
    <p:spTree>
      <p:nvGrpSpPr>
        <p:cNvPr id="1" name="Shape 2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5" name="Google Shape;2065;p36"/>
          <p:cNvGrpSpPr/>
          <p:nvPr/>
        </p:nvGrpSpPr>
        <p:grpSpPr>
          <a:xfrm>
            <a:off x="7230635" y="826618"/>
            <a:ext cx="4287930" cy="3642388"/>
            <a:chOff x="4611450" y="3151300"/>
            <a:chExt cx="667725" cy="567200"/>
          </a:xfrm>
        </p:grpSpPr>
        <p:sp>
          <p:nvSpPr>
            <p:cNvPr id="2066" name="Google Shape;2066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7" name="Google Shape;2067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3" name="Google Shape;2073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4" name="Google Shape;2074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5" name="Google Shape;2075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6" name="Google Shape;2076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7" name="Google Shape;2077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8" name="Google Shape;2078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9" name="Google Shape;2079;p36"/>
          <p:cNvGrpSpPr/>
          <p:nvPr/>
        </p:nvGrpSpPr>
        <p:grpSpPr>
          <a:xfrm>
            <a:off x="-2374565" y="826618"/>
            <a:ext cx="4287930" cy="3642388"/>
            <a:chOff x="4611450" y="3151300"/>
            <a:chExt cx="667725" cy="567200"/>
          </a:xfrm>
        </p:grpSpPr>
        <p:sp>
          <p:nvSpPr>
            <p:cNvPr id="2080" name="Google Shape;2080;p36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1" name="Google Shape;2081;p36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2" name="Google Shape;2082;p36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3" name="Google Shape;2083;p36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4" name="Google Shape;2084;p36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5" name="Google Shape;2085;p36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6" name="Google Shape;2086;p36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7" name="Google Shape;2087;p36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36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9" name="Google Shape;2089;p36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0" name="Google Shape;2090;p36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36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36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3" name="Google Shape;2093;p36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4" name="Google Shape;2094;p36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5" name="Google Shape;2095;p36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96" name="Google Shape;2096;p36"/>
          <p:cNvGrpSpPr/>
          <p:nvPr/>
        </p:nvGrpSpPr>
        <p:grpSpPr>
          <a:xfrm>
            <a:off x="514482" y="518776"/>
            <a:ext cx="1051274" cy="787312"/>
            <a:chOff x="3585475" y="1537675"/>
            <a:chExt cx="649175" cy="486175"/>
          </a:xfrm>
        </p:grpSpPr>
        <p:sp>
          <p:nvSpPr>
            <p:cNvPr id="2097" name="Google Shape;2097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1" name="Google Shape;2111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2" name="Google Shape;2112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3" name="Google Shape;2113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4" name="Google Shape;2114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17" name="Google Shape;2117;p36"/>
          <p:cNvGrpSpPr/>
          <p:nvPr/>
        </p:nvGrpSpPr>
        <p:grpSpPr>
          <a:xfrm>
            <a:off x="7523332" y="3991726"/>
            <a:ext cx="1051274" cy="787312"/>
            <a:chOff x="3585475" y="1537675"/>
            <a:chExt cx="649175" cy="486175"/>
          </a:xfrm>
        </p:grpSpPr>
        <p:sp>
          <p:nvSpPr>
            <p:cNvPr id="2118" name="Google Shape;2118;p3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3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3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3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3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3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3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3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3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3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3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3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3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3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3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3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3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3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3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3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LANK_1_1_1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9" name="Google Shape;2139;p37"/>
          <p:cNvGrpSpPr/>
          <p:nvPr/>
        </p:nvGrpSpPr>
        <p:grpSpPr>
          <a:xfrm>
            <a:off x="7799282" y="2074226"/>
            <a:ext cx="1051274" cy="787312"/>
            <a:chOff x="3585475" y="1537675"/>
            <a:chExt cx="649175" cy="486175"/>
          </a:xfrm>
        </p:grpSpPr>
        <p:sp>
          <p:nvSpPr>
            <p:cNvPr id="2140" name="Google Shape;2140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2" name="Google Shape;2152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3" name="Google Shape;2153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4" name="Google Shape;2154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9" name="Google Shape;2159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0" name="Google Shape;2160;p37"/>
          <p:cNvGrpSpPr/>
          <p:nvPr/>
        </p:nvGrpSpPr>
        <p:grpSpPr>
          <a:xfrm>
            <a:off x="293445" y="2074226"/>
            <a:ext cx="1051274" cy="787312"/>
            <a:chOff x="3585475" y="1537675"/>
            <a:chExt cx="649175" cy="486175"/>
          </a:xfrm>
        </p:grpSpPr>
        <p:sp>
          <p:nvSpPr>
            <p:cNvPr id="2161" name="Google Shape;2161;p37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37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37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37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37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37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37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37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37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37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37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37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37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37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37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37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37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37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37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37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81" name="Google Shape;2181;p37"/>
          <p:cNvSpPr/>
          <p:nvPr/>
        </p:nvSpPr>
        <p:spPr>
          <a:xfrm>
            <a:off x="3227875" y="4385403"/>
            <a:ext cx="2688246" cy="2688296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82" name="Google Shape;2182;p37"/>
          <p:cNvGrpSpPr/>
          <p:nvPr/>
        </p:nvGrpSpPr>
        <p:grpSpPr>
          <a:xfrm>
            <a:off x="2399960" y="871118"/>
            <a:ext cx="4287930" cy="3642388"/>
            <a:chOff x="4611450" y="3151300"/>
            <a:chExt cx="667725" cy="567200"/>
          </a:xfrm>
        </p:grpSpPr>
        <p:sp>
          <p:nvSpPr>
            <p:cNvPr id="2183" name="Google Shape;2183;p37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37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37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37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37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37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37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37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37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37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37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37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37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96" name="Google Shape;2196;p37"/>
          <p:cNvSpPr/>
          <p:nvPr/>
        </p:nvSpPr>
        <p:spPr>
          <a:xfrm>
            <a:off x="3161643" y="-1861624"/>
            <a:ext cx="2820666" cy="282364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>
            <a:endParaRPr/>
          </a:p>
        </p:txBody>
      </p:sp>
      <p:grpSp>
        <p:nvGrpSpPr>
          <p:cNvPr id="1384" name="Google Shape;1384;p26"/>
          <p:cNvGrpSpPr/>
          <p:nvPr/>
        </p:nvGrpSpPr>
        <p:grpSpPr>
          <a:xfrm>
            <a:off x="359957" y="-418499"/>
            <a:ext cx="1051274" cy="787312"/>
            <a:chOff x="3585475" y="1537675"/>
            <a:chExt cx="649175" cy="486175"/>
          </a:xfrm>
        </p:grpSpPr>
        <p:sp>
          <p:nvSpPr>
            <p:cNvPr id="1385" name="Google Shape;1385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Google Shape;1390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Google Shape;1391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Google Shape;1392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5" name="Google Shape;1405;p26"/>
          <p:cNvGrpSpPr/>
          <p:nvPr/>
        </p:nvGrpSpPr>
        <p:grpSpPr>
          <a:xfrm>
            <a:off x="7633694" y="4775189"/>
            <a:ext cx="1051274" cy="787312"/>
            <a:chOff x="3585475" y="1537675"/>
            <a:chExt cx="649175" cy="486175"/>
          </a:xfrm>
        </p:grpSpPr>
        <p:sp>
          <p:nvSpPr>
            <p:cNvPr id="1406" name="Google Shape;1406;p26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26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26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26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26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26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26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26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26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26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26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26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26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26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26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26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26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26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26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26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50571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5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61" name="Google Shape;661;p15"/>
          <p:cNvSpPr txBox="1">
            <a:spLocks noGrp="1"/>
          </p:cNvSpPr>
          <p:nvPr>
            <p:ph type="subTitle" idx="1"/>
          </p:nvPr>
        </p:nvSpPr>
        <p:spPr>
          <a:xfrm>
            <a:off x="2024825" y="3191100"/>
            <a:ext cx="5094300" cy="13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62" name="Google Shape;662;p15"/>
          <p:cNvGrpSpPr/>
          <p:nvPr/>
        </p:nvGrpSpPr>
        <p:grpSpPr>
          <a:xfrm>
            <a:off x="8058435" y="-451282"/>
            <a:ext cx="4287930" cy="3642388"/>
            <a:chOff x="4611450" y="3151300"/>
            <a:chExt cx="667725" cy="567200"/>
          </a:xfrm>
        </p:grpSpPr>
        <p:sp>
          <p:nvSpPr>
            <p:cNvPr id="663" name="Google Shape;663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6" name="Google Shape;676;p15"/>
          <p:cNvGrpSpPr/>
          <p:nvPr/>
        </p:nvGrpSpPr>
        <p:grpSpPr>
          <a:xfrm>
            <a:off x="-3567940" y="1886243"/>
            <a:ext cx="4287930" cy="3642388"/>
            <a:chOff x="4611450" y="3151300"/>
            <a:chExt cx="667725" cy="567200"/>
          </a:xfrm>
        </p:grpSpPr>
        <p:sp>
          <p:nvSpPr>
            <p:cNvPr id="677" name="Google Shape;677;p15"/>
            <p:cNvSpPr/>
            <p:nvPr/>
          </p:nvSpPr>
          <p:spPr>
            <a:xfrm>
              <a:off x="47032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1" y="1"/>
                  </a:moveTo>
                  <a:lnTo>
                    <a:pt x="1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15"/>
            <p:cNvSpPr/>
            <p:nvPr/>
          </p:nvSpPr>
          <p:spPr>
            <a:xfrm>
              <a:off x="47842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15"/>
            <p:cNvSpPr/>
            <p:nvPr/>
          </p:nvSpPr>
          <p:spPr>
            <a:xfrm>
              <a:off x="48642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15"/>
            <p:cNvSpPr/>
            <p:nvPr/>
          </p:nvSpPr>
          <p:spPr>
            <a:xfrm>
              <a:off x="494530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15"/>
            <p:cNvSpPr/>
            <p:nvPr/>
          </p:nvSpPr>
          <p:spPr>
            <a:xfrm>
              <a:off x="502632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15"/>
            <p:cNvSpPr/>
            <p:nvPr/>
          </p:nvSpPr>
          <p:spPr>
            <a:xfrm>
              <a:off x="5107350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15"/>
            <p:cNvSpPr/>
            <p:nvPr/>
          </p:nvSpPr>
          <p:spPr>
            <a:xfrm>
              <a:off x="5188375" y="3151300"/>
              <a:ext cx="25" cy="567200"/>
            </a:xfrm>
            <a:custGeom>
              <a:avLst/>
              <a:gdLst/>
              <a:ahLst/>
              <a:cxnLst/>
              <a:rect l="l" t="t" r="r" b="b"/>
              <a:pathLst>
                <a:path w="1" h="22688" fill="none" extrusionOk="0">
                  <a:moveTo>
                    <a:pt x="0" y="1"/>
                  </a:moveTo>
                  <a:lnTo>
                    <a:pt x="0" y="22687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15"/>
            <p:cNvSpPr/>
            <p:nvPr/>
          </p:nvSpPr>
          <p:spPr>
            <a:xfrm>
              <a:off x="4611450" y="363355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15"/>
            <p:cNvSpPr/>
            <p:nvPr/>
          </p:nvSpPr>
          <p:spPr>
            <a:xfrm>
              <a:off x="4611450" y="35525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15"/>
            <p:cNvSpPr/>
            <p:nvPr/>
          </p:nvSpPr>
          <p:spPr>
            <a:xfrm>
              <a:off x="4611450" y="34715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15"/>
            <p:cNvSpPr/>
            <p:nvPr/>
          </p:nvSpPr>
          <p:spPr>
            <a:xfrm>
              <a:off x="4611450" y="339047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0"/>
                  </a:moveTo>
                  <a:lnTo>
                    <a:pt x="26709" y="0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15"/>
            <p:cNvSpPr/>
            <p:nvPr/>
          </p:nvSpPr>
          <p:spPr>
            <a:xfrm>
              <a:off x="4611450" y="3310425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15"/>
            <p:cNvSpPr/>
            <p:nvPr/>
          </p:nvSpPr>
          <p:spPr>
            <a:xfrm>
              <a:off x="4611450" y="3229400"/>
              <a:ext cx="667725" cy="25"/>
            </a:xfrm>
            <a:custGeom>
              <a:avLst/>
              <a:gdLst/>
              <a:ahLst/>
              <a:cxnLst/>
              <a:rect l="l" t="t" r="r" b="b"/>
              <a:pathLst>
                <a:path w="26709" h="1" fill="none" extrusionOk="0">
                  <a:moveTo>
                    <a:pt x="0" y="1"/>
                  </a:moveTo>
                  <a:lnTo>
                    <a:pt x="26709" y="1"/>
                  </a:lnTo>
                </a:path>
              </a:pathLst>
            </a:custGeom>
            <a:noFill/>
            <a:ln w="780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0" name="Google Shape;690;p15"/>
          <p:cNvSpPr/>
          <p:nvPr/>
        </p:nvSpPr>
        <p:spPr>
          <a:xfrm flipH="1">
            <a:off x="-969025" y="3816700"/>
            <a:ext cx="2148195" cy="2148195"/>
          </a:xfrm>
          <a:custGeom>
            <a:avLst/>
            <a:gdLst/>
            <a:ahLst/>
            <a:cxnLst/>
            <a:rect l="l" t="t" r="r" b="b"/>
            <a:pathLst>
              <a:path w="39478" h="39478" fill="none" extrusionOk="0">
                <a:moveTo>
                  <a:pt x="39477" y="19720"/>
                </a:moveTo>
                <a:lnTo>
                  <a:pt x="39477" y="19720"/>
                </a:lnTo>
                <a:lnTo>
                  <a:pt x="39438" y="20735"/>
                </a:lnTo>
                <a:lnTo>
                  <a:pt x="39360" y="21750"/>
                </a:lnTo>
                <a:lnTo>
                  <a:pt x="39243" y="22726"/>
                </a:lnTo>
                <a:lnTo>
                  <a:pt x="39087" y="23702"/>
                </a:lnTo>
                <a:lnTo>
                  <a:pt x="38853" y="24679"/>
                </a:lnTo>
                <a:lnTo>
                  <a:pt x="38579" y="25616"/>
                </a:lnTo>
                <a:lnTo>
                  <a:pt x="38267" y="26514"/>
                </a:lnTo>
                <a:lnTo>
                  <a:pt x="37915" y="27412"/>
                </a:lnTo>
                <a:lnTo>
                  <a:pt x="37525" y="28310"/>
                </a:lnTo>
                <a:lnTo>
                  <a:pt x="37095" y="29130"/>
                </a:lnTo>
                <a:lnTo>
                  <a:pt x="36627" y="29989"/>
                </a:lnTo>
                <a:lnTo>
                  <a:pt x="36119" y="30770"/>
                </a:lnTo>
                <a:lnTo>
                  <a:pt x="35573" y="31551"/>
                </a:lnTo>
                <a:lnTo>
                  <a:pt x="34987" y="32293"/>
                </a:lnTo>
                <a:lnTo>
                  <a:pt x="34362" y="32996"/>
                </a:lnTo>
                <a:lnTo>
                  <a:pt x="33698" y="33698"/>
                </a:lnTo>
                <a:lnTo>
                  <a:pt x="32995" y="34362"/>
                </a:lnTo>
                <a:lnTo>
                  <a:pt x="32293" y="34948"/>
                </a:lnTo>
                <a:lnTo>
                  <a:pt x="31551" y="35534"/>
                </a:lnTo>
                <a:lnTo>
                  <a:pt x="30770" y="36119"/>
                </a:lnTo>
                <a:lnTo>
                  <a:pt x="29989" y="36627"/>
                </a:lnTo>
                <a:lnTo>
                  <a:pt x="29130" y="37096"/>
                </a:lnTo>
                <a:lnTo>
                  <a:pt x="28310" y="37525"/>
                </a:lnTo>
                <a:lnTo>
                  <a:pt x="27412" y="37916"/>
                </a:lnTo>
                <a:lnTo>
                  <a:pt x="26514" y="38267"/>
                </a:lnTo>
                <a:lnTo>
                  <a:pt x="25615" y="38579"/>
                </a:lnTo>
                <a:lnTo>
                  <a:pt x="24678" y="38853"/>
                </a:lnTo>
                <a:lnTo>
                  <a:pt x="23702" y="39087"/>
                </a:lnTo>
                <a:lnTo>
                  <a:pt x="22765" y="39243"/>
                </a:lnTo>
                <a:lnTo>
                  <a:pt x="21750" y="39360"/>
                </a:lnTo>
                <a:lnTo>
                  <a:pt x="20774" y="39438"/>
                </a:lnTo>
                <a:lnTo>
                  <a:pt x="19758" y="39477"/>
                </a:lnTo>
                <a:lnTo>
                  <a:pt x="19758" y="39477"/>
                </a:lnTo>
                <a:lnTo>
                  <a:pt x="18743" y="39438"/>
                </a:lnTo>
                <a:lnTo>
                  <a:pt x="17728" y="39360"/>
                </a:lnTo>
                <a:lnTo>
                  <a:pt x="16752" y="39243"/>
                </a:lnTo>
                <a:lnTo>
                  <a:pt x="15776" y="39087"/>
                </a:lnTo>
                <a:lnTo>
                  <a:pt x="14799" y="38853"/>
                </a:lnTo>
                <a:lnTo>
                  <a:pt x="13862" y="38579"/>
                </a:lnTo>
                <a:lnTo>
                  <a:pt x="12964" y="38267"/>
                </a:lnTo>
                <a:lnTo>
                  <a:pt x="12066" y="37916"/>
                </a:lnTo>
                <a:lnTo>
                  <a:pt x="11168" y="37525"/>
                </a:lnTo>
                <a:lnTo>
                  <a:pt x="10348" y="37096"/>
                </a:lnTo>
                <a:lnTo>
                  <a:pt x="9489" y="36627"/>
                </a:lnTo>
                <a:lnTo>
                  <a:pt x="8708" y="36119"/>
                </a:lnTo>
                <a:lnTo>
                  <a:pt x="7927" y="35534"/>
                </a:lnTo>
                <a:lnTo>
                  <a:pt x="7185" y="34948"/>
                </a:lnTo>
                <a:lnTo>
                  <a:pt x="6482" y="34362"/>
                </a:lnTo>
                <a:lnTo>
                  <a:pt x="5779" y="33698"/>
                </a:lnTo>
                <a:lnTo>
                  <a:pt x="5116" y="32996"/>
                </a:lnTo>
                <a:lnTo>
                  <a:pt x="4530" y="32293"/>
                </a:lnTo>
                <a:lnTo>
                  <a:pt x="3905" y="31551"/>
                </a:lnTo>
                <a:lnTo>
                  <a:pt x="3358" y="30770"/>
                </a:lnTo>
                <a:lnTo>
                  <a:pt x="2851" y="29989"/>
                </a:lnTo>
                <a:lnTo>
                  <a:pt x="2382" y="29130"/>
                </a:lnTo>
                <a:lnTo>
                  <a:pt x="1953" y="28310"/>
                </a:lnTo>
                <a:lnTo>
                  <a:pt x="1562" y="27412"/>
                </a:lnTo>
                <a:lnTo>
                  <a:pt x="1211" y="26514"/>
                </a:lnTo>
                <a:lnTo>
                  <a:pt x="898" y="25616"/>
                </a:lnTo>
                <a:lnTo>
                  <a:pt x="625" y="24679"/>
                </a:lnTo>
                <a:lnTo>
                  <a:pt x="391" y="23702"/>
                </a:lnTo>
                <a:lnTo>
                  <a:pt x="235" y="22726"/>
                </a:lnTo>
                <a:lnTo>
                  <a:pt x="117" y="21750"/>
                </a:lnTo>
                <a:lnTo>
                  <a:pt x="39" y="20735"/>
                </a:lnTo>
                <a:lnTo>
                  <a:pt x="0" y="19720"/>
                </a:lnTo>
                <a:lnTo>
                  <a:pt x="0" y="19720"/>
                </a:lnTo>
                <a:lnTo>
                  <a:pt x="39" y="18704"/>
                </a:lnTo>
                <a:lnTo>
                  <a:pt x="117" y="17728"/>
                </a:lnTo>
                <a:lnTo>
                  <a:pt x="235" y="16713"/>
                </a:lnTo>
                <a:lnTo>
                  <a:pt x="391" y="15776"/>
                </a:lnTo>
                <a:lnTo>
                  <a:pt x="625" y="14800"/>
                </a:lnTo>
                <a:lnTo>
                  <a:pt x="898" y="13862"/>
                </a:lnTo>
                <a:lnTo>
                  <a:pt x="1211" y="12964"/>
                </a:lnTo>
                <a:lnTo>
                  <a:pt x="1562" y="12066"/>
                </a:lnTo>
                <a:lnTo>
                  <a:pt x="1953" y="11168"/>
                </a:lnTo>
                <a:lnTo>
                  <a:pt x="2382" y="10309"/>
                </a:lnTo>
                <a:lnTo>
                  <a:pt x="2851" y="9489"/>
                </a:lnTo>
                <a:lnTo>
                  <a:pt x="3358" y="8708"/>
                </a:lnTo>
                <a:lnTo>
                  <a:pt x="3905" y="7927"/>
                </a:lnTo>
                <a:lnTo>
                  <a:pt x="4530" y="7185"/>
                </a:lnTo>
                <a:lnTo>
                  <a:pt x="5116" y="6482"/>
                </a:lnTo>
                <a:lnTo>
                  <a:pt x="5779" y="5780"/>
                </a:lnTo>
                <a:lnTo>
                  <a:pt x="6482" y="5116"/>
                </a:lnTo>
                <a:lnTo>
                  <a:pt x="7185" y="4491"/>
                </a:lnTo>
                <a:lnTo>
                  <a:pt x="7927" y="3905"/>
                </a:lnTo>
                <a:lnTo>
                  <a:pt x="8708" y="3359"/>
                </a:lnTo>
                <a:lnTo>
                  <a:pt x="9489" y="2851"/>
                </a:lnTo>
                <a:lnTo>
                  <a:pt x="10348" y="2382"/>
                </a:lnTo>
                <a:lnTo>
                  <a:pt x="11168" y="1953"/>
                </a:lnTo>
                <a:lnTo>
                  <a:pt x="12066" y="1562"/>
                </a:lnTo>
                <a:lnTo>
                  <a:pt x="12964" y="1211"/>
                </a:lnTo>
                <a:lnTo>
                  <a:pt x="13862" y="899"/>
                </a:lnTo>
                <a:lnTo>
                  <a:pt x="14799" y="625"/>
                </a:lnTo>
                <a:lnTo>
                  <a:pt x="15776" y="391"/>
                </a:lnTo>
                <a:lnTo>
                  <a:pt x="16752" y="235"/>
                </a:lnTo>
                <a:lnTo>
                  <a:pt x="17728" y="118"/>
                </a:lnTo>
                <a:lnTo>
                  <a:pt x="18743" y="40"/>
                </a:lnTo>
                <a:lnTo>
                  <a:pt x="19758" y="1"/>
                </a:lnTo>
                <a:lnTo>
                  <a:pt x="19758" y="1"/>
                </a:lnTo>
                <a:lnTo>
                  <a:pt x="20774" y="40"/>
                </a:lnTo>
                <a:lnTo>
                  <a:pt x="21750" y="118"/>
                </a:lnTo>
                <a:lnTo>
                  <a:pt x="22765" y="235"/>
                </a:lnTo>
                <a:lnTo>
                  <a:pt x="23702" y="391"/>
                </a:lnTo>
                <a:lnTo>
                  <a:pt x="24678" y="625"/>
                </a:lnTo>
                <a:lnTo>
                  <a:pt x="25615" y="899"/>
                </a:lnTo>
                <a:lnTo>
                  <a:pt x="26514" y="1211"/>
                </a:lnTo>
                <a:lnTo>
                  <a:pt x="27412" y="1562"/>
                </a:lnTo>
                <a:lnTo>
                  <a:pt x="28310" y="1953"/>
                </a:lnTo>
                <a:lnTo>
                  <a:pt x="29130" y="2382"/>
                </a:lnTo>
                <a:lnTo>
                  <a:pt x="29989" y="2851"/>
                </a:lnTo>
                <a:lnTo>
                  <a:pt x="30770" y="3359"/>
                </a:lnTo>
                <a:lnTo>
                  <a:pt x="31551" y="3905"/>
                </a:lnTo>
                <a:lnTo>
                  <a:pt x="32293" y="4491"/>
                </a:lnTo>
                <a:lnTo>
                  <a:pt x="32995" y="5116"/>
                </a:lnTo>
                <a:lnTo>
                  <a:pt x="33698" y="5780"/>
                </a:lnTo>
                <a:lnTo>
                  <a:pt x="34362" y="6482"/>
                </a:lnTo>
                <a:lnTo>
                  <a:pt x="34987" y="7185"/>
                </a:lnTo>
                <a:lnTo>
                  <a:pt x="35573" y="7927"/>
                </a:lnTo>
                <a:lnTo>
                  <a:pt x="36119" y="8708"/>
                </a:lnTo>
                <a:lnTo>
                  <a:pt x="36627" y="9489"/>
                </a:lnTo>
                <a:lnTo>
                  <a:pt x="37095" y="10309"/>
                </a:lnTo>
                <a:lnTo>
                  <a:pt x="37525" y="11168"/>
                </a:lnTo>
                <a:lnTo>
                  <a:pt x="37915" y="12066"/>
                </a:lnTo>
                <a:lnTo>
                  <a:pt x="38267" y="12964"/>
                </a:lnTo>
                <a:lnTo>
                  <a:pt x="38579" y="13862"/>
                </a:lnTo>
                <a:lnTo>
                  <a:pt x="38853" y="14800"/>
                </a:lnTo>
                <a:lnTo>
                  <a:pt x="39087" y="15776"/>
                </a:lnTo>
                <a:lnTo>
                  <a:pt x="39243" y="16713"/>
                </a:lnTo>
                <a:lnTo>
                  <a:pt x="39360" y="17728"/>
                </a:lnTo>
                <a:lnTo>
                  <a:pt x="39438" y="18704"/>
                </a:lnTo>
                <a:lnTo>
                  <a:pt x="39477" y="19720"/>
                </a:lnTo>
                <a:lnTo>
                  <a:pt x="39477" y="19720"/>
                </a:lnTo>
                <a:close/>
              </a:path>
            </a:pathLst>
          </a:custGeom>
          <a:noFill/>
          <a:ln w="234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5"/>
          <p:cNvSpPr/>
          <p:nvPr/>
        </p:nvSpPr>
        <p:spPr>
          <a:xfrm flipH="1">
            <a:off x="8148019" y="-395873"/>
            <a:ext cx="1785851" cy="1785884"/>
          </a:xfrm>
          <a:custGeom>
            <a:avLst/>
            <a:gdLst/>
            <a:ahLst/>
            <a:cxnLst/>
            <a:rect l="l" t="t" r="r" b="b"/>
            <a:pathLst>
              <a:path w="53730" h="53731" fill="none" extrusionOk="0">
                <a:moveTo>
                  <a:pt x="53730" y="26865"/>
                </a:moveTo>
                <a:lnTo>
                  <a:pt x="53730" y="26865"/>
                </a:lnTo>
                <a:lnTo>
                  <a:pt x="53691" y="28232"/>
                </a:lnTo>
                <a:lnTo>
                  <a:pt x="53613" y="29599"/>
                </a:lnTo>
                <a:lnTo>
                  <a:pt x="53418" y="30965"/>
                </a:lnTo>
                <a:lnTo>
                  <a:pt x="53183" y="32293"/>
                </a:lnTo>
                <a:lnTo>
                  <a:pt x="52910" y="33582"/>
                </a:lnTo>
                <a:lnTo>
                  <a:pt x="52520" y="34870"/>
                </a:lnTo>
                <a:lnTo>
                  <a:pt x="52129" y="36120"/>
                </a:lnTo>
                <a:lnTo>
                  <a:pt x="51621" y="37330"/>
                </a:lnTo>
                <a:lnTo>
                  <a:pt x="51075" y="38502"/>
                </a:lnTo>
                <a:lnTo>
                  <a:pt x="50489" y="39673"/>
                </a:lnTo>
                <a:lnTo>
                  <a:pt x="49864" y="40805"/>
                </a:lnTo>
                <a:lnTo>
                  <a:pt x="49161" y="41899"/>
                </a:lnTo>
                <a:lnTo>
                  <a:pt x="48420" y="42953"/>
                </a:lnTo>
                <a:lnTo>
                  <a:pt x="47600" y="43968"/>
                </a:lnTo>
                <a:lnTo>
                  <a:pt x="46780" y="44944"/>
                </a:lnTo>
                <a:lnTo>
                  <a:pt x="45881" y="45882"/>
                </a:lnTo>
                <a:lnTo>
                  <a:pt x="44944" y="46741"/>
                </a:lnTo>
                <a:lnTo>
                  <a:pt x="43968" y="47600"/>
                </a:lnTo>
                <a:lnTo>
                  <a:pt x="42953" y="48381"/>
                </a:lnTo>
                <a:lnTo>
                  <a:pt x="41899" y="49161"/>
                </a:lnTo>
                <a:lnTo>
                  <a:pt x="40805" y="49825"/>
                </a:lnTo>
                <a:lnTo>
                  <a:pt x="39673" y="50489"/>
                </a:lnTo>
                <a:lnTo>
                  <a:pt x="38501" y="51075"/>
                </a:lnTo>
                <a:lnTo>
                  <a:pt x="37330" y="51621"/>
                </a:lnTo>
                <a:lnTo>
                  <a:pt x="36120" y="52090"/>
                </a:lnTo>
                <a:lnTo>
                  <a:pt x="34870" y="52520"/>
                </a:lnTo>
                <a:lnTo>
                  <a:pt x="33581" y="52871"/>
                </a:lnTo>
                <a:lnTo>
                  <a:pt x="32293" y="53183"/>
                </a:lnTo>
                <a:lnTo>
                  <a:pt x="30965" y="53418"/>
                </a:lnTo>
                <a:lnTo>
                  <a:pt x="29638" y="53613"/>
                </a:lnTo>
                <a:lnTo>
                  <a:pt x="28271" y="53691"/>
                </a:lnTo>
                <a:lnTo>
                  <a:pt x="26865" y="53730"/>
                </a:lnTo>
                <a:lnTo>
                  <a:pt x="26865" y="53730"/>
                </a:lnTo>
                <a:lnTo>
                  <a:pt x="25499" y="53691"/>
                </a:lnTo>
                <a:lnTo>
                  <a:pt x="24132" y="53613"/>
                </a:lnTo>
                <a:lnTo>
                  <a:pt x="22765" y="53418"/>
                </a:lnTo>
                <a:lnTo>
                  <a:pt x="21477" y="53183"/>
                </a:lnTo>
                <a:lnTo>
                  <a:pt x="20149" y="52871"/>
                </a:lnTo>
                <a:lnTo>
                  <a:pt x="18900" y="52520"/>
                </a:lnTo>
                <a:lnTo>
                  <a:pt x="17650" y="52090"/>
                </a:lnTo>
                <a:lnTo>
                  <a:pt x="16401" y="51621"/>
                </a:lnTo>
                <a:lnTo>
                  <a:pt x="15229" y="51075"/>
                </a:lnTo>
                <a:lnTo>
                  <a:pt x="14058" y="50489"/>
                </a:lnTo>
                <a:lnTo>
                  <a:pt x="12925" y="49825"/>
                </a:lnTo>
                <a:lnTo>
                  <a:pt x="11832" y="49161"/>
                </a:lnTo>
                <a:lnTo>
                  <a:pt x="10778" y="48381"/>
                </a:lnTo>
                <a:lnTo>
                  <a:pt x="9762" y="47600"/>
                </a:lnTo>
                <a:lnTo>
                  <a:pt x="8825" y="46741"/>
                </a:lnTo>
                <a:lnTo>
                  <a:pt x="7888" y="45882"/>
                </a:lnTo>
                <a:lnTo>
                  <a:pt x="6990" y="44944"/>
                </a:lnTo>
                <a:lnTo>
                  <a:pt x="6131" y="43968"/>
                </a:lnTo>
                <a:lnTo>
                  <a:pt x="5350" y="42953"/>
                </a:lnTo>
                <a:lnTo>
                  <a:pt x="4608" y="41899"/>
                </a:lnTo>
                <a:lnTo>
                  <a:pt x="3905" y="40805"/>
                </a:lnTo>
                <a:lnTo>
                  <a:pt x="3242" y="39673"/>
                </a:lnTo>
                <a:lnTo>
                  <a:pt x="2656" y="38502"/>
                </a:lnTo>
                <a:lnTo>
                  <a:pt x="2109" y="37330"/>
                </a:lnTo>
                <a:lnTo>
                  <a:pt x="1641" y="36120"/>
                </a:lnTo>
                <a:lnTo>
                  <a:pt x="1211" y="34870"/>
                </a:lnTo>
                <a:lnTo>
                  <a:pt x="860" y="33582"/>
                </a:lnTo>
                <a:lnTo>
                  <a:pt x="547" y="32293"/>
                </a:lnTo>
                <a:lnTo>
                  <a:pt x="313" y="30965"/>
                </a:lnTo>
                <a:lnTo>
                  <a:pt x="157" y="29599"/>
                </a:lnTo>
                <a:lnTo>
                  <a:pt x="40" y="28232"/>
                </a:lnTo>
                <a:lnTo>
                  <a:pt x="1" y="26865"/>
                </a:lnTo>
                <a:lnTo>
                  <a:pt x="1" y="26865"/>
                </a:lnTo>
                <a:lnTo>
                  <a:pt x="40" y="25499"/>
                </a:lnTo>
                <a:lnTo>
                  <a:pt x="157" y="24132"/>
                </a:lnTo>
                <a:lnTo>
                  <a:pt x="313" y="22765"/>
                </a:lnTo>
                <a:lnTo>
                  <a:pt x="547" y="21438"/>
                </a:lnTo>
                <a:lnTo>
                  <a:pt x="860" y="20149"/>
                </a:lnTo>
                <a:lnTo>
                  <a:pt x="1211" y="18861"/>
                </a:lnTo>
                <a:lnTo>
                  <a:pt x="1641" y="17611"/>
                </a:lnTo>
                <a:lnTo>
                  <a:pt x="2109" y="16401"/>
                </a:lnTo>
                <a:lnTo>
                  <a:pt x="2656" y="15229"/>
                </a:lnTo>
                <a:lnTo>
                  <a:pt x="3242" y="14058"/>
                </a:lnTo>
                <a:lnTo>
                  <a:pt x="3905" y="12926"/>
                </a:lnTo>
                <a:lnTo>
                  <a:pt x="4608" y="11832"/>
                </a:lnTo>
                <a:lnTo>
                  <a:pt x="5350" y="10778"/>
                </a:lnTo>
                <a:lnTo>
                  <a:pt x="6131" y="9763"/>
                </a:lnTo>
                <a:lnTo>
                  <a:pt x="6990" y="8786"/>
                </a:lnTo>
                <a:lnTo>
                  <a:pt x="7888" y="7849"/>
                </a:lnTo>
                <a:lnTo>
                  <a:pt x="8825" y="6990"/>
                </a:lnTo>
                <a:lnTo>
                  <a:pt x="9762" y="6131"/>
                </a:lnTo>
                <a:lnTo>
                  <a:pt x="10778" y="5350"/>
                </a:lnTo>
                <a:lnTo>
                  <a:pt x="11832" y="4569"/>
                </a:lnTo>
                <a:lnTo>
                  <a:pt x="12925" y="3906"/>
                </a:lnTo>
                <a:lnTo>
                  <a:pt x="14058" y="3242"/>
                </a:lnTo>
                <a:lnTo>
                  <a:pt x="15229" y="2656"/>
                </a:lnTo>
                <a:lnTo>
                  <a:pt x="16401" y="2109"/>
                </a:lnTo>
                <a:lnTo>
                  <a:pt x="17650" y="1641"/>
                </a:lnTo>
                <a:lnTo>
                  <a:pt x="18900" y="1211"/>
                </a:lnTo>
                <a:lnTo>
                  <a:pt x="20149" y="860"/>
                </a:lnTo>
                <a:lnTo>
                  <a:pt x="21477" y="547"/>
                </a:lnTo>
                <a:lnTo>
                  <a:pt x="22765" y="313"/>
                </a:lnTo>
                <a:lnTo>
                  <a:pt x="24132" y="118"/>
                </a:lnTo>
                <a:lnTo>
                  <a:pt x="25499" y="40"/>
                </a:lnTo>
                <a:lnTo>
                  <a:pt x="26865" y="1"/>
                </a:lnTo>
                <a:lnTo>
                  <a:pt x="26865" y="1"/>
                </a:lnTo>
                <a:lnTo>
                  <a:pt x="28271" y="40"/>
                </a:lnTo>
                <a:lnTo>
                  <a:pt x="29638" y="118"/>
                </a:lnTo>
                <a:lnTo>
                  <a:pt x="30965" y="313"/>
                </a:lnTo>
                <a:lnTo>
                  <a:pt x="32293" y="547"/>
                </a:lnTo>
                <a:lnTo>
                  <a:pt x="33581" y="860"/>
                </a:lnTo>
                <a:lnTo>
                  <a:pt x="34870" y="1211"/>
                </a:lnTo>
                <a:lnTo>
                  <a:pt x="36120" y="1641"/>
                </a:lnTo>
                <a:lnTo>
                  <a:pt x="37330" y="2109"/>
                </a:lnTo>
                <a:lnTo>
                  <a:pt x="38501" y="2656"/>
                </a:lnTo>
                <a:lnTo>
                  <a:pt x="39673" y="3242"/>
                </a:lnTo>
                <a:lnTo>
                  <a:pt x="40805" y="3906"/>
                </a:lnTo>
                <a:lnTo>
                  <a:pt x="41899" y="4569"/>
                </a:lnTo>
                <a:lnTo>
                  <a:pt x="42953" y="5350"/>
                </a:lnTo>
                <a:lnTo>
                  <a:pt x="43968" y="6131"/>
                </a:lnTo>
                <a:lnTo>
                  <a:pt x="44944" y="6990"/>
                </a:lnTo>
                <a:lnTo>
                  <a:pt x="45881" y="7849"/>
                </a:lnTo>
                <a:lnTo>
                  <a:pt x="46780" y="8786"/>
                </a:lnTo>
                <a:lnTo>
                  <a:pt x="47600" y="9763"/>
                </a:lnTo>
                <a:lnTo>
                  <a:pt x="48420" y="10778"/>
                </a:lnTo>
                <a:lnTo>
                  <a:pt x="49161" y="11832"/>
                </a:lnTo>
                <a:lnTo>
                  <a:pt x="49864" y="12926"/>
                </a:lnTo>
                <a:lnTo>
                  <a:pt x="50489" y="14058"/>
                </a:lnTo>
                <a:lnTo>
                  <a:pt x="51075" y="15229"/>
                </a:lnTo>
                <a:lnTo>
                  <a:pt x="51621" y="16401"/>
                </a:lnTo>
                <a:lnTo>
                  <a:pt x="52129" y="17611"/>
                </a:lnTo>
                <a:lnTo>
                  <a:pt x="52520" y="18861"/>
                </a:lnTo>
                <a:lnTo>
                  <a:pt x="52910" y="20149"/>
                </a:lnTo>
                <a:lnTo>
                  <a:pt x="53183" y="21438"/>
                </a:lnTo>
                <a:lnTo>
                  <a:pt x="53418" y="22765"/>
                </a:lnTo>
                <a:lnTo>
                  <a:pt x="53613" y="24132"/>
                </a:lnTo>
                <a:lnTo>
                  <a:pt x="53691" y="25499"/>
                </a:lnTo>
                <a:lnTo>
                  <a:pt x="53730" y="26865"/>
                </a:lnTo>
                <a:lnTo>
                  <a:pt x="53730" y="26865"/>
                </a:lnTo>
                <a:close/>
              </a:path>
            </a:pathLst>
          </a:custGeom>
          <a:noFill/>
          <a:ln w="23425" cap="rnd" cmpd="sng">
            <a:solidFill>
              <a:srgbClr val="FF31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5"/>
          <p:cNvSpPr/>
          <p:nvPr/>
        </p:nvSpPr>
        <p:spPr>
          <a:xfrm flipH="1">
            <a:off x="7851617" y="623875"/>
            <a:ext cx="786451" cy="787280"/>
          </a:xfrm>
          <a:custGeom>
            <a:avLst/>
            <a:gdLst/>
            <a:ahLst/>
            <a:cxnLst/>
            <a:rect l="l" t="t" r="r" b="b"/>
            <a:pathLst>
              <a:path w="36979" h="37018" extrusionOk="0">
                <a:moveTo>
                  <a:pt x="18509" y="1"/>
                </a:moveTo>
                <a:lnTo>
                  <a:pt x="17533" y="40"/>
                </a:lnTo>
                <a:lnTo>
                  <a:pt x="16595" y="118"/>
                </a:lnTo>
                <a:lnTo>
                  <a:pt x="15697" y="235"/>
                </a:lnTo>
                <a:lnTo>
                  <a:pt x="14760" y="391"/>
                </a:lnTo>
                <a:lnTo>
                  <a:pt x="13862" y="586"/>
                </a:lnTo>
                <a:lnTo>
                  <a:pt x="13003" y="860"/>
                </a:lnTo>
                <a:lnTo>
                  <a:pt x="12144" y="1133"/>
                </a:lnTo>
                <a:lnTo>
                  <a:pt x="11285" y="1484"/>
                </a:lnTo>
                <a:lnTo>
                  <a:pt x="10465" y="1836"/>
                </a:lnTo>
                <a:lnTo>
                  <a:pt x="9684" y="2265"/>
                </a:lnTo>
                <a:lnTo>
                  <a:pt x="8903" y="2695"/>
                </a:lnTo>
                <a:lnTo>
                  <a:pt x="8161" y="3163"/>
                </a:lnTo>
                <a:lnTo>
                  <a:pt x="7419" y="3671"/>
                </a:lnTo>
                <a:lnTo>
                  <a:pt x="6755" y="4257"/>
                </a:lnTo>
                <a:lnTo>
                  <a:pt x="6053" y="4803"/>
                </a:lnTo>
                <a:lnTo>
                  <a:pt x="5428" y="5428"/>
                </a:lnTo>
                <a:lnTo>
                  <a:pt x="4803" y="6092"/>
                </a:lnTo>
                <a:lnTo>
                  <a:pt x="4217" y="6756"/>
                </a:lnTo>
                <a:lnTo>
                  <a:pt x="3671" y="7459"/>
                </a:lnTo>
                <a:lnTo>
                  <a:pt x="3163" y="8162"/>
                </a:lnTo>
                <a:lnTo>
                  <a:pt x="2695" y="8903"/>
                </a:lnTo>
                <a:lnTo>
                  <a:pt x="2226" y="9684"/>
                </a:lnTo>
                <a:lnTo>
                  <a:pt x="1836" y="10504"/>
                </a:lnTo>
                <a:lnTo>
                  <a:pt x="1445" y="11324"/>
                </a:lnTo>
                <a:lnTo>
                  <a:pt x="1133" y="12144"/>
                </a:lnTo>
                <a:lnTo>
                  <a:pt x="820" y="13003"/>
                </a:lnTo>
                <a:lnTo>
                  <a:pt x="586" y="13901"/>
                </a:lnTo>
                <a:lnTo>
                  <a:pt x="391" y="14800"/>
                </a:lnTo>
                <a:lnTo>
                  <a:pt x="235" y="15698"/>
                </a:lnTo>
                <a:lnTo>
                  <a:pt x="117" y="16635"/>
                </a:lnTo>
                <a:lnTo>
                  <a:pt x="39" y="17572"/>
                </a:lnTo>
                <a:lnTo>
                  <a:pt x="0" y="18509"/>
                </a:lnTo>
                <a:lnTo>
                  <a:pt x="39" y="19446"/>
                </a:lnTo>
                <a:lnTo>
                  <a:pt x="117" y="20383"/>
                </a:lnTo>
                <a:lnTo>
                  <a:pt x="235" y="21320"/>
                </a:lnTo>
                <a:lnTo>
                  <a:pt x="391" y="22219"/>
                </a:lnTo>
                <a:lnTo>
                  <a:pt x="586" y="23117"/>
                </a:lnTo>
                <a:lnTo>
                  <a:pt x="820" y="24015"/>
                </a:lnTo>
                <a:lnTo>
                  <a:pt x="1133" y="24874"/>
                </a:lnTo>
                <a:lnTo>
                  <a:pt x="1445" y="25694"/>
                </a:lnTo>
                <a:lnTo>
                  <a:pt x="1836" y="26514"/>
                </a:lnTo>
                <a:lnTo>
                  <a:pt x="2226" y="27334"/>
                </a:lnTo>
                <a:lnTo>
                  <a:pt x="2695" y="28115"/>
                </a:lnTo>
                <a:lnTo>
                  <a:pt x="3163" y="28857"/>
                </a:lnTo>
                <a:lnTo>
                  <a:pt x="3671" y="29559"/>
                </a:lnTo>
                <a:lnTo>
                  <a:pt x="4217" y="30262"/>
                </a:lnTo>
                <a:lnTo>
                  <a:pt x="4803" y="30926"/>
                </a:lnTo>
                <a:lnTo>
                  <a:pt x="5428" y="31590"/>
                </a:lnTo>
                <a:lnTo>
                  <a:pt x="6053" y="32215"/>
                </a:lnTo>
                <a:lnTo>
                  <a:pt x="6755" y="32761"/>
                </a:lnTo>
                <a:lnTo>
                  <a:pt x="7419" y="33347"/>
                </a:lnTo>
                <a:lnTo>
                  <a:pt x="8161" y="33855"/>
                </a:lnTo>
                <a:lnTo>
                  <a:pt x="8903" y="34323"/>
                </a:lnTo>
                <a:lnTo>
                  <a:pt x="9684" y="34753"/>
                </a:lnTo>
                <a:lnTo>
                  <a:pt x="10465" y="35182"/>
                </a:lnTo>
                <a:lnTo>
                  <a:pt x="11285" y="35534"/>
                </a:lnTo>
                <a:lnTo>
                  <a:pt x="12144" y="35885"/>
                </a:lnTo>
                <a:lnTo>
                  <a:pt x="13003" y="36158"/>
                </a:lnTo>
                <a:lnTo>
                  <a:pt x="13862" y="36432"/>
                </a:lnTo>
                <a:lnTo>
                  <a:pt x="14760" y="36627"/>
                </a:lnTo>
                <a:lnTo>
                  <a:pt x="15697" y="36783"/>
                </a:lnTo>
                <a:lnTo>
                  <a:pt x="16595" y="36900"/>
                </a:lnTo>
                <a:lnTo>
                  <a:pt x="17533" y="36978"/>
                </a:lnTo>
                <a:lnTo>
                  <a:pt x="18509" y="37018"/>
                </a:lnTo>
                <a:lnTo>
                  <a:pt x="19446" y="36978"/>
                </a:lnTo>
                <a:lnTo>
                  <a:pt x="20383" y="36900"/>
                </a:lnTo>
                <a:lnTo>
                  <a:pt x="21320" y="36783"/>
                </a:lnTo>
                <a:lnTo>
                  <a:pt x="22218" y="36627"/>
                </a:lnTo>
                <a:lnTo>
                  <a:pt x="23116" y="36432"/>
                </a:lnTo>
                <a:lnTo>
                  <a:pt x="24015" y="36158"/>
                </a:lnTo>
                <a:lnTo>
                  <a:pt x="24874" y="35885"/>
                </a:lnTo>
                <a:lnTo>
                  <a:pt x="25694" y="35534"/>
                </a:lnTo>
                <a:lnTo>
                  <a:pt x="26514" y="35182"/>
                </a:lnTo>
                <a:lnTo>
                  <a:pt x="27334" y="34753"/>
                </a:lnTo>
                <a:lnTo>
                  <a:pt x="28075" y="34323"/>
                </a:lnTo>
                <a:lnTo>
                  <a:pt x="28856" y="33855"/>
                </a:lnTo>
                <a:lnTo>
                  <a:pt x="29559" y="33347"/>
                </a:lnTo>
                <a:lnTo>
                  <a:pt x="30262" y="32761"/>
                </a:lnTo>
                <a:lnTo>
                  <a:pt x="30926" y="32215"/>
                </a:lnTo>
                <a:lnTo>
                  <a:pt x="31590" y="31590"/>
                </a:lnTo>
                <a:lnTo>
                  <a:pt x="32175" y="30926"/>
                </a:lnTo>
                <a:lnTo>
                  <a:pt x="32761" y="30262"/>
                </a:lnTo>
                <a:lnTo>
                  <a:pt x="33308" y="29559"/>
                </a:lnTo>
                <a:lnTo>
                  <a:pt x="33855" y="28857"/>
                </a:lnTo>
                <a:lnTo>
                  <a:pt x="34323" y="28115"/>
                </a:lnTo>
                <a:lnTo>
                  <a:pt x="34753" y="27334"/>
                </a:lnTo>
                <a:lnTo>
                  <a:pt x="35182" y="26514"/>
                </a:lnTo>
                <a:lnTo>
                  <a:pt x="35534" y="25694"/>
                </a:lnTo>
                <a:lnTo>
                  <a:pt x="35885" y="24874"/>
                </a:lnTo>
                <a:lnTo>
                  <a:pt x="36158" y="24015"/>
                </a:lnTo>
                <a:lnTo>
                  <a:pt x="36432" y="23117"/>
                </a:lnTo>
                <a:lnTo>
                  <a:pt x="36627" y="22219"/>
                </a:lnTo>
                <a:lnTo>
                  <a:pt x="36783" y="21320"/>
                </a:lnTo>
                <a:lnTo>
                  <a:pt x="36900" y="20383"/>
                </a:lnTo>
                <a:lnTo>
                  <a:pt x="36978" y="19446"/>
                </a:lnTo>
                <a:lnTo>
                  <a:pt x="36978" y="18509"/>
                </a:lnTo>
                <a:lnTo>
                  <a:pt x="36978" y="17572"/>
                </a:lnTo>
                <a:lnTo>
                  <a:pt x="36900" y="16635"/>
                </a:lnTo>
                <a:lnTo>
                  <a:pt x="36783" y="15698"/>
                </a:lnTo>
                <a:lnTo>
                  <a:pt x="36627" y="14800"/>
                </a:lnTo>
                <a:lnTo>
                  <a:pt x="36432" y="13901"/>
                </a:lnTo>
                <a:lnTo>
                  <a:pt x="36158" y="13003"/>
                </a:lnTo>
                <a:lnTo>
                  <a:pt x="35885" y="12144"/>
                </a:lnTo>
                <a:lnTo>
                  <a:pt x="35534" y="11324"/>
                </a:lnTo>
                <a:lnTo>
                  <a:pt x="35182" y="10504"/>
                </a:lnTo>
                <a:lnTo>
                  <a:pt x="34753" y="9684"/>
                </a:lnTo>
                <a:lnTo>
                  <a:pt x="34323" y="8903"/>
                </a:lnTo>
                <a:lnTo>
                  <a:pt x="33855" y="8162"/>
                </a:lnTo>
                <a:lnTo>
                  <a:pt x="33308" y="7459"/>
                </a:lnTo>
                <a:lnTo>
                  <a:pt x="32761" y="6756"/>
                </a:lnTo>
                <a:lnTo>
                  <a:pt x="32175" y="6092"/>
                </a:lnTo>
                <a:lnTo>
                  <a:pt x="31590" y="5428"/>
                </a:lnTo>
                <a:lnTo>
                  <a:pt x="30926" y="4803"/>
                </a:lnTo>
                <a:lnTo>
                  <a:pt x="30262" y="4257"/>
                </a:lnTo>
                <a:lnTo>
                  <a:pt x="29559" y="3671"/>
                </a:lnTo>
                <a:lnTo>
                  <a:pt x="28856" y="3163"/>
                </a:lnTo>
                <a:lnTo>
                  <a:pt x="28075" y="2695"/>
                </a:lnTo>
                <a:lnTo>
                  <a:pt x="27334" y="2265"/>
                </a:lnTo>
                <a:lnTo>
                  <a:pt x="26514" y="1836"/>
                </a:lnTo>
                <a:lnTo>
                  <a:pt x="25694" y="1484"/>
                </a:lnTo>
                <a:lnTo>
                  <a:pt x="24874" y="1133"/>
                </a:lnTo>
                <a:lnTo>
                  <a:pt x="24015" y="860"/>
                </a:lnTo>
                <a:lnTo>
                  <a:pt x="23116" y="586"/>
                </a:lnTo>
                <a:lnTo>
                  <a:pt x="22218" y="391"/>
                </a:lnTo>
                <a:lnTo>
                  <a:pt x="21320" y="235"/>
                </a:lnTo>
                <a:lnTo>
                  <a:pt x="20383" y="118"/>
                </a:lnTo>
                <a:lnTo>
                  <a:pt x="19446" y="40"/>
                </a:lnTo>
                <a:lnTo>
                  <a:pt x="18509" y="1"/>
                </a:lnTo>
                <a:close/>
              </a:path>
            </a:pathLst>
          </a:custGeom>
          <a:solidFill>
            <a:srgbClr val="FFB4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3" name="Google Shape;693;p15"/>
          <p:cNvGrpSpPr/>
          <p:nvPr/>
        </p:nvGrpSpPr>
        <p:grpSpPr>
          <a:xfrm>
            <a:off x="-642305" y="394664"/>
            <a:ext cx="1051274" cy="787312"/>
            <a:chOff x="3585475" y="1537675"/>
            <a:chExt cx="649175" cy="486175"/>
          </a:xfrm>
        </p:grpSpPr>
        <p:sp>
          <p:nvSpPr>
            <p:cNvPr id="694" name="Google Shape;694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14" name="Google Shape;714;p15"/>
          <p:cNvGrpSpPr/>
          <p:nvPr/>
        </p:nvGrpSpPr>
        <p:grpSpPr>
          <a:xfrm>
            <a:off x="7599532" y="4730176"/>
            <a:ext cx="1051274" cy="787312"/>
            <a:chOff x="3585475" y="1537675"/>
            <a:chExt cx="649175" cy="486175"/>
          </a:xfrm>
        </p:grpSpPr>
        <p:sp>
          <p:nvSpPr>
            <p:cNvPr id="715" name="Google Shape;715;p15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15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15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Google Shape;718;p15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Google Shape;719;p15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Google Shape;720;p15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Google Shape;721;p15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15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15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15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15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15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15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15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15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15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15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15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15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15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727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Karla Regular"/>
              <a:buNone/>
              <a:defRPr sz="3400">
                <a:solidFill>
                  <a:schemeClr val="dk1"/>
                </a:solidFill>
                <a:latin typeface="Karla Regular"/>
                <a:ea typeface="Karla Regular"/>
                <a:cs typeface="Karla Regular"/>
                <a:sym typeface="Karla Regula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8" r:id="rId3"/>
    <p:sldLayoutId id="2147483673" r:id="rId4"/>
    <p:sldLayoutId id="2147483681" r:id="rId5"/>
    <p:sldLayoutId id="2147483682" r:id="rId6"/>
    <p:sldLayoutId id="2147483683" r:id="rId7"/>
    <p:sldLayoutId id="2147483686" r:id="rId8"/>
    <p:sldLayoutId id="2147483688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6.png"/><Relationship Id="rId5" Type="http://schemas.openxmlformats.org/officeDocument/2006/relationships/image" Target="../media/image610.png"/><Relationship Id="rId4" Type="http://schemas.openxmlformats.org/officeDocument/2006/relationships/image" Target="../media/image5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openxmlformats.org/officeDocument/2006/relationships/image" Target="../media/image14.png"/><Relationship Id="rId3" Type="http://schemas.openxmlformats.org/officeDocument/2006/relationships/image" Target="../media/image410.png"/><Relationship Id="rId7" Type="http://schemas.openxmlformats.org/officeDocument/2006/relationships/image" Target="../media/image11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6.png"/><Relationship Id="rId11" Type="http://schemas.openxmlformats.org/officeDocument/2006/relationships/image" Target="../media/image12.png"/><Relationship Id="rId5" Type="http://schemas.openxmlformats.org/officeDocument/2006/relationships/image" Target="../media/image610.png"/><Relationship Id="rId15" Type="http://schemas.openxmlformats.org/officeDocument/2006/relationships/image" Target="../media/image16.png"/><Relationship Id="rId10" Type="http://schemas.openxmlformats.org/officeDocument/2006/relationships/image" Target="../media/image111.png"/><Relationship Id="rId4" Type="http://schemas.openxmlformats.org/officeDocument/2006/relationships/image" Target="../media/image510.png"/><Relationship Id="rId9" Type="http://schemas.openxmlformats.org/officeDocument/2006/relationships/image" Target="../media/image100.pn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10.png"/><Relationship Id="rId11" Type="http://schemas.openxmlformats.org/officeDocument/2006/relationships/image" Target="../media/image21.png"/><Relationship Id="rId5" Type="http://schemas.openxmlformats.org/officeDocument/2006/relationships/image" Target="../media/image510.png"/><Relationship Id="rId10" Type="http://schemas.openxmlformats.org/officeDocument/2006/relationships/image" Target="../media/image20.png"/><Relationship Id="rId4" Type="http://schemas.openxmlformats.org/officeDocument/2006/relationships/image" Target="../media/image410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6.png"/><Relationship Id="rId3" Type="http://schemas.openxmlformats.org/officeDocument/2006/relationships/image" Target="../media/image23.png"/><Relationship Id="rId7" Type="http://schemas.openxmlformats.org/officeDocument/2006/relationships/image" Target="../media/image29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11" Type="http://schemas.openxmlformats.org/officeDocument/2006/relationships/image" Target="../media/image34.png"/><Relationship Id="rId5" Type="http://schemas.openxmlformats.org/officeDocument/2006/relationships/image" Target="../media/image31.png"/><Relationship Id="rId15" Type="http://schemas.openxmlformats.org/officeDocument/2006/relationships/image" Target="../media/image22.png"/><Relationship Id="rId10" Type="http://schemas.openxmlformats.org/officeDocument/2006/relationships/image" Target="../media/image33.png"/><Relationship Id="rId4" Type="http://schemas.openxmlformats.org/officeDocument/2006/relationships/image" Target="../media/image24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1.png"/><Relationship Id="rId5" Type="http://schemas.openxmlformats.org/officeDocument/2006/relationships/image" Target="../media/image380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0.png"/><Relationship Id="rId5" Type="http://schemas.openxmlformats.org/officeDocument/2006/relationships/image" Target="../media/image49.png"/><Relationship Id="rId4" Type="http://schemas.openxmlformats.org/officeDocument/2006/relationships/image" Target="../media/image4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1.png"/><Relationship Id="rId4" Type="http://schemas.openxmlformats.org/officeDocument/2006/relationships/image" Target="../media/image6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13" Type="http://schemas.openxmlformats.org/officeDocument/2006/relationships/image" Target="../media/image75.png"/><Relationship Id="rId3" Type="http://schemas.openxmlformats.org/officeDocument/2006/relationships/image" Target="../media/image66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11" Type="http://schemas.openxmlformats.org/officeDocument/2006/relationships/image" Target="../media/image73.png"/><Relationship Id="rId5" Type="http://schemas.openxmlformats.org/officeDocument/2006/relationships/image" Target="../media/image68.png"/><Relationship Id="rId10" Type="http://schemas.openxmlformats.org/officeDocument/2006/relationships/image" Target="../media/image72.png"/><Relationship Id="rId4" Type="http://schemas.openxmlformats.org/officeDocument/2006/relationships/image" Target="../media/image67.png"/><Relationship Id="rId9" Type="http://schemas.openxmlformats.org/officeDocument/2006/relationships/image" Target="../media/image7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Recap</a:t>
            </a:r>
            <a:endParaRPr dirty="0"/>
          </a:p>
        </p:txBody>
      </p:sp>
      <p:sp>
        <p:nvSpPr>
          <p:cNvPr id="2239" name="Google Shape;2239;p41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 smtClean="0"/>
              <a:t>Configurations</a:t>
            </a:r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 smtClean="0"/>
              <a:t>Computing an output</a:t>
            </a:r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 smtClean="0"/>
              <a:t>Accepting/Rejecting an input</a:t>
            </a:r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 smtClean="0"/>
              <a:t>Computing a problem</a:t>
            </a:r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 smtClean="0"/>
              <a:t>Deciding a problem</a:t>
            </a:r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 smtClean="0"/>
              <a:t>Accepting a problem</a:t>
            </a:r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 smtClean="0"/>
              <a:t>R and RE</a:t>
            </a:r>
          </a:p>
          <a:p>
            <a:pPr marL="457200" lvl="0" indent="-3048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-US" dirty="0" smtClean="0"/>
              <a:t>CTT: “Algorithmically solvable = Turing computable/decidable”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asetăText 1"/>
              <p:cNvSpPr txBox="1"/>
              <p:nvPr/>
            </p:nvSpPr>
            <p:spPr>
              <a:xfrm>
                <a:off x="3891502" y="1144590"/>
                <a:ext cx="11980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𝜖</m:t>
                      </m:r>
                      <m:r>
                        <a:rPr lang="en-US" sz="16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101</m:t>
                      </m:r>
                      <m:r>
                        <a:rPr lang="en-US" sz="16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𝑞</m:t>
                          </m:r>
                        </m:e>
                        <m:sub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ro-RO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" name="CasetăTex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502" y="1144590"/>
                <a:ext cx="1198010" cy="338554"/>
              </a:xfrm>
              <a:prstGeom prst="rect">
                <a:avLst/>
              </a:prstGeom>
              <a:blipFill rotWithShape="1">
                <a:blip r:embed="rId3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tăText 4"/>
              <p:cNvSpPr txBox="1"/>
              <p:nvPr/>
            </p:nvSpPr>
            <p:spPr>
              <a:xfrm>
                <a:off x="4970011" y="1144590"/>
                <a:ext cx="15297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𝑀</m:t>
                          </m:r>
                        </m:sub>
                      </m:sSub>
                      <m:r>
                        <a:rPr lang="en-US" sz="16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1</m:t>
                      </m:r>
                      <m:r>
                        <a:rPr lang="en-US" sz="16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 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01</m:t>
                      </m:r>
                      <m:r>
                        <a:rPr lang="en-US" sz="16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ro-RO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5" name="CasetăTex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0011" y="1144590"/>
                <a:ext cx="1529704" cy="338554"/>
              </a:xfrm>
              <a:prstGeom prst="rect">
                <a:avLst/>
              </a:prstGeom>
              <a:blipFill rotWithShape="1">
                <a:blip r:embed="rId4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setăText 5"/>
              <p:cNvSpPr txBox="1"/>
              <p:nvPr/>
            </p:nvSpPr>
            <p:spPr>
              <a:xfrm>
                <a:off x="6190469" y="1144590"/>
                <a:ext cx="173833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⊢</m:t>
                          </m:r>
                        </m:e>
                        <m:sub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𝑀</m:t>
                          </m:r>
                        </m:sub>
                      </m:sSub>
                      <m:r>
                        <a:rPr lang="en-US" sz="16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𝜖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, 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101</m:t>
                      </m:r>
                      <m:r>
                        <a:rPr lang="en-US" sz="160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𝑌</m:t>
                      </m:r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ro-RO" sz="16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6" name="CasetăTex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0469" y="1144590"/>
                <a:ext cx="1738336" cy="338554"/>
              </a:xfrm>
              <a:prstGeom prst="rect">
                <a:avLst/>
              </a:prstGeom>
              <a:blipFill rotWithShape="1">
                <a:blip r:embed="rId5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tăText 7"/>
              <p:cNvSpPr txBox="1"/>
              <p:nvPr/>
            </p:nvSpPr>
            <p:spPr>
              <a:xfrm>
                <a:off x="3249680" y="1635544"/>
                <a:ext cx="119801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→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en-US" sz="1600" b="0" dirty="0" smtClean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" name="CasetăTex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680" y="1635544"/>
                <a:ext cx="1198010" cy="33855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tăText 8"/>
              <p:cNvSpPr txBox="1"/>
              <p:nvPr/>
            </p:nvSpPr>
            <p:spPr>
              <a:xfrm>
                <a:off x="4875057" y="1969818"/>
                <a:ext cx="18131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→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1600" b="0" dirty="0" smtClean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9" name="CasetăTex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057" y="1969818"/>
                <a:ext cx="1813125" cy="33855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setăText 9"/>
              <p:cNvSpPr txBox="1"/>
              <p:nvPr/>
            </p:nvSpPr>
            <p:spPr>
              <a:xfrm>
                <a:off x="6641155" y="1969818"/>
                <a:ext cx="18131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accent6"/>
                          </a:solidFill>
                          <a:latin typeface="Cambria Math"/>
                        </a:rPr>
                        <m:t>FALSE</m:t>
                      </m:r>
                    </m:oMath>
                  </m:oMathPara>
                </a14:m>
                <a:endParaRPr lang="en-US" sz="1600" b="0" dirty="0" smtClean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0" name="CasetăTex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155" y="1969818"/>
                <a:ext cx="1813125" cy="338554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tăText 10"/>
              <p:cNvSpPr txBox="1"/>
              <p:nvPr/>
            </p:nvSpPr>
            <p:spPr>
              <a:xfrm>
                <a:off x="3292497" y="2535139"/>
                <a:ext cx="205282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∀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𝑤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→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𝑤</m:t>
                      </m:r>
                      <m:r>
                        <a:rPr lang="en-US" sz="1600" b="0" i="0" smtClean="0">
                          <a:solidFill>
                            <a:schemeClr val="accent6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600" b="0" dirty="0" smtClean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1" name="CasetăTex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2497" y="2535139"/>
                <a:ext cx="2052824" cy="338554"/>
              </a:xfrm>
              <a:prstGeom prst="rect">
                <a:avLst/>
              </a:prstGeom>
              <a:blipFill rotWithShape="1">
                <a:blip r:embed="rId9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asetăText 11"/>
              <p:cNvSpPr txBox="1"/>
              <p:nvPr/>
            </p:nvSpPr>
            <p:spPr>
              <a:xfrm>
                <a:off x="2864904" y="3492211"/>
                <a:ext cx="377625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∀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𝑤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,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→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𝑇𝑅𝑈𝐸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⇔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</m:d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𝑇𝑅𝑈𝐸</m:t>
                      </m:r>
                    </m:oMath>
                  </m:oMathPara>
                </a14:m>
                <a:endParaRPr lang="en-US" sz="1600" b="0" dirty="0" smtClean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CasetăTex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904" y="3492211"/>
                <a:ext cx="3776251" cy="338554"/>
              </a:xfrm>
              <a:prstGeom prst="rect">
                <a:avLst/>
              </a:prstGeom>
              <a:blipFill rotWithShape="1">
                <a:blip r:embed="rId10"/>
                <a:stretch>
                  <a:fillRect b="-1272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asetăText 12"/>
              <p:cNvSpPr txBox="1"/>
              <p:nvPr/>
            </p:nvSpPr>
            <p:spPr>
              <a:xfrm>
                <a:off x="3714126" y="2913078"/>
                <a:ext cx="5429873" cy="579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∀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𝑤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</a:rPr>
                        <m:t>,</m:t>
                      </m:r>
                      <m:d>
                        <m:dPr>
                          <m:ctrlP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smtClean="0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𝑇𝑅𝑈𝐸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⇔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600" b="0" i="1" smtClean="0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600" b="0" i="1" smtClean="0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𝑇𝑅𝑈𝐸</m:t>
                          </m:r>
                        </m:e>
                      </m:d>
                      <m:r>
                        <a:rPr lang="en-US" sz="1600" i="1">
                          <a:solidFill>
                            <a:schemeClr val="accent6"/>
                          </a:solidFill>
                          <a:latin typeface="Cambria Math"/>
                          <a:ea typeface="Cambria Math"/>
                        </a:rPr>
                        <m:t>∧</m:t>
                      </m:r>
                      <m:r>
                        <a:rPr lang="en-US" sz="1600" b="0" i="1" smtClean="0">
                          <a:solidFill>
                            <a:schemeClr val="accent6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d>
                        <m:dPr>
                          <m:ctrlP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𝑀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1600" i="1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𝐹𝐴𝐿𝑆𝐸</m:t>
                          </m:r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⇔</m:t>
                          </m:r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1600" i="1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solidFill>
                                    <a:schemeClr val="accent6"/>
                                  </a:solidFill>
                                  <a:latin typeface="Cambria Math"/>
                                </a:rPr>
                                <m:t>𝑤</m:t>
                              </m:r>
                            </m:e>
                          </m:d>
                          <m:r>
                            <a:rPr lang="en-US" sz="1600" i="1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sz="1600" b="0" i="1" smtClean="0">
                              <a:solidFill>
                                <a:schemeClr val="accent6"/>
                              </a:solidFill>
                              <a:latin typeface="Cambria Math"/>
                            </a:rPr>
                            <m:t>𝐹𝐴𝐿𝑆𝐸</m:t>
                          </m:r>
                        </m:e>
                      </m:d>
                    </m:oMath>
                  </m:oMathPara>
                </a14:m>
                <a:endParaRPr lang="en-US" sz="1600" b="0" dirty="0" smtClean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3" name="CasetăTex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126" y="2913078"/>
                <a:ext cx="5429873" cy="579133"/>
              </a:xfrm>
              <a:prstGeom prst="rect">
                <a:avLst/>
              </a:prstGeom>
              <a:blipFill rotWithShape="1">
                <a:blip r:embed="rId11"/>
                <a:stretch>
                  <a:fillRect b="-736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Z:\4-utm\2-state_3-symbol_Turing_Machin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71" y="2171"/>
            <a:ext cx="2313887" cy="514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05" name="Google Shape;2205;p40"/>
          <p:cNvSpPr txBox="1">
            <a:spLocks noGrp="1"/>
          </p:cNvSpPr>
          <p:nvPr>
            <p:ph type="ctrTitle"/>
          </p:nvPr>
        </p:nvSpPr>
        <p:spPr>
          <a:xfrm>
            <a:off x="3080750" y="1003821"/>
            <a:ext cx="5781900" cy="261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Universal Turing Machine</a:t>
            </a:r>
            <a:endParaRPr sz="4000" dirty="0"/>
          </a:p>
        </p:txBody>
      </p:sp>
      <p:sp>
        <p:nvSpPr>
          <p:cNvPr id="2206" name="Google Shape;2206;p40"/>
          <p:cNvSpPr txBox="1">
            <a:spLocks noGrp="1"/>
          </p:cNvSpPr>
          <p:nvPr>
            <p:ph type="subTitle" idx="1"/>
          </p:nvPr>
        </p:nvSpPr>
        <p:spPr>
          <a:xfrm>
            <a:off x="3080750" y="3610150"/>
            <a:ext cx="1642450" cy="384928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/>
              <a:t>Analiza</a:t>
            </a:r>
            <a:r>
              <a:rPr lang="en-US" sz="1200" dirty="0"/>
              <a:t> </a:t>
            </a:r>
            <a:r>
              <a:rPr lang="en-US" sz="1200" dirty="0" err="1"/>
              <a:t>Algoritmilor</a:t>
            </a:r>
            <a:endParaRPr sz="1200" dirty="0"/>
          </a:p>
        </p:txBody>
      </p:sp>
      <p:sp>
        <p:nvSpPr>
          <p:cNvPr id="2208" name="Google Shape;2208;p40"/>
          <p:cNvSpPr/>
          <p:nvPr/>
        </p:nvSpPr>
        <p:spPr>
          <a:xfrm flipH="1">
            <a:off x="721125" y="4336700"/>
            <a:ext cx="2785365" cy="2785308"/>
          </a:xfrm>
          <a:custGeom>
            <a:avLst/>
            <a:gdLst/>
            <a:ahLst/>
            <a:cxnLst/>
            <a:rect l="l" t="t" r="r" b="b"/>
            <a:pathLst>
              <a:path w="48967" h="48966" extrusionOk="0">
                <a:moveTo>
                  <a:pt x="24484" y="0"/>
                </a:moveTo>
                <a:lnTo>
                  <a:pt x="23234" y="39"/>
                </a:lnTo>
                <a:lnTo>
                  <a:pt x="21985" y="117"/>
                </a:lnTo>
                <a:lnTo>
                  <a:pt x="20774" y="274"/>
                </a:lnTo>
                <a:lnTo>
                  <a:pt x="19564" y="508"/>
                </a:lnTo>
                <a:lnTo>
                  <a:pt x="18392" y="781"/>
                </a:lnTo>
                <a:lnTo>
                  <a:pt x="17221" y="1094"/>
                </a:lnTo>
                <a:lnTo>
                  <a:pt x="16088" y="1484"/>
                </a:lnTo>
                <a:lnTo>
                  <a:pt x="14956" y="1914"/>
                </a:lnTo>
                <a:lnTo>
                  <a:pt x="13902" y="2421"/>
                </a:lnTo>
                <a:lnTo>
                  <a:pt x="12848" y="2968"/>
                </a:lnTo>
                <a:lnTo>
                  <a:pt x="11793" y="3554"/>
                </a:lnTo>
                <a:lnTo>
                  <a:pt x="10817" y="4178"/>
                </a:lnTo>
                <a:lnTo>
                  <a:pt x="9841" y="4881"/>
                </a:lnTo>
                <a:lnTo>
                  <a:pt x="8943" y="5584"/>
                </a:lnTo>
                <a:lnTo>
                  <a:pt x="8045" y="6365"/>
                </a:lnTo>
                <a:lnTo>
                  <a:pt x="7186" y="7185"/>
                </a:lnTo>
                <a:lnTo>
                  <a:pt x="6366" y="8005"/>
                </a:lnTo>
                <a:lnTo>
                  <a:pt x="5624" y="8903"/>
                </a:lnTo>
                <a:lnTo>
                  <a:pt x="4882" y="9840"/>
                </a:lnTo>
                <a:lnTo>
                  <a:pt x="4179" y="10777"/>
                </a:lnTo>
                <a:lnTo>
                  <a:pt x="3554" y="11793"/>
                </a:lnTo>
                <a:lnTo>
                  <a:pt x="2968" y="12808"/>
                </a:lnTo>
                <a:lnTo>
                  <a:pt x="2422" y="13862"/>
                </a:lnTo>
                <a:lnTo>
                  <a:pt x="1953" y="14955"/>
                </a:lnTo>
                <a:lnTo>
                  <a:pt x="1485" y="16049"/>
                </a:lnTo>
                <a:lnTo>
                  <a:pt x="1133" y="17181"/>
                </a:lnTo>
                <a:lnTo>
                  <a:pt x="782" y="18353"/>
                </a:lnTo>
                <a:lnTo>
                  <a:pt x="508" y="19563"/>
                </a:lnTo>
                <a:lnTo>
                  <a:pt x="313" y="20734"/>
                </a:lnTo>
                <a:lnTo>
                  <a:pt x="157" y="21984"/>
                </a:lnTo>
                <a:lnTo>
                  <a:pt x="40" y="23234"/>
                </a:lnTo>
                <a:lnTo>
                  <a:pt x="1" y="24483"/>
                </a:lnTo>
                <a:lnTo>
                  <a:pt x="40" y="25733"/>
                </a:lnTo>
                <a:lnTo>
                  <a:pt x="157" y="26982"/>
                </a:lnTo>
                <a:lnTo>
                  <a:pt x="313" y="28193"/>
                </a:lnTo>
                <a:lnTo>
                  <a:pt x="508" y="29403"/>
                </a:lnTo>
                <a:lnTo>
                  <a:pt x="782" y="30613"/>
                </a:lnTo>
                <a:lnTo>
                  <a:pt x="1133" y="31746"/>
                </a:lnTo>
                <a:lnTo>
                  <a:pt x="1485" y="32917"/>
                </a:lnTo>
                <a:lnTo>
                  <a:pt x="1953" y="34011"/>
                </a:lnTo>
                <a:lnTo>
                  <a:pt x="2422" y="35104"/>
                </a:lnTo>
                <a:lnTo>
                  <a:pt x="2968" y="36158"/>
                </a:lnTo>
                <a:lnTo>
                  <a:pt x="3554" y="37173"/>
                </a:lnTo>
                <a:lnTo>
                  <a:pt x="4179" y="38150"/>
                </a:lnTo>
                <a:lnTo>
                  <a:pt x="4882" y="39126"/>
                </a:lnTo>
                <a:lnTo>
                  <a:pt x="5624" y="40063"/>
                </a:lnTo>
                <a:lnTo>
                  <a:pt x="6366" y="40922"/>
                </a:lnTo>
                <a:lnTo>
                  <a:pt x="7186" y="41781"/>
                </a:lnTo>
                <a:lnTo>
                  <a:pt x="8045" y="42601"/>
                </a:lnTo>
                <a:lnTo>
                  <a:pt x="8943" y="43382"/>
                </a:lnTo>
                <a:lnTo>
                  <a:pt x="9841" y="44085"/>
                </a:lnTo>
                <a:lnTo>
                  <a:pt x="10817" y="44788"/>
                </a:lnTo>
                <a:lnTo>
                  <a:pt x="11793" y="45412"/>
                </a:lnTo>
                <a:lnTo>
                  <a:pt x="12848" y="45998"/>
                </a:lnTo>
                <a:lnTo>
                  <a:pt x="13902" y="46545"/>
                </a:lnTo>
                <a:lnTo>
                  <a:pt x="14956" y="47052"/>
                </a:lnTo>
                <a:lnTo>
                  <a:pt x="16088" y="47482"/>
                </a:lnTo>
                <a:lnTo>
                  <a:pt x="17221" y="47872"/>
                </a:lnTo>
                <a:lnTo>
                  <a:pt x="18392" y="48185"/>
                </a:lnTo>
                <a:lnTo>
                  <a:pt x="19564" y="48458"/>
                </a:lnTo>
                <a:lnTo>
                  <a:pt x="20774" y="48692"/>
                </a:lnTo>
                <a:lnTo>
                  <a:pt x="21985" y="48849"/>
                </a:lnTo>
                <a:lnTo>
                  <a:pt x="23234" y="48927"/>
                </a:lnTo>
                <a:lnTo>
                  <a:pt x="24484" y="48966"/>
                </a:lnTo>
                <a:lnTo>
                  <a:pt x="25772" y="48927"/>
                </a:lnTo>
                <a:lnTo>
                  <a:pt x="26983" y="48849"/>
                </a:lnTo>
                <a:lnTo>
                  <a:pt x="28232" y="48692"/>
                </a:lnTo>
                <a:lnTo>
                  <a:pt x="29443" y="48458"/>
                </a:lnTo>
                <a:lnTo>
                  <a:pt x="30614" y="48185"/>
                </a:lnTo>
                <a:lnTo>
                  <a:pt x="31786" y="47872"/>
                </a:lnTo>
                <a:lnTo>
                  <a:pt x="32918" y="47482"/>
                </a:lnTo>
                <a:lnTo>
                  <a:pt x="34011" y="47052"/>
                </a:lnTo>
                <a:lnTo>
                  <a:pt x="35105" y="46545"/>
                </a:lnTo>
                <a:lnTo>
                  <a:pt x="36159" y="45998"/>
                </a:lnTo>
                <a:lnTo>
                  <a:pt x="37174" y="45412"/>
                </a:lnTo>
                <a:lnTo>
                  <a:pt x="38189" y="44788"/>
                </a:lnTo>
                <a:lnTo>
                  <a:pt x="39127" y="44085"/>
                </a:lnTo>
                <a:lnTo>
                  <a:pt x="40064" y="43382"/>
                </a:lnTo>
                <a:lnTo>
                  <a:pt x="40962" y="42601"/>
                </a:lnTo>
                <a:lnTo>
                  <a:pt x="41821" y="41781"/>
                </a:lnTo>
                <a:lnTo>
                  <a:pt x="42602" y="40922"/>
                </a:lnTo>
                <a:lnTo>
                  <a:pt x="43383" y="40063"/>
                </a:lnTo>
                <a:lnTo>
                  <a:pt x="44125" y="39126"/>
                </a:lnTo>
                <a:lnTo>
                  <a:pt x="44788" y="38150"/>
                </a:lnTo>
                <a:lnTo>
                  <a:pt x="45452" y="37173"/>
                </a:lnTo>
                <a:lnTo>
                  <a:pt x="46038" y="36158"/>
                </a:lnTo>
                <a:lnTo>
                  <a:pt x="46546" y="35104"/>
                </a:lnTo>
                <a:lnTo>
                  <a:pt x="47053" y="34011"/>
                </a:lnTo>
                <a:lnTo>
                  <a:pt x="47483" y="32917"/>
                </a:lnTo>
                <a:lnTo>
                  <a:pt x="47873" y="31746"/>
                </a:lnTo>
                <a:lnTo>
                  <a:pt x="48225" y="30613"/>
                </a:lnTo>
                <a:lnTo>
                  <a:pt x="48498" y="29403"/>
                </a:lnTo>
                <a:lnTo>
                  <a:pt x="48693" y="28193"/>
                </a:lnTo>
                <a:lnTo>
                  <a:pt x="48849" y="26982"/>
                </a:lnTo>
                <a:lnTo>
                  <a:pt x="48966" y="25733"/>
                </a:lnTo>
                <a:lnTo>
                  <a:pt x="48966" y="24483"/>
                </a:lnTo>
                <a:lnTo>
                  <a:pt x="48966" y="23234"/>
                </a:lnTo>
                <a:lnTo>
                  <a:pt x="48849" y="21984"/>
                </a:lnTo>
                <a:lnTo>
                  <a:pt x="48693" y="20734"/>
                </a:lnTo>
                <a:lnTo>
                  <a:pt x="48498" y="19563"/>
                </a:lnTo>
                <a:lnTo>
                  <a:pt x="48225" y="18353"/>
                </a:lnTo>
                <a:lnTo>
                  <a:pt x="47873" y="17181"/>
                </a:lnTo>
                <a:lnTo>
                  <a:pt x="47483" y="16049"/>
                </a:lnTo>
                <a:lnTo>
                  <a:pt x="47053" y="14955"/>
                </a:lnTo>
                <a:lnTo>
                  <a:pt x="46546" y="13862"/>
                </a:lnTo>
                <a:lnTo>
                  <a:pt x="46038" y="12808"/>
                </a:lnTo>
                <a:lnTo>
                  <a:pt x="45452" y="11793"/>
                </a:lnTo>
                <a:lnTo>
                  <a:pt x="44788" y="10777"/>
                </a:lnTo>
                <a:lnTo>
                  <a:pt x="44125" y="9840"/>
                </a:lnTo>
                <a:lnTo>
                  <a:pt x="43383" y="8903"/>
                </a:lnTo>
                <a:lnTo>
                  <a:pt x="42602" y="8005"/>
                </a:lnTo>
                <a:lnTo>
                  <a:pt x="41821" y="7185"/>
                </a:lnTo>
                <a:lnTo>
                  <a:pt x="40962" y="6365"/>
                </a:lnTo>
                <a:lnTo>
                  <a:pt x="40064" y="5584"/>
                </a:lnTo>
                <a:lnTo>
                  <a:pt x="39127" y="4881"/>
                </a:lnTo>
                <a:lnTo>
                  <a:pt x="38189" y="4178"/>
                </a:lnTo>
                <a:lnTo>
                  <a:pt x="37174" y="3554"/>
                </a:lnTo>
                <a:lnTo>
                  <a:pt x="36159" y="2968"/>
                </a:lnTo>
                <a:lnTo>
                  <a:pt x="35105" y="2421"/>
                </a:lnTo>
                <a:lnTo>
                  <a:pt x="34011" y="1914"/>
                </a:lnTo>
                <a:lnTo>
                  <a:pt x="32918" y="1484"/>
                </a:lnTo>
                <a:lnTo>
                  <a:pt x="31786" y="1094"/>
                </a:lnTo>
                <a:lnTo>
                  <a:pt x="30614" y="781"/>
                </a:lnTo>
                <a:lnTo>
                  <a:pt x="29443" y="508"/>
                </a:lnTo>
                <a:lnTo>
                  <a:pt x="28232" y="274"/>
                </a:lnTo>
                <a:lnTo>
                  <a:pt x="26983" y="117"/>
                </a:lnTo>
                <a:lnTo>
                  <a:pt x="25772" y="39"/>
                </a:lnTo>
                <a:lnTo>
                  <a:pt x="2448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9" name="Google Shape;2209;p40"/>
          <p:cNvGrpSpPr/>
          <p:nvPr/>
        </p:nvGrpSpPr>
        <p:grpSpPr>
          <a:xfrm flipH="1">
            <a:off x="-352355" y="3454401"/>
            <a:ext cx="1051274" cy="787312"/>
            <a:chOff x="3585475" y="1537675"/>
            <a:chExt cx="649175" cy="486175"/>
          </a:xfrm>
        </p:grpSpPr>
        <p:sp>
          <p:nvSpPr>
            <p:cNvPr id="2210" name="Google Shape;2210;p40"/>
            <p:cNvSpPr/>
            <p:nvPr/>
          </p:nvSpPr>
          <p:spPr>
            <a:xfrm>
              <a:off x="35854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40"/>
            <p:cNvSpPr/>
            <p:nvPr/>
          </p:nvSpPr>
          <p:spPr>
            <a:xfrm>
              <a:off x="35854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1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40"/>
            <p:cNvSpPr/>
            <p:nvPr/>
          </p:nvSpPr>
          <p:spPr>
            <a:xfrm>
              <a:off x="35854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1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1" y="1172"/>
                  </a:lnTo>
                  <a:lnTo>
                    <a:pt x="469" y="1211"/>
                  </a:lnTo>
                  <a:lnTo>
                    <a:pt x="703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1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1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03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40"/>
            <p:cNvSpPr/>
            <p:nvPr/>
          </p:nvSpPr>
          <p:spPr>
            <a:xfrm>
              <a:off x="35854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1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1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03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1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1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0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40"/>
            <p:cNvSpPr/>
            <p:nvPr/>
          </p:nvSpPr>
          <p:spPr>
            <a:xfrm>
              <a:off x="3739700" y="1992575"/>
              <a:ext cx="30300" cy="31275"/>
            </a:xfrm>
            <a:custGeom>
              <a:avLst/>
              <a:gdLst/>
              <a:ahLst/>
              <a:cxnLst/>
              <a:rect l="l" t="t" r="r" b="b"/>
              <a:pathLst>
                <a:path w="1212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40"/>
            <p:cNvSpPr/>
            <p:nvPr/>
          </p:nvSpPr>
          <p:spPr>
            <a:xfrm>
              <a:off x="3739700" y="18412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40"/>
            <p:cNvSpPr/>
            <p:nvPr/>
          </p:nvSpPr>
          <p:spPr>
            <a:xfrm>
              <a:off x="3739700" y="1688975"/>
              <a:ext cx="30300" cy="30300"/>
            </a:xfrm>
            <a:custGeom>
              <a:avLst/>
              <a:gdLst/>
              <a:ahLst/>
              <a:cxnLst/>
              <a:rect l="l" t="t" r="r" b="b"/>
              <a:pathLst>
                <a:path w="1212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2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2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40"/>
            <p:cNvSpPr/>
            <p:nvPr/>
          </p:nvSpPr>
          <p:spPr>
            <a:xfrm>
              <a:off x="3739700" y="1537675"/>
              <a:ext cx="30300" cy="30275"/>
            </a:xfrm>
            <a:custGeom>
              <a:avLst/>
              <a:gdLst/>
              <a:ahLst/>
              <a:cxnLst/>
              <a:rect l="l" t="t" r="r" b="b"/>
              <a:pathLst>
                <a:path w="1212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2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40"/>
            <p:cNvSpPr/>
            <p:nvPr/>
          </p:nvSpPr>
          <p:spPr>
            <a:xfrm>
              <a:off x="389492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40"/>
            <p:cNvSpPr/>
            <p:nvPr/>
          </p:nvSpPr>
          <p:spPr>
            <a:xfrm>
              <a:off x="389492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40"/>
            <p:cNvSpPr/>
            <p:nvPr/>
          </p:nvSpPr>
          <p:spPr>
            <a:xfrm>
              <a:off x="389492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20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20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1" name="Google Shape;2221;p40"/>
            <p:cNvSpPr/>
            <p:nvPr/>
          </p:nvSpPr>
          <p:spPr>
            <a:xfrm>
              <a:off x="389492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20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20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2" name="Google Shape;2222;p40"/>
            <p:cNvSpPr/>
            <p:nvPr/>
          </p:nvSpPr>
          <p:spPr>
            <a:xfrm>
              <a:off x="4049150" y="1992575"/>
              <a:ext cx="31275" cy="31275"/>
            </a:xfrm>
            <a:custGeom>
              <a:avLst/>
              <a:gdLst/>
              <a:ahLst/>
              <a:cxnLst/>
              <a:rect l="l" t="t" r="r" b="b"/>
              <a:pathLst>
                <a:path w="1251" h="1251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79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5"/>
                  </a:lnTo>
                  <a:lnTo>
                    <a:pt x="40" y="742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625" y="1250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50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79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40"/>
            <p:cNvSpPr/>
            <p:nvPr/>
          </p:nvSpPr>
          <p:spPr>
            <a:xfrm>
              <a:off x="4049150" y="18412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6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42"/>
                  </a:lnTo>
                  <a:lnTo>
                    <a:pt x="79" y="820"/>
                  </a:lnTo>
                  <a:lnTo>
                    <a:pt x="196" y="101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6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40"/>
            <p:cNvSpPr/>
            <p:nvPr/>
          </p:nvSpPr>
          <p:spPr>
            <a:xfrm>
              <a:off x="4049150" y="1688975"/>
              <a:ext cx="31275" cy="30300"/>
            </a:xfrm>
            <a:custGeom>
              <a:avLst/>
              <a:gdLst/>
              <a:ahLst/>
              <a:cxnLst/>
              <a:rect l="l" t="t" r="r" b="b"/>
              <a:pathLst>
                <a:path w="1251" h="1212" extrusionOk="0">
                  <a:moveTo>
                    <a:pt x="625" y="1"/>
                  </a:moveTo>
                  <a:lnTo>
                    <a:pt x="508" y="40"/>
                  </a:lnTo>
                  <a:lnTo>
                    <a:pt x="391" y="40"/>
                  </a:lnTo>
                  <a:lnTo>
                    <a:pt x="196" y="196"/>
                  </a:lnTo>
                  <a:lnTo>
                    <a:pt x="79" y="391"/>
                  </a:lnTo>
                  <a:lnTo>
                    <a:pt x="40" y="508"/>
                  </a:lnTo>
                  <a:lnTo>
                    <a:pt x="1" y="626"/>
                  </a:lnTo>
                  <a:lnTo>
                    <a:pt x="40" y="743"/>
                  </a:lnTo>
                  <a:lnTo>
                    <a:pt x="79" y="860"/>
                  </a:lnTo>
                  <a:lnTo>
                    <a:pt x="196" y="1055"/>
                  </a:lnTo>
                  <a:lnTo>
                    <a:pt x="391" y="1172"/>
                  </a:lnTo>
                  <a:lnTo>
                    <a:pt x="508" y="1211"/>
                  </a:lnTo>
                  <a:lnTo>
                    <a:pt x="743" y="1211"/>
                  </a:lnTo>
                  <a:lnTo>
                    <a:pt x="860" y="1172"/>
                  </a:lnTo>
                  <a:lnTo>
                    <a:pt x="105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50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55" y="196"/>
                  </a:lnTo>
                  <a:lnTo>
                    <a:pt x="860" y="40"/>
                  </a:lnTo>
                  <a:lnTo>
                    <a:pt x="743" y="40"/>
                  </a:lnTo>
                  <a:lnTo>
                    <a:pt x="62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40"/>
            <p:cNvSpPr/>
            <p:nvPr/>
          </p:nvSpPr>
          <p:spPr>
            <a:xfrm>
              <a:off x="4049150" y="1537675"/>
              <a:ext cx="31275" cy="30275"/>
            </a:xfrm>
            <a:custGeom>
              <a:avLst/>
              <a:gdLst/>
              <a:ahLst/>
              <a:cxnLst/>
              <a:rect l="l" t="t" r="r" b="b"/>
              <a:pathLst>
                <a:path w="1251" h="1211" extrusionOk="0">
                  <a:moveTo>
                    <a:pt x="508" y="0"/>
                  </a:moveTo>
                  <a:lnTo>
                    <a:pt x="391" y="39"/>
                  </a:lnTo>
                  <a:lnTo>
                    <a:pt x="196" y="157"/>
                  </a:lnTo>
                  <a:lnTo>
                    <a:pt x="79" y="352"/>
                  </a:lnTo>
                  <a:lnTo>
                    <a:pt x="40" y="469"/>
                  </a:lnTo>
                  <a:lnTo>
                    <a:pt x="1" y="586"/>
                  </a:lnTo>
                  <a:lnTo>
                    <a:pt x="40" y="703"/>
                  </a:lnTo>
                  <a:lnTo>
                    <a:pt x="79" y="820"/>
                  </a:lnTo>
                  <a:lnTo>
                    <a:pt x="196" y="1016"/>
                  </a:lnTo>
                  <a:lnTo>
                    <a:pt x="391" y="1172"/>
                  </a:lnTo>
                  <a:lnTo>
                    <a:pt x="508" y="1172"/>
                  </a:lnTo>
                  <a:lnTo>
                    <a:pt x="625" y="1211"/>
                  </a:lnTo>
                  <a:lnTo>
                    <a:pt x="743" y="1172"/>
                  </a:lnTo>
                  <a:lnTo>
                    <a:pt x="860" y="1172"/>
                  </a:lnTo>
                  <a:lnTo>
                    <a:pt x="105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50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55" y="157"/>
                  </a:lnTo>
                  <a:lnTo>
                    <a:pt x="860" y="39"/>
                  </a:lnTo>
                  <a:lnTo>
                    <a:pt x="74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226" name="Google Shape;2226;p40"/>
            <p:cNvSpPr/>
            <p:nvPr/>
          </p:nvSpPr>
          <p:spPr>
            <a:xfrm>
              <a:off x="4204375" y="1992575"/>
              <a:ext cx="30275" cy="31275"/>
            </a:xfrm>
            <a:custGeom>
              <a:avLst/>
              <a:gdLst/>
              <a:ahLst/>
              <a:cxnLst/>
              <a:rect l="l" t="t" r="r" b="b"/>
              <a:pathLst>
                <a:path w="1211" h="1251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79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5"/>
                  </a:lnTo>
                  <a:lnTo>
                    <a:pt x="0" y="742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586" y="1250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2"/>
                  </a:lnTo>
                  <a:lnTo>
                    <a:pt x="1211" y="625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79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40"/>
            <p:cNvSpPr/>
            <p:nvPr/>
          </p:nvSpPr>
          <p:spPr>
            <a:xfrm>
              <a:off x="4204375" y="18412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6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42"/>
                  </a:lnTo>
                  <a:lnTo>
                    <a:pt x="39" y="820"/>
                  </a:lnTo>
                  <a:lnTo>
                    <a:pt x="156" y="101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15"/>
                  </a:lnTo>
                  <a:lnTo>
                    <a:pt x="1172" y="820"/>
                  </a:lnTo>
                  <a:lnTo>
                    <a:pt x="1211" y="742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6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40"/>
            <p:cNvSpPr/>
            <p:nvPr/>
          </p:nvSpPr>
          <p:spPr>
            <a:xfrm>
              <a:off x="4204375" y="1688975"/>
              <a:ext cx="30275" cy="30300"/>
            </a:xfrm>
            <a:custGeom>
              <a:avLst/>
              <a:gdLst/>
              <a:ahLst/>
              <a:cxnLst/>
              <a:rect l="l" t="t" r="r" b="b"/>
              <a:pathLst>
                <a:path w="1211" h="1212" extrusionOk="0">
                  <a:moveTo>
                    <a:pt x="586" y="1"/>
                  </a:moveTo>
                  <a:lnTo>
                    <a:pt x="469" y="40"/>
                  </a:lnTo>
                  <a:lnTo>
                    <a:pt x="352" y="40"/>
                  </a:lnTo>
                  <a:lnTo>
                    <a:pt x="156" y="196"/>
                  </a:lnTo>
                  <a:lnTo>
                    <a:pt x="39" y="391"/>
                  </a:lnTo>
                  <a:lnTo>
                    <a:pt x="0" y="508"/>
                  </a:lnTo>
                  <a:lnTo>
                    <a:pt x="0" y="626"/>
                  </a:lnTo>
                  <a:lnTo>
                    <a:pt x="0" y="743"/>
                  </a:lnTo>
                  <a:lnTo>
                    <a:pt x="39" y="860"/>
                  </a:lnTo>
                  <a:lnTo>
                    <a:pt x="156" y="1055"/>
                  </a:lnTo>
                  <a:lnTo>
                    <a:pt x="352" y="1172"/>
                  </a:lnTo>
                  <a:lnTo>
                    <a:pt x="469" y="1211"/>
                  </a:lnTo>
                  <a:lnTo>
                    <a:pt x="742" y="1211"/>
                  </a:lnTo>
                  <a:lnTo>
                    <a:pt x="859" y="1172"/>
                  </a:lnTo>
                  <a:lnTo>
                    <a:pt x="1015" y="1055"/>
                  </a:lnTo>
                  <a:lnTo>
                    <a:pt x="1172" y="860"/>
                  </a:lnTo>
                  <a:lnTo>
                    <a:pt x="1211" y="743"/>
                  </a:lnTo>
                  <a:lnTo>
                    <a:pt x="1211" y="626"/>
                  </a:lnTo>
                  <a:lnTo>
                    <a:pt x="1211" y="508"/>
                  </a:lnTo>
                  <a:lnTo>
                    <a:pt x="1172" y="391"/>
                  </a:lnTo>
                  <a:lnTo>
                    <a:pt x="1015" y="196"/>
                  </a:lnTo>
                  <a:lnTo>
                    <a:pt x="859" y="40"/>
                  </a:lnTo>
                  <a:lnTo>
                    <a:pt x="742" y="40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40"/>
            <p:cNvSpPr/>
            <p:nvPr/>
          </p:nvSpPr>
          <p:spPr>
            <a:xfrm>
              <a:off x="4204375" y="1537675"/>
              <a:ext cx="30275" cy="30275"/>
            </a:xfrm>
            <a:custGeom>
              <a:avLst/>
              <a:gdLst/>
              <a:ahLst/>
              <a:cxnLst/>
              <a:rect l="l" t="t" r="r" b="b"/>
              <a:pathLst>
                <a:path w="1211" h="1211" extrusionOk="0">
                  <a:moveTo>
                    <a:pt x="469" y="0"/>
                  </a:moveTo>
                  <a:lnTo>
                    <a:pt x="352" y="39"/>
                  </a:lnTo>
                  <a:lnTo>
                    <a:pt x="156" y="157"/>
                  </a:lnTo>
                  <a:lnTo>
                    <a:pt x="39" y="352"/>
                  </a:lnTo>
                  <a:lnTo>
                    <a:pt x="0" y="469"/>
                  </a:lnTo>
                  <a:lnTo>
                    <a:pt x="0" y="586"/>
                  </a:lnTo>
                  <a:lnTo>
                    <a:pt x="0" y="703"/>
                  </a:lnTo>
                  <a:lnTo>
                    <a:pt x="39" y="820"/>
                  </a:lnTo>
                  <a:lnTo>
                    <a:pt x="156" y="1016"/>
                  </a:lnTo>
                  <a:lnTo>
                    <a:pt x="352" y="1172"/>
                  </a:lnTo>
                  <a:lnTo>
                    <a:pt x="469" y="1172"/>
                  </a:lnTo>
                  <a:lnTo>
                    <a:pt x="586" y="1211"/>
                  </a:lnTo>
                  <a:lnTo>
                    <a:pt x="742" y="1172"/>
                  </a:lnTo>
                  <a:lnTo>
                    <a:pt x="859" y="1172"/>
                  </a:lnTo>
                  <a:lnTo>
                    <a:pt x="1015" y="1016"/>
                  </a:lnTo>
                  <a:lnTo>
                    <a:pt x="1172" y="820"/>
                  </a:lnTo>
                  <a:lnTo>
                    <a:pt x="1211" y="703"/>
                  </a:lnTo>
                  <a:lnTo>
                    <a:pt x="1211" y="586"/>
                  </a:lnTo>
                  <a:lnTo>
                    <a:pt x="1211" y="469"/>
                  </a:lnTo>
                  <a:lnTo>
                    <a:pt x="1172" y="352"/>
                  </a:lnTo>
                  <a:lnTo>
                    <a:pt x="1015" y="157"/>
                  </a:lnTo>
                  <a:lnTo>
                    <a:pt x="859" y="39"/>
                  </a:lnTo>
                  <a:lnTo>
                    <a:pt x="74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30" name="Google Shape;2230;p40"/>
          <p:cNvGrpSpPr/>
          <p:nvPr/>
        </p:nvGrpSpPr>
        <p:grpSpPr>
          <a:xfrm flipH="1">
            <a:off x="2210779" y="313057"/>
            <a:ext cx="656180" cy="633875"/>
            <a:chOff x="2556550" y="3309450"/>
            <a:chExt cx="545725" cy="527175"/>
          </a:xfrm>
        </p:grpSpPr>
        <p:sp>
          <p:nvSpPr>
            <p:cNvPr id="2231" name="Google Shape;2231;p40"/>
            <p:cNvSpPr/>
            <p:nvPr/>
          </p:nvSpPr>
          <p:spPr>
            <a:xfrm>
              <a:off x="2556550" y="3440250"/>
              <a:ext cx="396375" cy="396375"/>
            </a:xfrm>
            <a:custGeom>
              <a:avLst/>
              <a:gdLst/>
              <a:ahLst/>
              <a:cxnLst/>
              <a:rect l="l" t="t" r="r" b="b"/>
              <a:pathLst>
                <a:path w="15855" h="15855" extrusionOk="0">
                  <a:moveTo>
                    <a:pt x="1" y="1"/>
                  </a:moveTo>
                  <a:lnTo>
                    <a:pt x="1" y="15854"/>
                  </a:lnTo>
                  <a:lnTo>
                    <a:pt x="15854" y="15854"/>
                  </a:lnTo>
                  <a:lnTo>
                    <a:pt x="1585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40"/>
            <p:cNvSpPr/>
            <p:nvPr/>
          </p:nvSpPr>
          <p:spPr>
            <a:xfrm>
              <a:off x="2704950" y="3309450"/>
              <a:ext cx="397325" cy="396350"/>
            </a:xfrm>
            <a:custGeom>
              <a:avLst/>
              <a:gdLst/>
              <a:ahLst/>
              <a:cxnLst/>
              <a:rect l="l" t="t" r="r" b="b"/>
              <a:pathLst>
                <a:path w="15893" h="15854" fill="none" extrusionOk="0">
                  <a:moveTo>
                    <a:pt x="15893" y="15854"/>
                  </a:moveTo>
                  <a:lnTo>
                    <a:pt x="0" y="15854"/>
                  </a:lnTo>
                  <a:lnTo>
                    <a:pt x="0" y="0"/>
                  </a:lnTo>
                  <a:lnTo>
                    <a:pt x="15893" y="0"/>
                  </a:lnTo>
                  <a:lnTo>
                    <a:pt x="15893" y="15854"/>
                  </a:lnTo>
                  <a:close/>
                </a:path>
              </a:pathLst>
            </a:custGeom>
            <a:noFill/>
            <a:ln w="1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33" name="Google Shape;2233;p40"/>
          <p:cNvSpPr/>
          <p:nvPr/>
        </p:nvSpPr>
        <p:spPr>
          <a:xfrm>
            <a:off x="7424746" y="369925"/>
            <a:ext cx="1719000" cy="475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4</a:t>
            </a:r>
            <a:endParaRPr sz="3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sp>
        <p:nvSpPr>
          <p:cNvPr id="2239" name="Google Shape;2239;p41"/>
          <p:cNvSpPr txBox="1">
            <a:spLocks noGrp="1"/>
          </p:cNvSpPr>
          <p:nvPr>
            <p:ph type="body" idx="1"/>
          </p:nvPr>
        </p:nvSpPr>
        <p:spPr>
          <a:xfrm>
            <a:off x="720000" y="1215752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dirty="0"/>
              <a:t>Multitape Turing Machines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1200" dirty="0" err="1"/>
              <a:t>Vizualization</a:t>
            </a:r>
            <a:r>
              <a:rPr lang="en-US" sz="1200" dirty="0"/>
              <a:t> 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1200" dirty="0"/>
              <a:t>Definition</a:t>
            </a:r>
            <a:endParaRPr lang="en" sz="1200" dirty="0"/>
          </a:p>
          <a:p>
            <a:pPr lvl="1">
              <a:lnSpc>
                <a:spcPct val="20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1200" dirty="0"/>
              <a:t>E</a:t>
            </a:r>
            <a:r>
              <a:rPr lang="en" sz="1200" dirty="0"/>
              <a:t>xamples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-US" sz="1200" dirty="0"/>
              <a:t>E</a:t>
            </a:r>
            <a:r>
              <a:rPr lang="en" sz="1200" dirty="0"/>
              <a:t>quivalence with single-tape Turing Machines</a:t>
            </a: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dirty="0"/>
              <a:t>Encoding Turing Machines</a:t>
            </a:r>
          </a:p>
          <a:p>
            <a:pPr lvl="1">
              <a:lnSpc>
                <a:spcPct val="200000"/>
              </a:lnSpc>
              <a:spcBef>
                <a:spcPts val="0"/>
              </a:spcBef>
              <a:buFont typeface="+mj-lt"/>
              <a:buAutoNum type="alphaLcParenR"/>
            </a:pPr>
            <a:r>
              <a:rPr lang="en" sz="1200" dirty="0" smtClean="0"/>
              <a:t>The binary alphabet is enough</a:t>
            </a:r>
          </a:p>
          <a:p>
            <a:pPr marL="457200" lvl="0" indent="-3048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dirty="0" smtClean="0"/>
              <a:t>The </a:t>
            </a:r>
            <a:r>
              <a:rPr lang="en" dirty="0"/>
              <a:t>Universal Turing Machine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Formal </a:t>
            </a:r>
            <a:r>
              <a:rPr lang="en" dirty="0" smtClean="0"/>
              <a:t>definition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97" name="Google Shape;2397;p49"/>
              <p:cNvSpPr txBox="1"/>
              <p:nvPr/>
            </p:nvSpPr>
            <p:spPr>
              <a:xfrm>
                <a:off x="719999" y="1339071"/>
                <a:ext cx="7703999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40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4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en-US" sz="4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400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𝛴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40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40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40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40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40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40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40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397" name="Google Shape;2397;p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99" y="1339071"/>
                <a:ext cx="7703999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98" name="Google Shape;2398;p49"/>
          <p:cNvSpPr txBox="1"/>
          <p:nvPr/>
        </p:nvSpPr>
        <p:spPr>
          <a:xfrm>
            <a:off x="2506174" y="2975489"/>
            <a:ext cx="4131600" cy="10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191919"/>
                </a:solidFill>
                <a:latin typeface="Nunito" pitchFamily="2" charset="0"/>
                <a:ea typeface="Nunito"/>
                <a:cs typeface="Nunito"/>
                <a:sym typeface="Nunito"/>
              </a:rPr>
              <a:t>Same as for a single-tape Turing machine</a:t>
            </a:r>
            <a:endParaRPr b="1" dirty="0">
              <a:solidFill>
                <a:srgbClr val="191919"/>
              </a:solidFill>
              <a:latin typeface="Nunito" pitchFamily="2" charset="0"/>
              <a:ea typeface="Nunito"/>
              <a:cs typeface="Nunito"/>
              <a:sym typeface="Nunito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2AD8BF0D-CC2C-16A4-AD30-8C9081FFBDEB}"/>
              </a:ext>
            </a:extLst>
          </p:cNvPr>
          <p:cNvSpPr/>
          <p:nvPr/>
        </p:nvSpPr>
        <p:spPr>
          <a:xfrm>
            <a:off x="2573594" y="1482213"/>
            <a:ext cx="4436805" cy="597310"/>
          </a:xfrm>
          <a:prstGeom prst="rect">
            <a:avLst/>
          </a:prstGeom>
          <a:noFill/>
          <a:ln>
            <a:solidFill>
              <a:schemeClr val="tx2"/>
            </a:solidFill>
          </a:ln>
          <a:effectLst>
            <a:glow rad="63500">
              <a:schemeClr val="tx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98;p49">
                <a:extLst>
                  <a:ext uri="{FF2B5EF4-FFF2-40B4-BE49-F238E27FC236}">
                    <a16:creationId xmlns="" xmlns:a16="http://schemas.microsoft.com/office/drawing/2014/main" id="{56E7F344-4C2A-0ABE-2F98-D49186656506}"/>
                  </a:ext>
                </a:extLst>
              </p:cNvPr>
              <p:cNvSpPr txBox="1"/>
              <p:nvPr/>
            </p:nvSpPr>
            <p:spPr>
              <a:xfrm>
                <a:off x="1176312" y="2975489"/>
                <a:ext cx="6791324" cy="1010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ro-RO" b="1" dirty="0">
                    <a:solidFill>
                      <a:srgbClr val="191919"/>
                    </a:solidFill>
                    <a:latin typeface="Nunito"/>
                    <a:ea typeface="Nunito"/>
                    <a:cs typeface="Nunito"/>
                    <a:sym typeface="Nunito"/>
                  </a:rPr>
                  <a:t>The t</a:t>
                </a:r>
                <a:r>
                  <a:rPr lang="en" b="1" dirty="0">
                    <a:solidFill>
                      <a:srgbClr val="191919"/>
                    </a:solidFill>
                    <a:latin typeface="Nunito"/>
                    <a:ea typeface="Nunito"/>
                    <a:cs typeface="Nunito"/>
                    <a:sym typeface="Nunito"/>
                  </a:rPr>
                  <a:t>ransition function</a:t>
                </a:r>
                <a:endParaRPr lang="ro-RO" b="1" dirty="0">
                  <a:solidFill>
                    <a:srgbClr val="191919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" b="1" dirty="0">
                  <a:solidFill>
                    <a:srgbClr val="191919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𝛿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: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×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Nunito"/>
                              <a:cs typeface="Nunito"/>
                              <a:sym typeface="Nunito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Nunito"/>
                              <a:cs typeface="Nunito"/>
                              <a:sym typeface="Nunito"/>
                            </a:rPr>
                            <m:t>Γ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Nunito"/>
                              <a:cs typeface="Nunito"/>
                              <a:sym typeface="Nunito"/>
                            </a:rPr>
                            <m:t>k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→(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∪{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𝑌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𝑁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𝐻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ea typeface="Nunito"/>
                          <a:cs typeface="Nunito"/>
                          <a:sym typeface="Nunito"/>
                        </a:rPr>
                        <m:t>})×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ea typeface="Nunito"/>
                              <a:cs typeface="Nunito"/>
                              <a:sym typeface="Nunito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/>
                                  <a:ea typeface="Nunito"/>
                                  <a:cs typeface="Nunito"/>
                                  <a:sym typeface="Nunito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Nunito"/>
                                  <a:cs typeface="Nunito"/>
                                  <a:sym typeface="Nunito"/>
                                </a:rPr>
                                <m:t>Γ</m:t>
                              </m:r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Nunito"/>
                                  <a:cs typeface="Nunito"/>
                                  <a:sym typeface="Nunito"/>
                                </a:rPr>
                                <m:t>×</m:t>
                              </m:r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400" b="0" i="1" smtClean="0">
                                      <a:solidFill>
                                        <a:srgbClr val="191919"/>
                                      </a:solidFill>
                                      <a:latin typeface="Cambria Math"/>
                                      <a:ea typeface="Nunito"/>
                                      <a:cs typeface="Nunito"/>
                                      <a:sym typeface="Nunito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solidFill>
                                        <a:srgbClr val="191919"/>
                                      </a:solidFill>
                                      <a:latin typeface="Cambria Math" panose="02040503050406030204" pitchFamily="18" charset="0"/>
                                      <a:ea typeface="Nunito"/>
                                      <a:cs typeface="Nunito"/>
                                      <a:sym typeface="Nunito"/>
                                    </a:rPr>
                                    <m:t>←, −, →</m:t>
                                  </m:r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Nunito"/>
                              <a:cs typeface="Nunito"/>
                              <a:sym typeface="Nunito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6" name="Google Shape;2398;p49">
                <a:extLst>
                  <a:ext uri="{FF2B5EF4-FFF2-40B4-BE49-F238E27FC236}">
                    <a16:creationId xmlns:a16="http://schemas.microsoft.com/office/drawing/2014/main" id="{56E7F344-4C2A-0ABE-2F98-D49186656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312" y="2975489"/>
                <a:ext cx="6791324" cy="1010700"/>
              </a:xfrm>
              <a:prstGeom prst="rect">
                <a:avLst/>
              </a:prstGeom>
              <a:blipFill>
                <a:blip r:embed="rId4"/>
                <a:stretch>
                  <a:fillRect b="-12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55982BD1-D7E0-4752-E441-9610329D06BB}"/>
              </a:ext>
            </a:extLst>
          </p:cNvPr>
          <p:cNvSpPr/>
          <p:nvPr/>
        </p:nvSpPr>
        <p:spPr>
          <a:xfrm>
            <a:off x="7010399" y="1482213"/>
            <a:ext cx="523876" cy="597310"/>
          </a:xfrm>
          <a:prstGeom prst="rect">
            <a:avLst/>
          </a:prstGeom>
          <a:noFill/>
          <a:ln>
            <a:solidFill>
              <a:schemeClr val="tx2"/>
            </a:solidFill>
          </a:ln>
          <a:effectLst>
            <a:glow rad="63500">
              <a:schemeClr val="tx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93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8" grpId="0"/>
      <p:bldP spid="2398" grpId="1"/>
      <p:bldP spid="2" grpId="0" animBg="1"/>
      <p:bldP spid="2" grpId="1" animBg="1"/>
      <p:bldP spid="6" grpId="0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Equivalence with single-tape TMs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98;p49">
                <a:extLst>
                  <a:ext uri="{FF2B5EF4-FFF2-40B4-BE49-F238E27FC236}">
                    <a16:creationId xmlns="" xmlns:a16="http://schemas.microsoft.com/office/drawing/2014/main" id="{D621D82D-0E8E-49A3-8B4C-ADE0C06BA9DB}"/>
                  </a:ext>
                </a:extLst>
              </p:cNvPr>
              <p:cNvSpPr txBox="1"/>
              <p:nvPr/>
            </p:nvSpPr>
            <p:spPr>
              <a:xfrm>
                <a:off x="1176338" y="1995252"/>
                <a:ext cx="6791324" cy="13990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i="1" dirty="0">
                    <a:solidFill>
                      <a:srgbClr val="191919"/>
                    </a:solidFill>
                    <a:latin typeface="Nunito"/>
                    <a:ea typeface="Nunito"/>
                    <a:cs typeface="Nunito"/>
                    <a:sym typeface="Nunito"/>
                  </a:rPr>
                  <a:t>For any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𝑘</m:t>
                    </m:r>
                  </m:oMath>
                </a14:m>
                <a:r>
                  <a:rPr lang="en-US" sz="2400" i="1" dirty="0">
                    <a:solidFill>
                      <a:srgbClr val="191919"/>
                    </a:solidFill>
                    <a:latin typeface="Nunito"/>
                    <a:ea typeface="Nunito"/>
                    <a:cs typeface="Nunito"/>
                    <a:sym typeface="Nunito"/>
                  </a:rPr>
                  <a:t>-tape Turing Machine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rgbClr val="191919"/>
                    </a:solidFill>
                    <a:latin typeface="Nunito"/>
                    <a:ea typeface="Nunito"/>
                    <a:cs typeface="Nunito"/>
                    <a:sym typeface="Nunito"/>
                  </a:rPr>
                  <a:t>, there is a single-tape Turing Machine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 </m:t>
                    </m:r>
                    <m:sSub>
                      <m:sSubPr>
                        <m:ctrlP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𝑀</m:t>
                        </m:r>
                      </m:e>
                      <m:sub>
                        <m:r>
                          <a:rPr lang="en-US" sz="24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400" i="1" dirty="0">
                    <a:solidFill>
                      <a:srgbClr val="191919"/>
                    </a:solidFill>
                    <a:latin typeface="Nunito"/>
                    <a:ea typeface="Nunito"/>
                    <a:cs typeface="Nunito"/>
                    <a:sym typeface="Nunito"/>
                  </a:rPr>
                  <a:t>, such that</a:t>
                </a:r>
              </a:p>
              <a:p>
                <a:pPr marL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∀</m:t>
                    </m:r>
                    <m:r>
                      <a:rPr lang="en-US" sz="32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𝑤</m:t>
                    </m:r>
                    <m:r>
                      <a:rPr lang="en-US" sz="32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∈</m:t>
                    </m:r>
                    <m:sSup>
                      <m:sSupPr>
                        <m:ctrlP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/>
                            <a:ea typeface="Nunito"/>
                            <a:cs typeface="Nunito"/>
                            <a:sym typeface="Nunito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𝛴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∗</m:t>
                        </m:r>
                      </m:sup>
                    </m:sSup>
                    <m:r>
                      <a:rPr lang="en-US" sz="32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, 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𝑀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𝑚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/>
                            <a:ea typeface="Nunito"/>
                            <a:cs typeface="Nunito"/>
                            <a:sym typeface="Nunito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𝑤</m:t>
                        </m:r>
                      </m:e>
                    </m:d>
                    <m:r>
                      <a:rPr lang="en-US" sz="32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Nunito"/>
                        <a:cs typeface="Nunito"/>
                        <a:sym typeface="Nunito"/>
                      </a:rPr>
                      <m:t>≡</m:t>
                    </m:r>
                    <m:sSub>
                      <m:sSubPr>
                        <m:ctrlP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/>
                            <a:ea typeface="Nunito"/>
                            <a:cs typeface="Nunito"/>
                            <a:sym typeface="Nunito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𝑀</m:t>
                        </m:r>
                      </m:e>
                      <m:sub>
                        <m: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𝑠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/>
                            <a:ea typeface="Nunito"/>
                            <a:cs typeface="Nunito"/>
                            <a:sym typeface="Nunito"/>
                          </a:rPr>
                        </m:ctrlPr>
                      </m:dPr>
                      <m:e>
                        <m:r>
                          <a:rPr lang="en-US" sz="32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Nunito"/>
                            <a:cs typeface="Nunito"/>
                            <a:sym typeface="Nunito"/>
                          </a:rPr>
                          <m:t>𝑤</m:t>
                        </m:r>
                      </m:e>
                    </m:d>
                  </m:oMath>
                </a14:m>
                <a:r>
                  <a:rPr lang="en-US" sz="3200" i="1" dirty="0">
                    <a:solidFill>
                      <a:srgbClr val="191919"/>
                    </a:solidFill>
                    <a:latin typeface="Nunito"/>
                    <a:ea typeface="Nunito"/>
                    <a:cs typeface="Nunito"/>
                    <a:sym typeface="Nunito"/>
                  </a:rPr>
                  <a:t> </a:t>
                </a:r>
                <a:endParaRPr sz="3200" i="1" dirty="0">
                  <a:solidFill>
                    <a:srgbClr val="191919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mc:Choice>
        <mc:Fallback xmlns="">
          <p:sp>
            <p:nvSpPr>
              <p:cNvPr id="8" name="Google Shape;2398;p49">
                <a:extLst>
                  <a:ext uri="{FF2B5EF4-FFF2-40B4-BE49-F238E27FC236}">
                    <a16:creationId xmlns:a16="http://schemas.microsoft.com/office/drawing/2014/main" id="{D621D82D-0E8E-49A3-8B4C-ADE0C06BA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338" y="1995252"/>
                <a:ext cx="6791324" cy="1399001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3">
            <a:extLst>
              <a:ext uri="{FF2B5EF4-FFF2-40B4-BE49-F238E27FC236}">
                <a16:creationId xmlns="" xmlns:a16="http://schemas.microsoft.com/office/drawing/2014/main" id="{DF746E40-DA0E-810F-CAD4-179092464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70936"/>
              </p:ext>
            </p:extLst>
          </p:nvPr>
        </p:nvGraphicFramePr>
        <p:xfrm>
          <a:off x="-4080419" y="1370997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28" name="Table 3">
            <a:extLst>
              <a:ext uri="{FF2B5EF4-FFF2-40B4-BE49-F238E27FC236}">
                <a16:creationId xmlns="" xmlns:a16="http://schemas.microsoft.com/office/drawing/2014/main" id="{255CD34B-9431-40B3-A97D-AA6FB2EB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095251"/>
              </p:ext>
            </p:extLst>
          </p:nvPr>
        </p:nvGraphicFramePr>
        <p:xfrm>
          <a:off x="-4498760" y="364722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BDFCCE10-E547-042C-D1D4-04E11B8A135A}"/>
              </a:ext>
            </a:extLst>
          </p:cNvPr>
          <p:cNvSpPr/>
          <p:nvPr/>
        </p:nvSpPr>
        <p:spPr>
          <a:xfrm>
            <a:off x="2741083" y="132412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Table 3">
            <a:extLst>
              <a:ext uri="{FF2B5EF4-FFF2-40B4-BE49-F238E27FC236}">
                <a16:creationId xmlns="" xmlns:a16="http://schemas.microsoft.com/office/drawing/2014/main" id="{766350FB-A753-E80B-FE53-3652D2123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8825632"/>
              </p:ext>
            </p:extLst>
          </p:nvPr>
        </p:nvGraphicFramePr>
        <p:xfrm>
          <a:off x="-4080419" y="2095337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5BAFCFD-20A5-3B52-E18E-111A4BFF5974}"/>
              </a:ext>
            </a:extLst>
          </p:cNvPr>
          <p:cNvSpPr/>
          <p:nvPr/>
        </p:nvSpPr>
        <p:spPr>
          <a:xfrm>
            <a:off x="2283753" y="2059630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985F681F-50D2-8BF6-55DA-77DD6B582FA9}"/>
              </a:ext>
            </a:extLst>
          </p:cNvPr>
          <p:cNvSpPr>
            <a:spLocks noChangeAspect="1"/>
          </p:cNvSpPr>
          <p:nvPr/>
        </p:nvSpPr>
        <p:spPr>
          <a:xfrm>
            <a:off x="3200400" y="26731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q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20105585-37A0-ED0C-3F29-6E17A1B72EB8}"/>
              </a:ext>
            </a:extLst>
          </p:cNvPr>
          <p:cNvGraphicFramePr>
            <a:graphicFrameLocks noGrp="1"/>
          </p:cNvGraphicFramePr>
          <p:nvPr/>
        </p:nvGraphicFramePr>
        <p:xfrm>
          <a:off x="-4080419" y="661051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B4B8433-382F-89D7-80F6-F67CE679CF0D}"/>
              </a:ext>
            </a:extLst>
          </p:cNvPr>
          <p:cNvSpPr txBox="1"/>
          <p:nvPr/>
        </p:nvSpPr>
        <p:spPr>
          <a:xfrm>
            <a:off x="2329890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018EB44-6A37-9FB5-F541-F3BBD261D82B}"/>
              </a:ext>
            </a:extLst>
          </p:cNvPr>
          <p:cNvSpPr txBox="1"/>
          <p:nvPr/>
        </p:nvSpPr>
        <p:spPr>
          <a:xfrm>
            <a:off x="2797174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3C0A3B7-7E28-1654-C6BE-349E0F645BA4}"/>
              </a:ext>
            </a:extLst>
          </p:cNvPr>
          <p:cNvSpPr txBox="1"/>
          <p:nvPr/>
        </p:nvSpPr>
        <p:spPr>
          <a:xfrm>
            <a:off x="3247058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78047D4-7F0A-BF2D-7377-C046805337E7}"/>
              </a:ext>
            </a:extLst>
          </p:cNvPr>
          <p:cNvSpPr txBox="1"/>
          <p:nvPr/>
        </p:nvSpPr>
        <p:spPr>
          <a:xfrm>
            <a:off x="3710543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7F44D1-1FFF-4A2B-3CC1-75970825CC7C}"/>
              </a:ext>
            </a:extLst>
          </p:cNvPr>
          <p:cNvSpPr/>
          <p:nvPr/>
        </p:nvSpPr>
        <p:spPr>
          <a:xfrm>
            <a:off x="4118190" y="62535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D26B5E0-7C64-DA5B-68A3-D2F2A848AAF7}"/>
              </a:ext>
            </a:extLst>
          </p:cNvPr>
          <p:cNvSpPr txBox="1"/>
          <p:nvPr/>
        </p:nvSpPr>
        <p:spPr>
          <a:xfrm>
            <a:off x="2330917" y="1412049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BC985F3-717D-82EC-FA92-6397D4A29F9D}"/>
              </a:ext>
            </a:extLst>
          </p:cNvPr>
          <p:cNvSpPr txBox="1"/>
          <p:nvPr/>
        </p:nvSpPr>
        <p:spPr>
          <a:xfrm>
            <a:off x="2797174" y="1412049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AB1C1A5-0173-2269-E1A7-9AD12FFDACC8}"/>
              </a:ext>
            </a:extLst>
          </p:cNvPr>
          <p:cNvSpPr txBox="1"/>
          <p:nvPr/>
        </p:nvSpPr>
        <p:spPr>
          <a:xfrm>
            <a:off x="3249673" y="1405718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4C7E39A-271E-6044-D1CF-90B6982593FA}"/>
              </a:ext>
            </a:extLst>
          </p:cNvPr>
          <p:cNvSpPr txBox="1"/>
          <p:nvPr/>
        </p:nvSpPr>
        <p:spPr>
          <a:xfrm>
            <a:off x="2329890" y="2139271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7BFEA20-5E47-6CE6-518C-4BEA1C653652}"/>
              </a:ext>
            </a:extLst>
          </p:cNvPr>
          <p:cNvSpPr txBox="1"/>
          <p:nvPr/>
        </p:nvSpPr>
        <p:spPr>
          <a:xfrm>
            <a:off x="2790295" y="2139271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1F342C7-5CE9-25CB-EF53-7ED90B79CA1B}"/>
              </a:ext>
            </a:extLst>
          </p:cNvPr>
          <p:cNvSpPr txBox="1"/>
          <p:nvPr/>
        </p:nvSpPr>
        <p:spPr>
          <a:xfrm>
            <a:off x="3247058" y="2138422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="" xmlns:a16="http://schemas.microsoft.com/office/drawing/2014/main" id="{19AC441C-7EFA-4250-AB79-DD413FF94C6D}"/>
                  </a:ext>
                </a:extLst>
              </p:cNvPr>
              <p:cNvSpPr txBox="1"/>
              <p:nvPr/>
            </p:nvSpPr>
            <p:spPr>
              <a:xfrm>
                <a:off x="1081193" y="3539195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AC441C-7EFA-4250-AB79-DD413FF94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93" y="3539195"/>
                <a:ext cx="42862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04F5BEF-8F8E-4167-8416-FA48F8A25E10}"/>
              </a:ext>
            </a:extLst>
          </p:cNvPr>
          <p:cNvSpPr txBox="1"/>
          <p:nvPr/>
        </p:nvSpPr>
        <p:spPr>
          <a:xfrm>
            <a:off x="3325761" y="3647228"/>
            <a:ext cx="34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="" xmlns:a16="http://schemas.microsoft.com/office/drawing/2014/main" id="{7A11E07C-F7DD-49C4-A0AE-472E22DA2A96}"/>
                  </a:ext>
                </a:extLst>
              </p:cNvPr>
              <p:cNvSpPr txBox="1"/>
              <p:nvPr/>
            </p:nvSpPr>
            <p:spPr>
              <a:xfrm>
                <a:off x="3807187" y="3539506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11E07C-F7DD-49C4-A0AE-472E22DA2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187" y="3539506"/>
                <a:ext cx="42862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E82C4E5B-40FD-46AF-B6C5-934BD9752B7A}"/>
                  </a:ext>
                </a:extLst>
              </p:cNvPr>
              <p:cNvSpPr txBox="1"/>
              <p:nvPr/>
            </p:nvSpPr>
            <p:spPr>
              <a:xfrm>
                <a:off x="5639245" y="3539195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2C4E5B-40FD-46AF-B6C5-934BD9752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245" y="3539195"/>
                <a:ext cx="42862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786A77F0-BF1A-4BC9-9FDD-1E3363ED9B97}"/>
                  </a:ext>
                </a:extLst>
              </p:cNvPr>
              <p:cNvSpPr txBox="1"/>
              <p:nvPr/>
            </p:nvSpPr>
            <p:spPr>
              <a:xfrm>
                <a:off x="7469899" y="3536319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86A77F0-BF1A-4BC9-9FDD-1E3363ED9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9899" y="3536319"/>
                <a:ext cx="42862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AB824E35-7701-4897-9011-D791D7B24855}"/>
              </a:ext>
            </a:extLst>
          </p:cNvPr>
          <p:cNvSpPr txBox="1"/>
          <p:nvPr/>
        </p:nvSpPr>
        <p:spPr>
          <a:xfrm>
            <a:off x="3325761" y="3655561"/>
            <a:ext cx="34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/>
              <a:t>□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469A4817-9D56-45A2-8C85-6A3964FF1E8D}"/>
              </a:ext>
            </a:extLst>
          </p:cNvPr>
          <p:cNvSpPr txBox="1"/>
          <p:nvPr/>
        </p:nvSpPr>
        <p:spPr>
          <a:xfrm>
            <a:off x="4649087" y="366887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u="sng" dirty="0"/>
              <a:t>U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B3055425-F1E4-4E69-BDF8-D49A2283E52F}"/>
              </a:ext>
            </a:extLst>
          </p:cNvPr>
          <p:cNvSpPr txBox="1"/>
          <p:nvPr/>
        </p:nvSpPr>
        <p:spPr>
          <a:xfrm>
            <a:off x="6051116" y="366887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u="sng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78275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93827E-7 L -0.09531 0.58117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2904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00031 L -0.09583 0.58025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826" y="28981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4.93827E-7 L -0.09548 0.5811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2904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4.93827E-7 L -0.09532 0.57994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74" y="28981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4.81481E-6 L 0.20469 0.44104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2037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4.81481E-6 L 0.20451 0.44382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26" y="22191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6.17284E-7 L 0.20417 0.4379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208" y="21883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1.85185E-6 L 0.40555 0.29938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78" y="14969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85185E-6 L 0.40434 0.29938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08" y="14969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20988E-6 L 0.40452 0.30124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226" y="150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6" presetClass="emph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56" dur="500" tmFilter="0, 0; .2, .5; .8, .5; 1, 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7" dur="250" autoRev="1" fill="hold"/>
                                        <p:tgtEl>
                                          <p:spTgt spid="1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6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7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6" presetClass="emph" presetSubtype="0" repeatCount="indefinite" fill="hold" grpId="0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6" presetClass="emph" presetSubtype="0" repeatCount="5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 tmFilter="0, 0; .2, .5; .8, .5; 1, 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2" dur="250" autoRev="1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3" grpId="0" animBg="1"/>
      <p:bldP spid="4" grpId="0" animBg="1"/>
      <p:bldP spid="6" grpId="0" animBg="1"/>
      <p:bldP spid="8" grpId="0" animBg="1"/>
      <p:bldP spid="7" grpId="0" animBg="1"/>
      <p:bldP spid="9" grpId="0" animBg="1"/>
      <p:bldP spid="10" grpId="0" animBg="1"/>
      <p:bldP spid="10" grpId="1"/>
      <p:bldP spid="11" grpId="0" animBg="1"/>
      <p:bldP spid="12" grpId="0" animBg="1"/>
      <p:bldP spid="12" grpId="1"/>
      <p:bldP spid="13" grpId="0" animBg="1"/>
      <p:bldP spid="16" grpId="0" animBg="1"/>
      <p:bldP spid="30" grpId="0"/>
      <p:bldP spid="21" grpId="0"/>
      <p:bldP spid="34" grpId="0"/>
      <p:bldP spid="35" grpId="0"/>
      <p:bldP spid="36" grpId="0"/>
      <p:bldP spid="37" grpId="0"/>
      <p:bldP spid="37" grpId="1"/>
      <p:bldP spid="38" grpId="0"/>
      <p:bldP spid="38" grpId="1"/>
      <p:bldP spid="39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3">
            <a:extLst>
              <a:ext uri="{FF2B5EF4-FFF2-40B4-BE49-F238E27FC236}">
                <a16:creationId xmlns="" xmlns:a16="http://schemas.microsoft.com/office/drawing/2014/main" id="{DF746E40-DA0E-810F-CAD4-1790924644F9}"/>
              </a:ext>
            </a:extLst>
          </p:cNvPr>
          <p:cNvGraphicFramePr>
            <a:graphicFrameLocks noGrp="1"/>
          </p:cNvGraphicFramePr>
          <p:nvPr/>
        </p:nvGraphicFramePr>
        <p:xfrm>
          <a:off x="-4080419" y="1370997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28" name="Table 3">
            <a:extLst>
              <a:ext uri="{FF2B5EF4-FFF2-40B4-BE49-F238E27FC236}">
                <a16:creationId xmlns="" xmlns:a16="http://schemas.microsoft.com/office/drawing/2014/main" id="{255CD34B-9431-40B3-A97D-AA6FB2EB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123271"/>
              </p:ext>
            </p:extLst>
          </p:nvPr>
        </p:nvGraphicFramePr>
        <p:xfrm>
          <a:off x="-4498760" y="364722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15" name="Table 3">
            <a:extLst>
              <a:ext uri="{FF2B5EF4-FFF2-40B4-BE49-F238E27FC236}">
                <a16:creationId xmlns="" xmlns:a16="http://schemas.microsoft.com/office/drawing/2014/main" id="{766350FB-A753-E80B-FE53-3652D212354D}"/>
              </a:ext>
            </a:extLst>
          </p:cNvPr>
          <p:cNvGraphicFramePr>
            <a:graphicFrameLocks noGrp="1"/>
          </p:cNvGraphicFramePr>
          <p:nvPr/>
        </p:nvGraphicFramePr>
        <p:xfrm>
          <a:off x="-4080419" y="2095337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985F681F-50D2-8BF6-55DA-77DD6B582FA9}"/>
              </a:ext>
            </a:extLst>
          </p:cNvPr>
          <p:cNvSpPr>
            <a:spLocks noChangeAspect="1"/>
          </p:cNvSpPr>
          <p:nvPr/>
        </p:nvSpPr>
        <p:spPr>
          <a:xfrm>
            <a:off x="3200400" y="26731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q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20105585-37A0-ED0C-3F29-6E17A1B72EB8}"/>
              </a:ext>
            </a:extLst>
          </p:cNvPr>
          <p:cNvGraphicFramePr>
            <a:graphicFrameLocks noGrp="1"/>
          </p:cNvGraphicFramePr>
          <p:nvPr/>
        </p:nvGraphicFramePr>
        <p:xfrm>
          <a:off x="-4080419" y="661051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24" name="Rectangle: Rounded Corners 23">
            <a:extLst>
              <a:ext uri="{FF2B5EF4-FFF2-40B4-BE49-F238E27FC236}">
                <a16:creationId xmlns="" xmlns:a16="http://schemas.microsoft.com/office/drawing/2014/main" id="{9EE692D6-359E-3B79-9D31-1BCB6C9D50DF}"/>
              </a:ext>
            </a:extLst>
          </p:cNvPr>
          <p:cNvSpPr>
            <a:spLocks noChangeAspect="1"/>
          </p:cNvSpPr>
          <p:nvPr/>
        </p:nvSpPr>
        <p:spPr>
          <a:xfrm>
            <a:off x="3108237" y="4452047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q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B4B8433-382F-89D7-80F6-F67CE679CF0D}"/>
              </a:ext>
            </a:extLst>
          </p:cNvPr>
          <p:cNvSpPr txBox="1"/>
          <p:nvPr/>
        </p:nvSpPr>
        <p:spPr>
          <a:xfrm>
            <a:off x="2329890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018EB44-6A37-9FB5-F541-F3BBD261D82B}"/>
              </a:ext>
            </a:extLst>
          </p:cNvPr>
          <p:cNvSpPr txBox="1"/>
          <p:nvPr/>
        </p:nvSpPr>
        <p:spPr>
          <a:xfrm>
            <a:off x="2797174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3C0A3B7-7E28-1654-C6BE-349E0F645BA4}"/>
              </a:ext>
            </a:extLst>
          </p:cNvPr>
          <p:cNvSpPr txBox="1"/>
          <p:nvPr/>
        </p:nvSpPr>
        <p:spPr>
          <a:xfrm>
            <a:off x="3247058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78047D4-7F0A-BF2D-7377-C046805337E7}"/>
              </a:ext>
            </a:extLst>
          </p:cNvPr>
          <p:cNvSpPr txBox="1"/>
          <p:nvPr/>
        </p:nvSpPr>
        <p:spPr>
          <a:xfrm>
            <a:off x="3710543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7F44D1-1FFF-4A2B-3CC1-75970825CC7C}"/>
              </a:ext>
            </a:extLst>
          </p:cNvPr>
          <p:cNvSpPr/>
          <p:nvPr/>
        </p:nvSpPr>
        <p:spPr>
          <a:xfrm>
            <a:off x="4118190" y="62535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BC985F3-717D-82EC-FA92-6397D4A29F9D}"/>
              </a:ext>
            </a:extLst>
          </p:cNvPr>
          <p:cNvSpPr txBox="1"/>
          <p:nvPr/>
        </p:nvSpPr>
        <p:spPr>
          <a:xfrm>
            <a:off x="2797174" y="1412049"/>
            <a:ext cx="428625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D26B5E0-7C64-DA5B-68A3-D2F2A848AAF7}"/>
              </a:ext>
            </a:extLst>
          </p:cNvPr>
          <p:cNvSpPr txBox="1"/>
          <p:nvPr/>
        </p:nvSpPr>
        <p:spPr>
          <a:xfrm>
            <a:off x="2330917" y="1412049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AB1C1A5-0173-2269-E1A7-9AD12FFDACC8}"/>
              </a:ext>
            </a:extLst>
          </p:cNvPr>
          <p:cNvSpPr txBox="1"/>
          <p:nvPr/>
        </p:nvSpPr>
        <p:spPr>
          <a:xfrm>
            <a:off x="3249673" y="1405718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4C7E39A-271E-6044-D1CF-90B6982593FA}"/>
              </a:ext>
            </a:extLst>
          </p:cNvPr>
          <p:cNvSpPr txBox="1"/>
          <p:nvPr/>
        </p:nvSpPr>
        <p:spPr>
          <a:xfrm>
            <a:off x="2329890" y="2139271"/>
            <a:ext cx="428625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7BFEA20-5E47-6CE6-518C-4BEA1C653652}"/>
              </a:ext>
            </a:extLst>
          </p:cNvPr>
          <p:cNvSpPr txBox="1"/>
          <p:nvPr/>
        </p:nvSpPr>
        <p:spPr>
          <a:xfrm>
            <a:off x="2790295" y="2139271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1F342C7-5CE9-25CB-EF53-7ED90B79CA1B}"/>
              </a:ext>
            </a:extLst>
          </p:cNvPr>
          <p:cNvSpPr txBox="1"/>
          <p:nvPr/>
        </p:nvSpPr>
        <p:spPr>
          <a:xfrm>
            <a:off x="3247058" y="2138422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="" xmlns:a16="http://schemas.microsoft.com/office/drawing/2014/main" id="{19AC441C-7EFA-4250-AB79-DD413FF94C6D}"/>
                  </a:ext>
                </a:extLst>
              </p:cNvPr>
              <p:cNvSpPr txBox="1"/>
              <p:nvPr/>
            </p:nvSpPr>
            <p:spPr>
              <a:xfrm>
                <a:off x="1081193" y="3539195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AC441C-7EFA-4250-AB79-DD413FF94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93" y="3539195"/>
                <a:ext cx="42862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04F5BEF-8F8E-4167-8416-FA48F8A25E10}"/>
              </a:ext>
            </a:extLst>
          </p:cNvPr>
          <p:cNvSpPr txBox="1"/>
          <p:nvPr/>
        </p:nvSpPr>
        <p:spPr>
          <a:xfrm>
            <a:off x="3325761" y="3647228"/>
            <a:ext cx="34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="" xmlns:a16="http://schemas.microsoft.com/office/drawing/2014/main" id="{7A11E07C-F7DD-49C4-A0AE-472E22DA2A96}"/>
                  </a:ext>
                </a:extLst>
              </p:cNvPr>
              <p:cNvSpPr txBox="1"/>
              <p:nvPr/>
            </p:nvSpPr>
            <p:spPr>
              <a:xfrm>
                <a:off x="3807187" y="3539506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11E07C-F7DD-49C4-A0AE-472E22DA2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187" y="3539506"/>
                <a:ext cx="42862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E82C4E5B-40FD-46AF-B6C5-934BD9752B7A}"/>
                  </a:ext>
                </a:extLst>
              </p:cNvPr>
              <p:cNvSpPr txBox="1"/>
              <p:nvPr/>
            </p:nvSpPr>
            <p:spPr>
              <a:xfrm>
                <a:off x="5639245" y="3539195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2C4E5B-40FD-46AF-B6C5-934BD9752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245" y="3539195"/>
                <a:ext cx="42862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786A77F0-BF1A-4BC9-9FDD-1E3363ED9B97}"/>
                  </a:ext>
                </a:extLst>
              </p:cNvPr>
              <p:cNvSpPr txBox="1"/>
              <p:nvPr/>
            </p:nvSpPr>
            <p:spPr>
              <a:xfrm>
                <a:off x="7469899" y="3536319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786A77F0-BF1A-4BC9-9FDD-1E3363ED9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9899" y="3536319"/>
                <a:ext cx="42862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AB824E35-7701-4897-9011-D791D7B24855}"/>
              </a:ext>
            </a:extLst>
          </p:cNvPr>
          <p:cNvSpPr txBox="1"/>
          <p:nvPr/>
        </p:nvSpPr>
        <p:spPr>
          <a:xfrm>
            <a:off x="3325761" y="3655561"/>
            <a:ext cx="34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/>
              <a:t>□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469A4817-9D56-45A2-8C85-6A3964FF1E8D}"/>
              </a:ext>
            </a:extLst>
          </p:cNvPr>
          <p:cNvSpPr txBox="1"/>
          <p:nvPr/>
        </p:nvSpPr>
        <p:spPr>
          <a:xfrm>
            <a:off x="4649087" y="366887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u="sng" dirty="0"/>
              <a:t>U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B3055425-F1E4-4E69-BDF8-D49A2283E52F}"/>
              </a:ext>
            </a:extLst>
          </p:cNvPr>
          <p:cNvSpPr txBox="1"/>
          <p:nvPr/>
        </p:nvSpPr>
        <p:spPr>
          <a:xfrm>
            <a:off x="6051116" y="366887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u="sng" dirty="0"/>
              <a:t>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5CCEEEBC-70E8-45DA-81FD-CB26075634F7}"/>
                  </a:ext>
                </a:extLst>
              </p:cNvPr>
              <p:cNvSpPr txBox="1"/>
              <p:nvPr/>
            </p:nvSpPr>
            <p:spPr>
              <a:xfrm>
                <a:off x="759191" y="2811008"/>
                <a:ext cx="7307826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dirty="0"/>
                            <m:t>□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, 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U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, 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7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)) = (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s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, ((□,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 −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 →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CCEEEBC-70E8-45DA-81FD-CB2607563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191" y="2811008"/>
                <a:ext cx="7307826" cy="400110"/>
              </a:xfrm>
              <a:prstGeom prst="rect">
                <a:avLst/>
              </a:prstGeom>
              <a:blipFill rotWithShape="1"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99ABDC4C-46D2-47AE-B8EA-414DF06A6646}"/>
              </a:ext>
            </a:extLst>
          </p:cNvPr>
          <p:cNvSpPr>
            <a:spLocks noChangeAspect="1"/>
          </p:cNvSpPr>
          <p:nvPr/>
        </p:nvSpPr>
        <p:spPr>
          <a:xfrm>
            <a:off x="3207742" y="26731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BDFCCE10-E547-042C-D1D4-04E11B8A135A}"/>
              </a:ext>
            </a:extLst>
          </p:cNvPr>
          <p:cNvSpPr/>
          <p:nvPr/>
        </p:nvSpPr>
        <p:spPr>
          <a:xfrm>
            <a:off x="2741083" y="132412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5BAFCFD-20A5-3B52-E18E-111A4BFF5974}"/>
              </a:ext>
            </a:extLst>
          </p:cNvPr>
          <p:cNvSpPr/>
          <p:nvPr/>
        </p:nvSpPr>
        <p:spPr>
          <a:xfrm>
            <a:off x="2283753" y="2059630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: Rounded Corners 42">
                <a:extLst>
                  <a:ext uri="{FF2B5EF4-FFF2-40B4-BE49-F238E27FC236}">
                    <a16:creationId xmlns="" xmlns:a16="http://schemas.microsoft.com/office/drawing/2014/main" id="{5B3399C6-A796-423F-B3FC-1568FDFC586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52047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q_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3" name="Rectangle: Rounded Corners 42">
                <a:extLst>
                  <a:ext uri="{FF2B5EF4-FFF2-40B4-BE49-F238E27FC236}">
                    <a16:creationId xmlns:a16="http://schemas.microsoft.com/office/drawing/2014/main" id="{5B3399C6-A796-423F-B3FC-1568FDFC58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52047"/>
                <a:ext cx="2927526" cy="457200"/>
              </a:xfrm>
              <a:prstGeom prst="roundRect">
                <a:avLst/>
              </a:prstGeom>
              <a:blipFill>
                <a:blip r:embed="rId8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: Rounded Corners 43">
                <a:extLst>
                  <a:ext uri="{FF2B5EF4-FFF2-40B4-BE49-F238E27FC236}">
                    <a16:creationId xmlns="" xmlns:a16="http://schemas.microsoft.com/office/drawing/2014/main" id="{144BFD73-7AB1-4E9E-B96E-3AACA5B8733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47607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q_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4" name="Rectangle: Rounded Corners 43">
                <a:extLst>
                  <a:ext uri="{FF2B5EF4-FFF2-40B4-BE49-F238E27FC236}">
                    <a16:creationId xmlns:a16="http://schemas.microsoft.com/office/drawing/2014/main" id="{144BFD73-7AB1-4E9E-B96E-3AACA5B873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47607"/>
                <a:ext cx="2927526" cy="457200"/>
              </a:xfrm>
              <a:prstGeom prst="roundRect">
                <a:avLst/>
              </a:prstGeom>
              <a:blipFill>
                <a:blip r:embed="rId9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44">
                <a:extLst>
                  <a:ext uri="{FF2B5EF4-FFF2-40B4-BE49-F238E27FC236}">
                    <a16:creationId xmlns="" xmlns:a16="http://schemas.microsoft.com/office/drawing/2014/main" id="{737B1A86-D803-4358-80C7-B4E42C2FBB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51934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q_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5" name="Rectangle: Rounded Corners 44">
                <a:extLst>
                  <a:ext uri="{FF2B5EF4-FFF2-40B4-BE49-F238E27FC236}">
                    <a16:creationId xmlns:a16="http://schemas.microsoft.com/office/drawing/2014/main" id="{737B1A86-D803-4358-80C7-B4E42C2FBB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51934"/>
                <a:ext cx="2927526" cy="457200"/>
              </a:xfrm>
              <a:prstGeom prst="roundRect">
                <a:avLst/>
              </a:prstGeom>
              <a:blipFill>
                <a:blip r:embed="rId10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="" xmlns:a16="http://schemas.microsoft.com/office/drawing/2014/main" id="{B2635D0C-A0EF-4B51-91B3-919C82FDA0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47607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s</a:t>
                </a:r>
                <a:r>
                  <a:rPr lang="ro-RO" sz="2400" b="1" baseline="30000" dirty="0"/>
                  <a:t>3</a:t>
                </a:r>
                <a:r>
                  <a:rPr lang="ro-RO" sz="2400" b="1" dirty="0"/>
                  <a:t>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B2635D0C-A0EF-4B51-91B3-919C82FDA0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47607"/>
                <a:ext cx="2927526" cy="457200"/>
              </a:xfrm>
              <a:prstGeom prst="roundRect">
                <a:avLst/>
              </a:prstGeom>
              <a:blipFill>
                <a:blip r:embed="rId11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46645F16-DED8-404B-829E-2355FD4AF326}"/>
              </a:ext>
            </a:extLst>
          </p:cNvPr>
          <p:cNvSpPr txBox="1"/>
          <p:nvPr/>
        </p:nvSpPr>
        <p:spPr>
          <a:xfrm>
            <a:off x="6027061" y="3677208"/>
            <a:ext cx="428625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ro-RO" sz="1800" dirty="0"/>
              <a:t>8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: Rounded Corners 47">
                <a:extLst>
                  <a:ext uri="{FF2B5EF4-FFF2-40B4-BE49-F238E27FC236}">
                    <a16:creationId xmlns="" xmlns:a16="http://schemas.microsoft.com/office/drawing/2014/main" id="{6D927CE2-26DF-45D0-ADC9-74E4FFA93F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53823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auxR_s</a:t>
                </a:r>
                <a:r>
                  <a:rPr lang="ro-RO" sz="2400" b="1" baseline="30000" dirty="0"/>
                  <a:t>3</a:t>
                </a:r>
                <a:r>
                  <a:rPr lang="ro-RO" sz="2400" b="1" dirty="0"/>
                  <a:t>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6D927CE2-26DF-45D0-ADC9-74E4FFA93F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53823"/>
                <a:ext cx="2927526" cy="457200"/>
              </a:xfrm>
              <a:prstGeom prst="roundRect">
                <a:avLst/>
              </a:prstGeom>
              <a:blipFill>
                <a:blip r:embed="rId12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="" xmlns:a16="http://schemas.microsoft.com/office/drawing/2014/main" id="{29CE7EDD-4CB1-4EDB-956B-D9DCD400F384}"/>
              </a:ext>
            </a:extLst>
          </p:cNvPr>
          <p:cNvSpPr txBox="1"/>
          <p:nvPr/>
        </p:nvSpPr>
        <p:spPr>
          <a:xfrm>
            <a:off x="6486934" y="3683283"/>
            <a:ext cx="428625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ro-RO" sz="1800" u="sng" dirty="0"/>
              <a:t>7</a:t>
            </a:r>
            <a:endParaRPr lang="en-US" sz="1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: Rounded Corners 49">
                <a:extLst>
                  <a:ext uri="{FF2B5EF4-FFF2-40B4-BE49-F238E27FC236}">
                    <a16:creationId xmlns="" xmlns:a16="http://schemas.microsoft.com/office/drawing/2014/main" id="{BF33809E-0EA3-45AE-A3A4-08ABD9F9A9B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44381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s</a:t>
                </a:r>
                <a:r>
                  <a:rPr lang="ro-RO" sz="2400" b="1" baseline="30000" dirty="0"/>
                  <a:t>2</a:t>
                </a:r>
                <a:r>
                  <a:rPr lang="ro-RO" sz="2400" b="1" dirty="0"/>
                  <a:t>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0" name="Rectangle: Rounded Corners 49">
                <a:extLst>
                  <a:ext uri="{FF2B5EF4-FFF2-40B4-BE49-F238E27FC236}">
                    <a16:creationId xmlns:a16="http://schemas.microsoft.com/office/drawing/2014/main" id="{BF33809E-0EA3-45AE-A3A4-08ABD9F9A9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44381"/>
                <a:ext cx="2927526" cy="457200"/>
              </a:xfrm>
              <a:prstGeom prst="roundRect">
                <a:avLst/>
              </a:prstGeom>
              <a:blipFill>
                <a:blip r:embed="rId13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: Rounded Corners 50">
                <a:extLst>
                  <a:ext uri="{FF2B5EF4-FFF2-40B4-BE49-F238E27FC236}">
                    <a16:creationId xmlns="" xmlns:a16="http://schemas.microsoft.com/office/drawing/2014/main" id="{0B3784B0-D43F-4FA2-AB2D-41F8F20CA0C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12293" y="4438515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s</a:t>
                </a:r>
                <a:r>
                  <a:rPr lang="ro-RO" sz="2400" b="1" baseline="30000" dirty="0"/>
                  <a:t>1</a:t>
                </a:r>
                <a:r>
                  <a:rPr lang="ro-RO" sz="2400" b="1" dirty="0"/>
                  <a:t>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0B3784B0-D43F-4FA2-AB2D-41F8F20CA0C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2293" y="4438515"/>
                <a:ext cx="2927526" cy="457200"/>
              </a:xfrm>
              <a:prstGeom prst="roundRect">
                <a:avLst/>
              </a:prstGeom>
              <a:blipFill>
                <a:blip r:embed="rId14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8AD77296-4EEB-4507-88D2-5BD50ED175A3}"/>
              </a:ext>
            </a:extLst>
          </p:cNvPr>
          <p:cNvSpPr txBox="1"/>
          <p:nvPr/>
        </p:nvSpPr>
        <p:spPr>
          <a:xfrm>
            <a:off x="4664958" y="3672669"/>
            <a:ext cx="428625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ro-RO" sz="1800" u="sng" dirty="0"/>
              <a:t>t</a:t>
            </a:r>
            <a:endParaRPr lang="en-US" sz="1800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: Rounded Corners 52">
                <a:extLst>
                  <a:ext uri="{FF2B5EF4-FFF2-40B4-BE49-F238E27FC236}">
                    <a16:creationId xmlns="" xmlns:a16="http://schemas.microsoft.com/office/drawing/2014/main" id="{275F92F4-2275-4F04-93CE-56896E223FF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93003" y="4445831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auxL_s</a:t>
                </a:r>
                <a:r>
                  <a:rPr lang="ro-RO" sz="2400" b="1" baseline="30000" dirty="0"/>
                  <a:t>1</a:t>
                </a:r>
                <a:r>
                  <a:rPr lang="ro-RO" sz="2400" b="1" dirty="0"/>
                  <a:t>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3" name="Rectangle: Rounded Corners 52">
                <a:extLst>
                  <a:ext uri="{FF2B5EF4-FFF2-40B4-BE49-F238E27FC236}">
                    <a16:creationId xmlns:a16="http://schemas.microsoft.com/office/drawing/2014/main" id="{275F92F4-2275-4F04-93CE-56896E223F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003" y="4445831"/>
                <a:ext cx="2927526" cy="457200"/>
              </a:xfrm>
              <a:prstGeom prst="roundRect">
                <a:avLst/>
              </a:prstGeom>
              <a:blipFill>
                <a:blip r:embed="rId15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CAFE8ED8-BEBE-446A-8460-99AE2F7D358E}"/>
              </a:ext>
            </a:extLst>
          </p:cNvPr>
          <p:cNvSpPr txBox="1"/>
          <p:nvPr/>
        </p:nvSpPr>
        <p:spPr>
          <a:xfrm>
            <a:off x="3324878" y="3704926"/>
            <a:ext cx="349922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800" dirty="0"/>
              <a:t>□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="" xmlns:a16="http://schemas.microsoft.com/office/drawing/2014/main" id="{A19E74BC-C727-4291-8C2C-FC9CF590B299}"/>
              </a:ext>
            </a:extLst>
          </p:cNvPr>
          <p:cNvSpPr>
            <a:spLocks noChangeAspect="1"/>
          </p:cNvSpPr>
          <p:nvPr/>
        </p:nvSpPr>
        <p:spPr>
          <a:xfrm>
            <a:off x="3093003" y="4438515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2400" b="1" dirty="0"/>
              <a:t>s</a:t>
            </a:r>
            <a:endParaRPr lang="en-US" sz="2400" b="1" dirty="0"/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A22CF44F-F3A8-49A9-802A-A4879B6AC930}"/>
              </a:ext>
            </a:extLst>
          </p:cNvPr>
          <p:cNvSpPr txBox="1"/>
          <p:nvPr/>
        </p:nvSpPr>
        <p:spPr>
          <a:xfrm>
            <a:off x="2869151" y="3677208"/>
            <a:ext cx="349922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ro-RO" sz="1800" u="sng" dirty="0"/>
              <a:t>r</a:t>
            </a:r>
            <a:endParaRPr lang="en-US" sz="1800" u="sng" dirty="0"/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0674E725-812B-6009-BD49-1E7E26C87D98}"/>
              </a:ext>
            </a:extLst>
          </p:cNvPr>
          <p:cNvSpPr/>
          <p:nvPr/>
        </p:nvSpPr>
        <p:spPr>
          <a:xfrm>
            <a:off x="1412158" y="3597863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3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04879 0.00031 " pathEditMode="relative" rAng="0" ptsTypes="AA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0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85185E-6 L 0.05086 -0.00092 " pathEditMode="relative" rAng="0" ptsTypes="AA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5" y="-62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4.07407E-6 L 0.05035 4.07407E-6 " pathEditMode="relative" rAng="0" ptsTypes="AA">
                                      <p:cBhvr>
                                        <p:cTn id="2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035 4.07407E-6 L 0.1007 -0.00155 " pathEditMode="relative" rAng="0" ptsTypes="AA">
                                      <p:cBhvr>
                                        <p:cTn id="2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07 -0.00155 L 0.15035 -0.00155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035 -0.00155 L 0.19914 4.07407E-6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1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13 8.64198E-7 L 0.24948 0.00154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947 0.00154 L 0.29983 0.00277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983 0.00277 L 0.34861 0.00277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path" presetSubtype="0" accel="50000" decel="5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861 0.00277 L 0.39914 0.00277 " pathEditMode="relative" rAng="0" ptsTypes="AA">
                                      <p:cBhvr>
                                        <p:cTn id="5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913 0.00277 L 0.45035 0.00154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74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9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034 0.00154 L 0.49983 0.00154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grpId="1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983 0.00154 L 0.5467 0.00277 " pathEditMode="relative" rAng="0" ptsTypes="AA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4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42" presetClass="path" presetSubtype="0" accel="50000" decel="5000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67 0.00277 L 0.49983 0.00154 " pathEditMode="relative" rAng="0" ptsTypes="AA">
                                      <p:cBhvr>
                                        <p:cTn id="9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4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42" presetClass="path" presetSubtype="0" accel="50000" decel="5000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9983 0.00154 L 0.45034 0.00154 " pathEditMode="relative" rAng="0" ptsTypes="AA">
                                      <p:cBhvr>
                                        <p:cTn id="10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path" presetSubtype="0" accel="50000" decel="50000" fill="hold" grpId="1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5035 0.00154 L 0.39913 0.00278 " pathEditMode="relative" rAng="0" ptsTypes="AA">
                                      <p:cBhvr>
                                        <p:cTn id="10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42" presetClass="path" presetSubtype="0" accel="50000" decel="5000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914 0.00277 L 0.34861 0.00278 " pathEditMode="relative" rAng="0" ptsTypes="AA">
                                      <p:cBhvr>
                                        <p:cTn id="10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4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42" presetClass="path" presetSubtype="0" accel="50000" decel="5000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861 0.00277 L 0.29983 0.00277 " pathEditMode="relative" rAng="0" ptsTypes="AA">
                                      <p:cBhvr>
                                        <p:cTn id="12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path" presetSubtype="0" accel="50000" decel="5000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983 0.00277 L 0.24948 0.00155 " pathEditMode="relative" rAng="0" ptsTypes="AA">
                                      <p:cBhvr>
                                        <p:cTn id="12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9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42" presetClass="path" presetSubtype="0" accel="50000" decel="50000" fill="hold" grpId="1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948 0.00155 L 0.19914 4.07407E-6 " pathEditMode="relative" rAng="0" ptsTypes="AA">
                                      <p:cBhvr>
                                        <p:cTn id="12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42" presetClass="path" presetSubtype="0" accel="50000" decel="5000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13 4.07407E-6 L 0.15035 -0.00155 " pathEditMode="relative" rAng="0" ptsTypes="AA">
                                      <p:cBhvr>
                                        <p:cTn id="140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17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2" grpId="0" animBg="1"/>
      <p:bldP spid="39" grpId="0"/>
      <p:bldP spid="40" grpId="0"/>
      <p:bldP spid="42" grpId="0" animBg="1"/>
      <p:bldP spid="18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25" grpId="0" animBg="1"/>
      <p:bldP spid="25" grpId="1" animBg="1"/>
      <p:bldP spid="25" grpId="2" animBg="1"/>
      <p:bldP spid="25" grpId="3" animBg="1"/>
      <p:bldP spid="25" grpId="4" animBg="1"/>
      <p:bldP spid="25" grpId="5" animBg="1"/>
      <p:bldP spid="25" grpId="6" animBg="1"/>
      <p:bldP spid="25" grpId="7" animBg="1"/>
      <p:bldP spid="25" grpId="8" animBg="1"/>
      <p:bldP spid="25" grpId="9" animBg="1"/>
      <p:bldP spid="25" grpId="10" animBg="1"/>
      <p:bldP spid="25" grpId="11" animBg="1"/>
      <p:bldP spid="25" grpId="12" animBg="1"/>
      <p:bldP spid="25" grpId="13" animBg="1"/>
      <p:bldP spid="25" grpId="14" animBg="1"/>
      <p:bldP spid="25" grpId="15" animBg="1"/>
      <p:bldP spid="25" grpId="16" animBg="1"/>
      <p:bldP spid="25" grpId="17" animBg="1"/>
      <p:bldP spid="25" grpId="18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3">
            <a:extLst>
              <a:ext uri="{FF2B5EF4-FFF2-40B4-BE49-F238E27FC236}">
                <a16:creationId xmlns="" xmlns:a16="http://schemas.microsoft.com/office/drawing/2014/main" id="{255CD34B-9431-40B3-A97D-AA6FB2EB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3322326"/>
              </p:ext>
            </p:extLst>
          </p:nvPr>
        </p:nvGraphicFramePr>
        <p:xfrm>
          <a:off x="-4498760" y="364722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15" name="Table 3">
            <a:extLst>
              <a:ext uri="{FF2B5EF4-FFF2-40B4-BE49-F238E27FC236}">
                <a16:creationId xmlns="" xmlns:a16="http://schemas.microsoft.com/office/drawing/2014/main" id="{766350FB-A753-E80B-FE53-3652D2123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4506583"/>
              </p:ext>
            </p:extLst>
          </p:nvPr>
        </p:nvGraphicFramePr>
        <p:xfrm>
          <a:off x="-4080419" y="2095337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7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6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14" name="Table 3">
            <a:extLst>
              <a:ext uri="{FF2B5EF4-FFF2-40B4-BE49-F238E27FC236}">
                <a16:creationId xmlns="" xmlns:a16="http://schemas.microsoft.com/office/drawing/2014/main" id="{DF746E40-DA0E-810F-CAD4-1790924644F9}"/>
              </a:ext>
            </a:extLst>
          </p:cNvPr>
          <p:cNvGraphicFramePr>
            <a:graphicFrameLocks noGrp="1"/>
          </p:cNvGraphicFramePr>
          <p:nvPr/>
        </p:nvGraphicFramePr>
        <p:xfrm>
          <a:off x="-4080419" y="1370997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4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u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: Rounded Corners 45">
                <a:extLst>
                  <a:ext uri="{FF2B5EF4-FFF2-40B4-BE49-F238E27FC236}">
                    <a16:creationId xmlns="" xmlns:a16="http://schemas.microsoft.com/office/drawing/2014/main" id="{B2635D0C-A0EF-4B51-91B3-919C82FDA0A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46745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s</a:t>
                </a:r>
                <a:r>
                  <a:rPr lang="ro-RO" sz="2400" b="1" baseline="30000" dirty="0"/>
                  <a:t>3</a:t>
                </a:r>
                <a:r>
                  <a:rPr lang="ro-RO" sz="2400" b="1" dirty="0"/>
                  <a:t>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B2635D0C-A0EF-4B51-91B3-919C82FDA0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46745"/>
                <a:ext cx="2927526" cy="457200"/>
              </a:xfrm>
              <a:prstGeom prst="roundRect">
                <a:avLst/>
              </a:prstGeom>
              <a:blipFill>
                <a:blip r:embed="rId3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="" xmlns:a16="http://schemas.microsoft.com/office/drawing/2014/main" id="{985F681F-50D2-8BF6-55DA-77DD6B582FA9}"/>
              </a:ext>
            </a:extLst>
          </p:cNvPr>
          <p:cNvSpPr>
            <a:spLocks noChangeAspect="1"/>
          </p:cNvSpPr>
          <p:nvPr/>
        </p:nvSpPr>
        <p:spPr>
          <a:xfrm>
            <a:off x="3200400" y="26731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q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20105585-37A0-ED0C-3F29-6E17A1B72EB8}"/>
              </a:ext>
            </a:extLst>
          </p:cNvPr>
          <p:cNvGraphicFramePr>
            <a:graphicFrameLocks noGrp="1"/>
          </p:cNvGraphicFramePr>
          <p:nvPr/>
        </p:nvGraphicFramePr>
        <p:xfrm>
          <a:off x="-4080419" y="661051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2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BB4B8433-382F-89D7-80F6-F67CE679CF0D}"/>
              </a:ext>
            </a:extLst>
          </p:cNvPr>
          <p:cNvSpPr txBox="1"/>
          <p:nvPr/>
        </p:nvSpPr>
        <p:spPr>
          <a:xfrm>
            <a:off x="2329890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C018EB44-6A37-9FB5-F541-F3BBD261D82B}"/>
              </a:ext>
            </a:extLst>
          </p:cNvPr>
          <p:cNvSpPr txBox="1"/>
          <p:nvPr/>
        </p:nvSpPr>
        <p:spPr>
          <a:xfrm>
            <a:off x="2797174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23C0A3B7-7E28-1654-C6BE-349E0F645BA4}"/>
              </a:ext>
            </a:extLst>
          </p:cNvPr>
          <p:cNvSpPr txBox="1"/>
          <p:nvPr/>
        </p:nvSpPr>
        <p:spPr>
          <a:xfrm>
            <a:off x="3247058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678047D4-7F0A-BF2D-7377-C046805337E7}"/>
              </a:ext>
            </a:extLst>
          </p:cNvPr>
          <p:cNvSpPr txBox="1"/>
          <p:nvPr/>
        </p:nvSpPr>
        <p:spPr>
          <a:xfrm>
            <a:off x="3710543" y="70498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7F44D1-1FFF-4A2B-3CC1-75970825CC7C}"/>
              </a:ext>
            </a:extLst>
          </p:cNvPr>
          <p:cNvSpPr/>
          <p:nvPr/>
        </p:nvSpPr>
        <p:spPr>
          <a:xfrm>
            <a:off x="4118190" y="62535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0BC985F3-717D-82EC-FA92-6397D4A29F9D}"/>
              </a:ext>
            </a:extLst>
          </p:cNvPr>
          <p:cNvSpPr txBox="1"/>
          <p:nvPr/>
        </p:nvSpPr>
        <p:spPr>
          <a:xfrm>
            <a:off x="2797174" y="1412049"/>
            <a:ext cx="428625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D26B5E0-7C64-DA5B-68A3-D2F2A848AAF7}"/>
              </a:ext>
            </a:extLst>
          </p:cNvPr>
          <p:cNvSpPr txBox="1"/>
          <p:nvPr/>
        </p:nvSpPr>
        <p:spPr>
          <a:xfrm>
            <a:off x="2330917" y="1412049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EAB1C1A5-0173-2269-E1A7-9AD12FFDACC8}"/>
              </a:ext>
            </a:extLst>
          </p:cNvPr>
          <p:cNvSpPr txBox="1"/>
          <p:nvPr/>
        </p:nvSpPr>
        <p:spPr>
          <a:xfrm>
            <a:off x="3249673" y="1405718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04C7E39A-271E-6044-D1CF-90B6982593FA}"/>
              </a:ext>
            </a:extLst>
          </p:cNvPr>
          <p:cNvSpPr txBox="1"/>
          <p:nvPr/>
        </p:nvSpPr>
        <p:spPr>
          <a:xfrm>
            <a:off x="2329890" y="2139271"/>
            <a:ext cx="428625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D7BFEA20-5E47-6CE6-518C-4BEA1C653652}"/>
              </a:ext>
            </a:extLst>
          </p:cNvPr>
          <p:cNvSpPr txBox="1"/>
          <p:nvPr/>
        </p:nvSpPr>
        <p:spPr>
          <a:xfrm>
            <a:off x="2790295" y="2139271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11F342C7-5CE9-25CB-EF53-7ED90B79CA1B}"/>
              </a:ext>
            </a:extLst>
          </p:cNvPr>
          <p:cNvSpPr txBox="1"/>
          <p:nvPr/>
        </p:nvSpPr>
        <p:spPr>
          <a:xfrm>
            <a:off x="3247058" y="2138422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="" xmlns:a16="http://schemas.microsoft.com/office/drawing/2014/main" id="{19AC441C-7EFA-4250-AB79-DD413FF94C6D}"/>
                  </a:ext>
                </a:extLst>
              </p:cNvPr>
              <p:cNvSpPr txBox="1"/>
              <p:nvPr/>
            </p:nvSpPr>
            <p:spPr>
              <a:xfrm>
                <a:off x="1081193" y="3539195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9AC441C-7EFA-4250-AB79-DD413FF94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1193" y="3539195"/>
                <a:ext cx="42862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F04F5BEF-8F8E-4167-8416-FA48F8A25E10}"/>
              </a:ext>
            </a:extLst>
          </p:cNvPr>
          <p:cNvSpPr txBox="1"/>
          <p:nvPr/>
        </p:nvSpPr>
        <p:spPr>
          <a:xfrm>
            <a:off x="3325761" y="3647228"/>
            <a:ext cx="34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="" xmlns:a16="http://schemas.microsoft.com/office/drawing/2014/main" id="{7A11E07C-F7DD-49C4-A0AE-472E22DA2A96}"/>
                  </a:ext>
                </a:extLst>
              </p:cNvPr>
              <p:cNvSpPr txBox="1"/>
              <p:nvPr/>
            </p:nvSpPr>
            <p:spPr>
              <a:xfrm>
                <a:off x="3807187" y="3539506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A11E07C-F7DD-49C4-A0AE-472E22DA2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187" y="3539506"/>
                <a:ext cx="428625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E82C4E5B-40FD-46AF-B6C5-934BD9752B7A}"/>
                  </a:ext>
                </a:extLst>
              </p:cNvPr>
              <p:cNvSpPr txBox="1"/>
              <p:nvPr/>
            </p:nvSpPr>
            <p:spPr>
              <a:xfrm>
                <a:off x="5639245" y="3539195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E82C4E5B-40FD-46AF-B6C5-934BD9752B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245" y="3539195"/>
                <a:ext cx="42862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786A77F0-BF1A-4BC9-9FDD-1E3363ED9B97}"/>
                  </a:ext>
                </a:extLst>
              </p:cNvPr>
              <p:cNvSpPr txBox="1"/>
              <p:nvPr/>
            </p:nvSpPr>
            <p:spPr>
              <a:xfrm>
                <a:off x="7449161" y="3538811"/>
                <a:ext cx="428625" cy="584775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⋄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86A77F0-BF1A-4BC9-9FDD-1E3363ED9B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161" y="3538811"/>
                <a:ext cx="428625" cy="58477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AB824E35-7701-4897-9011-D791D7B24855}"/>
              </a:ext>
            </a:extLst>
          </p:cNvPr>
          <p:cNvSpPr txBox="1"/>
          <p:nvPr/>
        </p:nvSpPr>
        <p:spPr>
          <a:xfrm>
            <a:off x="3325761" y="3655561"/>
            <a:ext cx="349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u="sng" dirty="0"/>
              <a:t>□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469A4817-9D56-45A2-8C85-6A3964FF1E8D}"/>
              </a:ext>
            </a:extLst>
          </p:cNvPr>
          <p:cNvSpPr txBox="1"/>
          <p:nvPr/>
        </p:nvSpPr>
        <p:spPr>
          <a:xfrm>
            <a:off x="4649087" y="366887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u="sng" dirty="0"/>
              <a:t>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="" xmlns:a16="http://schemas.microsoft.com/office/drawing/2014/main" id="{5CCEEEBC-70E8-45DA-81FD-CB26075634F7}"/>
                  </a:ext>
                </a:extLst>
              </p:cNvPr>
              <p:cNvSpPr txBox="1"/>
              <p:nvPr/>
            </p:nvSpPr>
            <p:spPr>
              <a:xfrm>
                <a:off x="737419" y="2811008"/>
                <a:ext cx="7307826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m:rPr>
                              <m:nor/>
                            </m:rPr>
                            <a:rPr lang="en-US" sz="2000" dirty="0"/>
                            <m:t>□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, 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U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, 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7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)) =(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s</m:t>
                          </m:r>
                          <m:r>
                            <m:rPr>
                              <m:nor/>
                            </m:rPr>
                            <a:rPr lang="en-US" sz="2000" b="0" i="0" dirty="0" smtClean="0"/>
                            <m:t>, ((□, 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→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 −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sz="2000" b="0" i="1" dirty="0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  <m:r>
                            <a:rPr lang="en-US" sz="2000" b="0" i="1" dirty="0" smtClean="0">
                              <a:latin typeface="Cambria Math" panose="02040503050406030204" pitchFamily="18" charset="0"/>
                            </a:rPr>
                            <m:t>, ←</m:t>
                          </m:r>
                        </m:e>
                      </m:d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CCEEEBC-70E8-45DA-81FD-CB2607563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419" y="2811008"/>
                <a:ext cx="7307826" cy="400110"/>
              </a:xfrm>
              <a:prstGeom prst="rect">
                <a:avLst/>
              </a:prstGeom>
              <a:blipFill>
                <a:blip r:embed="rId8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99ABDC4C-46D2-47AE-B8EA-414DF06A6646}"/>
              </a:ext>
            </a:extLst>
          </p:cNvPr>
          <p:cNvSpPr>
            <a:spLocks noChangeAspect="1"/>
          </p:cNvSpPr>
          <p:nvPr/>
        </p:nvSpPr>
        <p:spPr>
          <a:xfrm>
            <a:off x="3207742" y="26731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BDFCCE10-E547-042C-D1D4-04E11B8A135A}"/>
              </a:ext>
            </a:extLst>
          </p:cNvPr>
          <p:cNvSpPr/>
          <p:nvPr/>
        </p:nvSpPr>
        <p:spPr>
          <a:xfrm>
            <a:off x="2741083" y="132412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5BAFCFD-20A5-3B52-E18E-111A4BFF5974}"/>
              </a:ext>
            </a:extLst>
          </p:cNvPr>
          <p:cNvSpPr/>
          <p:nvPr/>
        </p:nvSpPr>
        <p:spPr>
          <a:xfrm>
            <a:off x="2283753" y="2059630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: Rounded Corners 58">
                <a:extLst>
                  <a:ext uri="{FF2B5EF4-FFF2-40B4-BE49-F238E27FC236}">
                    <a16:creationId xmlns="" xmlns:a16="http://schemas.microsoft.com/office/drawing/2014/main" id="{CD9BDBB3-D109-4CFE-BB3C-3E4EF38129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46434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/>
                  <a:t>s</a:t>
                </a:r>
                <a:r>
                  <a:rPr lang="ro-RO" sz="2400" b="1" baseline="30000" dirty="0"/>
                  <a:t>3</a:t>
                </a:r>
                <a:r>
                  <a:rPr lang="ro-RO" sz="2400" b="1" dirty="0"/>
                  <a:t>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r>
                  <a:rPr lang="en-US" sz="2400" b="1" dirty="0" smtClean="0"/>
                  <a:t>_shift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D9BDBB3-D109-4CFE-BB3C-3E4EF38129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46434"/>
                <a:ext cx="2927526" cy="457200"/>
              </a:xfrm>
              <a:prstGeom prst="roundRect">
                <a:avLst/>
              </a:prstGeom>
              <a:blipFill rotWithShape="1">
                <a:blip r:embed="rId9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38">
            <a:extLst>
              <a:ext uri="{FF2B5EF4-FFF2-40B4-BE49-F238E27FC236}">
                <a16:creationId xmlns="" xmlns:a16="http://schemas.microsoft.com/office/drawing/2014/main" id="{B3055425-F1E4-4E69-BDF8-D49A2283E52F}"/>
              </a:ext>
            </a:extLst>
          </p:cNvPr>
          <p:cNvSpPr txBox="1"/>
          <p:nvPr/>
        </p:nvSpPr>
        <p:spPr>
          <a:xfrm>
            <a:off x="6492732" y="366887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7</a:t>
            </a:r>
          </a:p>
        </p:txBody>
      </p:sp>
      <p:sp>
        <p:nvSpPr>
          <p:cNvPr id="43" name="TextBox 38">
            <a:extLst>
              <a:ext uri="{FF2B5EF4-FFF2-40B4-BE49-F238E27FC236}">
                <a16:creationId xmlns="" xmlns:a16="http://schemas.microsoft.com/office/drawing/2014/main" id="{B3055425-F1E4-4E69-BDF8-D49A2283E52F}"/>
              </a:ext>
            </a:extLst>
          </p:cNvPr>
          <p:cNvSpPr txBox="1"/>
          <p:nvPr/>
        </p:nvSpPr>
        <p:spPr>
          <a:xfrm>
            <a:off x="6963059" y="3668875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: Rounded Corners 58">
                <a:extLst>
                  <a:ext uri="{FF2B5EF4-FFF2-40B4-BE49-F238E27FC236}">
                    <a16:creationId xmlns="" xmlns:a16="http://schemas.microsoft.com/office/drawing/2014/main" id="{CD9BDBB3-D109-4CFE-BB3C-3E4EF38129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46745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err="1" smtClean="0"/>
                  <a:t>auxL</a:t>
                </a:r>
                <a:r>
                  <a:rPr lang="en-US" sz="2400" b="1" dirty="0" smtClean="0"/>
                  <a:t>_</a:t>
                </a:r>
                <a:r>
                  <a:rPr lang="ro-RO" sz="2400" b="1" dirty="0" smtClean="0"/>
                  <a:t>s</a:t>
                </a:r>
                <a:r>
                  <a:rPr lang="ro-RO" sz="2400" b="1" baseline="30000" dirty="0" smtClean="0"/>
                  <a:t>3</a:t>
                </a:r>
                <a:r>
                  <a:rPr lang="ro-RO" sz="2400" b="1" dirty="0"/>
                  <a:t>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4" name="Rectangle: Rounded Corners 5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D9BDBB3-D109-4CFE-BB3C-3E4EF38129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46745"/>
                <a:ext cx="2927526" cy="457200"/>
              </a:xfrm>
              <a:prstGeom prst="roundRect">
                <a:avLst/>
              </a:prstGeom>
              <a:blipFill rotWithShape="1">
                <a:blip r:embed="rId10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: Rounded Corners 58">
                <a:extLst>
                  <a:ext uri="{FF2B5EF4-FFF2-40B4-BE49-F238E27FC236}">
                    <a16:creationId xmlns="" xmlns:a16="http://schemas.microsoft.com/office/drawing/2014/main" id="{CD9BDBB3-D109-4CFE-BB3C-3E4EF381295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108237" y="4446434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o-RO" sz="2400" b="1" dirty="0" smtClean="0"/>
                  <a:t>s</a:t>
                </a:r>
                <a:r>
                  <a:rPr lang="en-US" sz="2400" b="1" baseline="30000" dirty="0" smtClean="0"/>
                  <a:t>2</a:t>
                </a:r>
                <a:r>
                  <a:rPr lang="ro-RO" sz="2400" b="1" dirty="0" smtClean="0"/>
                  <a:t>_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□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U</m:t>
                    </m:r>
                    <m:r>
                      <m:rPr>
                        <m:nor/>
                      </m:rPr>
                      <a:rPr lang="ro-RO" sz="2400" b="0" i="0" dirty="0" smtClean="0"/>
                      <m:t>_</m:t>
                    </m:r>
                    <m:r>
                      <m:rPr>
                        <m:nor/>
                      </m:rPr>
                      <a:rPr lang="ro-RO" sz="2400" b="0" i="0" dirty="0" smtClean="0"/>
                      <m:t>7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45" name="Rectangle: Rounded Corners 5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D9BDBB3-D109-4CFE-BB3C-3E4EF38129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237" y="4446434"/>
                <a:ext cx="2927526" cy="457200"/>
              </a:xfrm>
              <a:prstGeom prst="roundRect">
                <a:avLst/>
              </a:prstGeom>
              <a:blipFill rotWithShape="1">
                <a:blip r:embed="rId11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Box 38">
            <a:extLst>
              <a:ext uri="{FF2B5EF4-FFF2-40B4-BE49-F238E27FC236}">
                <a16:creationId xmlns="" xmlns:a16="http://schemas.microsoft.com/office/drawing/2014/main" id="{B3055425-F1E4-4E69-BDF8-D49A2283E52F}"/>
              </a:ext>
            </a:extLst>
          </p:cNvPr>
          <p:cNvSpPr txBox="1"/>
          <p:nvPr/>
        </p:nvSpPr>
        <p:spPr>
          <a:xfrm>
            <a:off x="6492732" y="3674388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dirty="0"/>
              <a:t>8</a:t>
            </a:r>
          </a:p>
        </p:txBody>
      </p:sp>
      <p:sp>
        <p:nvSpPr>
          <p:cNvPr id="48" name="TextBox 61">
            <a:extLst>
              <a:ext uri="{FF2B5EF4-FFF2-40B4-BE49-F238E27FC236}">
                <a16:creationId xmlns="" xmlns:a16="http://schemas.microsoft.com/office/drawing/2014/main" id="{7D813BC1-67BD-4757-9973-4E1BEDB63A70}"/>
              </a:ext>
            </a:extLst>
          </p:cNvPr>
          <p:cNvSpPr txBox="1"/>
          <p:nvPr/>
        </p:nvSpPr>
        <p:spPr>
          <a:xfrm>
            <a:off x="6114070" y="3655561"/>
            <a:ext cx="303779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r>
              <a:rPr lang="en-US" sz="1800" u="sng" dirty="0"/>
              <a:t>□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B3055425-F1E4-4E69-BDF8-D49A2283E52F}"/>
              </a:ext>
            </a:extLst>
          </p:cNvPr>
          <p:cNvSpPr txBox="1"/>
          <p:nvPr/>
        </p:nvSpPr>
        <p:spPr>
          <a:xfrm>
            <a:off x="6051646" y="3674388"/>
            <a:ext cx="42862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1800" u="sng" dirty="0"/>
              <a:t>7</a:t>
            </a:r>
          </a:p>
        </p:txBody>
      </p:sp>
      <p:sp>
        <p:nvSpPr>
          <p:cNvPr id="49" name="TextBox 61">
            <a:extLst>
              <a:ext uri="{FF2B5EF4-FFF2-40B4-BE49-F238E27FC236}">
                <a16:creationId xmlns="" xmlns:a16="http://schemas.microsoft.com/office/drawing/2014/main" id="{7D813BC1-67BD-4757-9973-4E1BEDB63A70}"/>
              </a:ext>
            </a:extLst>
          </p:cNvPr>
          <p:cNvSpPr txBox="1"/>
          <p:nvPr/>
        </p:nvSpPr>
        <p:spPr>
          <a:xfrm>
            <a:off x="6114067" y="3668875"/>
            <a:ext cx="303779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 anchor="ctr">
            <a:spAutoFit/>
          </a:bodyPr>
          <a:lstStyle/>
          <a:p>
            <a:r>
              <a:rPr lang="en-US" sz="1800" dirty="0"/>
              <a:t>□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0674E725-812B-6009-BD49-1E7E26C87D98}"/>
              </a:ext>
            </a:extLst>
          </p:cNvPr>
          <p:cNvSpPr/>
          <p:nvPr/>
        </p:nvSpPr>
        <p:spPr>
          <a:xfrm>
            <a:off x="5968868" y="3603055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56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85185E-6 L -0.04879 0.00031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85185E-6 L -0.0507 0.00031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5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4.05063E-6 L 0.05209 4.05063E-6 " pathEditMode="relative" rAng="0" ptsTypes="AA">
                                      <p:cBhvr>
                                        <p:cTn id="2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4" y="0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9.7561E-7 L 0.05087 -0.00216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5" y="-123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3.37759E-6 L 0.05017 -0.00216 " pathEditMode="relative" rAng="0" ptsTypes="AA">
                                      <p:cBhvr>
                                        <p:cTn id="3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-123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95 0.00216 L 0.04549 0.00278 " pathEditMode="relative" rAng="0" ptsTypes="AA">
                                      <p:cBhvr>
                                        <p:cTn id="3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13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2.7138E-6 L 0.05191 0.00062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7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191 0.00062 L 0.00208 0.00031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00" y="-31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1.79068E-6 L -0.05312 0.00092 " pathEditMode="relative" rAng="0" ptsTypes="AA">
                                      <p:cBhvr>
                                        <p:cTn id="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6" y="31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7" grpId="0" animBg="1"/>
      <p:bldP spid="10" grpId="0" animBg="1"/>
      <p:bldP spid="12" grpId="0" animBg="1"/>
      <p:bldP spid="36" grpId="0"/>
      <p:bldP spid="40" grpId="0"/>
      <p:bldP spid="42" grpId="0" animBg="1"/>
      <p:bldP spid="18" grpId="0" animBg="1"/>
      <p:bldP spid="59" grpId="0" animBg="1"/>
      <p:bldP spid="41" grpId="0"/>
      <p:bldP spid="43" grpId="0"/>
      <p:bldP spid="44" grpId="0" animBg="1"/>
      <p:bldP spid="45" grpId="0" animBg="1"/>
      <p:bldP spid="47" grpId="0"/>
      <p:bldP spid="39" grpId="0"/>
      <p:bldP spid="39" grpId="1"/>
      <p:bldP spid="49" grpId="0" animBg="1"/>
      <p:bldP spid="49" grpId="1" animBg="1"/>
      <p:bldP spid="25" grpId="0" animBg="1"/>
      <p:bldP spid="25" grpId="1" animBg="1"/>
      <p:bldP spid="25" grpId="2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UTM - definition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7898F82A-7A16-4D34-8671-6001F8045E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0985696"/>
              </p:ext>
            </p:extLst>
          </p:nvPr>
        </p:nvGraphicFramePr>
        <p:xfrm>
          <a:off x="-4572001" y="3961781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F3738D38-984F-4C63-A49E-5F841826BE52}"/>
                  </a:ext>
                </a:extLst>
              </p:cNvPr>
              <p:cNvSpPr txBox="1"/>
              <p:nvPr/>
            </p:nvSpPr>
            <p:spPr>
              <a:xfrm>
                <a:off x="81777" y="1251916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𝛴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F3738D38-984F-4C63-A49E-5F841826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7" y="1251916"/>
                <a:ext cx="5293112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97;p49">
                <a:extLst>
                  <a:ext uri="{FF2B5EF4-FFF2-40B4-BE49-F238E27FC236}">
                    <a16:creationId xmlns="" xmlns:a16="http://schemas.microsoft.com/office/drawing/2014/main" id="{11180F1F-55BC-4C96-98A0-75F4795DF66E}"/>
                  </a:ext>
                </a:extLst>
              </p:cNvPr>
              <p:cNvSpPr txBox="1"/>
              <p:nvPr/>
            </p:nvSpPr>
            <p:spPr>
              <a:xfrm>
                <a:off x="5083733" y="1249367"/>
                <a:ext cx="2536155" cy="496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6" name="Google Shape;2397;p49">
                <a:extLst>
                  <a:ext uri="{FF2B5EF4-FFF2-40B4-BE49-F238E27FC236}">
                    <a16:creationId xmlns:a16="http://schemas.microsoft.com/office/drawing/2014/main" id="{11180F1F-55BC-4C96-98A0-75F4795DF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733" y="1249367"/>
                <a:ext cx="2536155" cy="496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5BB632D2-EDFC-4CB6-A308-4F58E0D73AC7}"/>
              </a:ext>
            </a:extLst>
          </p:cNvPr>
          <p:cNvSpPr>
            <a:spLocks noChangeAspect="1"/>
          </p:cNvSpPr>
          <p:nvPr/>
        </p:nvSpPr>
        <p:spPr>
          <a:xfrm>
            <a:off x="4166007" y="4593854"/>
            <a:ext cx="645080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q</a:t>
            </a:r>
            <a:r>
              <a:rPr lang="en-US" sz="2400" b="1" baseline="-25000" dirty="0" smtClean="0"/>
              <a:t>1</a:t>
            </a:r>
            <a:endParaRPr lang="en-US" sz="2400" b="1" baseline="-250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="" xmlns:a16="http://schemas.microsoft.com/office/drawing/2014/main" id="{B9C689F8-30C4-42AE-8BE9-9A18D0E71028}"/>
              </a:ext>
            </a:extLst>
          </p:cNvPr>
          <p:cNvSpPr>
            <a:spLocks noChangeAspect="1"/>
          </p:cNvSpPr>
          <p:nvPr/>
        </p:nvSpPr>
        <p:spPr>
          <a:xfrm>
            <a:off x="3649172" y="3959232"/>
            <a:ext cx="3205111" cy="457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2700C9E-A381-41B9-97BD-7C06243EF0F9}"/>
              </a:ext>
            </a:extLst>
          </p:cNvPr>
          <p:cNvSpPr/>
          <p:nvPr/>
        </p:nvSpPr>
        <p:spPr>
          <a:xfrm>
            <a:off x="3638957" y="3922165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2397;p49">
                <a:extLst>
                  <a:ext uri="{FF2B5EF4-FFF2-40B4-BE49-F238E27FC236}">
                    <a16:creationId xmlns="" xmlns:a16="http://schemas.microsoft.com/office/drawing/2014/main" id="{E7B41DDF-D4C4-46EE-ADF4-CCCF244C8AE0}"/>
                  </a:ext>
                </a:extLst>
              </p:cNvPr>
              <p:cNvSpPr txBox="1"/>
              <p:nvPr/>
            </p:nvSpPr>
            <p:spPr>
              <a:xfrm>
                <a:off x="3808752" y="3197919"/>
                <a:ext cx="1688663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𝜖</m:t>
                          </m:r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, </m:t>
                          </m:r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  <m:r>
                            <a:rPr lang="en-US" sz="28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solidFill>
                                    <a:srgbClr val="191919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sz="28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0" name="Google Shape;2397;p49">
                <a:extLst>
                  <a:ext uri="{FF2B5EF4-FFF2-40B4-BE49-F238E27FC236}">
                    <a16:creationId xmlns:a16="http://schemas.microsoft.com/office/drawing/2014/main" id="{E7B41DDF-D4C4-46EE-ADF4-CCCF244C8A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752" y="3197919"/>
                <a:ext cx="1688663" cy="828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2397;p49">
                <a:extLst>
                  <a:ext uri="{FF2B5EF4-FFF2-40B4-BE49-F238E27FC236}">
                    <a16:creationId xmlns="" xmlns:a16="http://schemas.microsoft.com/office/drawing/2014/main" id="{5AE8F7D4-5A27-4B95-8F76-896C3189624E}"/>
                  </a:ext>
                </a:extLst>
              </p:cNvPr>
              <p:cNvSpPr txBox="1"/>
              <p:nvPr/>
            </p:nvSpPr>
            <p:spPr>
              <a:xfrm>
                <a:off x="720000" y="1916833"/>
                <a:ext cx="2571386" cy="53133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ar-AE" sz="20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𝜖</m:t>
                          </m:r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, </m:t>
                          </m:r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  <m:r>
                            <a:rPr lang="ar-AE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, </m:t>
                          </m:r>
                          <m:sSub>
                            <m:sSubPr>
                              <m:ctrlP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ar-AE" sz="20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Sup>
                        <m:sSubSupPr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⊢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</m:sub>
                        <m:sup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∗</m:t>
                          </m:r>
                        </m:sup>
                      </m:sSubSup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 (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𝜖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𝑣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20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1" name="Google Shape;2397;p49">
                <a:extLst>
                  <a:ext uri="{FF2B5EF4-FFF2-40B4-BE49-F238E27FC236}">
                    <a16:creationId xmlns:a16="http://schemas.microsoft.com/office/drawing/2014/main" id="{5AE8F7D4-5A27-4B95-8F76-896C31896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000" y="1916833"/>
                <a:ext cx="2571386" cy="531334"/>
              </a:xfrm>
              <a:prstGeom prst="rect">
                <a:avLst/>
              </a:prstGeom>
              <a:blipFill>
                <a:blip r:embed="rId6"/>
                <a:stretch>
                  <a:fillRect r="-7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2397;p49">
                <a:extLst>
                  <a:ext uri="{FF2B5EF4-FFF2-40B4-BE49-F238E27FC236}">
                    <a16:creationId xmlns="" xmlns:a16="http://schemas.microsoft.com/office/drawing/2014/main" id="{CA1ED51F-8EBB-4C51-8079-C2C7CFD78F8E}"/>
                  </a:ext>
                </a:extLst>
              </p:cNvPr>
              <p:cNvSpPr txBox="1"/>
              <p:nvPr/>
            </p:nvSpPr>
            <p:spPr>
              <a:xfrm>
                <a:off x="335463" y="1922119"/>
                <a:ext cx="2175601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𝑣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2" name="Google Shape;2397;p49">
                <a:extLst>
                  <a:ext uri="{FF2B5EF4-FFF2-40B4-BE49-F238E27FC236}">
                    <a16:creationId xmlns:a16="http://schemas.microsoft.com/office/drawing/2014/main" id="{CA1ED51F-8EBB-4C51-8079-C2C7CFD78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63" y="1922119"/>
                <a:ext cx="2175601" cy="8289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397;p49">
                <a:extLst>
                  <a:ext uri="{FF2B5EF4-FFF2-40B4-BE49-F238E27FC236}">
                    <a16:creationId xmlns="" xmlns:a16="http://schemas.microsoft.com/office/drawing/2014/main" id="{391AE1FA-0016-41BF-AD7A-333996BD6C4C}"/>
                  </a:ext>
                </a:extLst>
              </p:cNvPr>
              <p:cNvSpPr txBox="1"/>
              <p:nvPr/>
            </p:nvSpPr>
            <p:spPr>
              <a:xfrm>
                <a:off x="719998" y="2463536"/>
                <a:ext cx="1966052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3" name="Google Shape;2397;p49">
                <a:extLst>
                  <a:ext uri="{FF2B5EF4-FFF2-40B4-BE49-F238E27FC236}">
                    <a16:creationId xmlns:a16="http://schemas.microsoft.com/office/drawing/2014/main" id="{391AE1FA-0016-41BF-AD7A-333996BD6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98" y="2463536"/>
                <a:ext cx="1966052" cy="5313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Google Shape;2397;p49">
                <a:extLst>
                  <a:ext uri="{FF2B5EF4-FFF2-40B4-BE49-F238E27FC236}">
                    <a16:creationId xmlns="" xmlns:a16="http://schemas.microsoft.com/office/drawing/2014/main" id="{4A8BEB56-C4E2-4523-8F6F-08D512E31F88}"/>
                  </a:ext>
                </a:extLst>
              </p:cNvPr>
              <p:cNvSpPr txBox="1"/>
              <p:nvPr/>
            </p:nvSpPr>
            <p:spPr>
              <a:xfrm>
                <a:off x="709570" y="2925933"/>
                <a:ext cx="2361015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6" name="Google Shape;2397;p49">
                <a:extLst>
                  <a:ext uri="{FF2B5EF4-FFF2-40B4-BE49-F238E27FC236}">
                    <a16:creationId xmlns:a16="http://schemas.microsoft.com/office/drawing/2014/main" id="{4A8BEB56-C4E2-4523-8F6F-08D512E31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70" y="2925933"/>
                <a:ext cx="2361015" cy="5313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Google Shape;2397;p49">
                <a:extLst>
                  <a:ext uri="{FF2B5EF4-FFF2-40B4-BE49-F238E27FC236}">
                    <a16:creationId xmlns="" xmlns:a16="http://schemas.microsoft.com/office/drawing/2014/main" id="{45DAAAF2-318D-442F-9ADE-EDD8D5DB9C8C}"/>
                  </a:ext>
                </a:extLst>
              </p:cNvPr>
              <p:cNvSpPr txBox="1"/>
              <p:nvPr/>
            </p:nvSpPr>
            <p:spPr>
              <a:xfrm>
                <a:off x="710174" y="3443857"/>
                <a:ext cx="1246503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→⊥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7" name="Google Shape;2397;p49">
                <a:extLst>
                  <a:ext uri="{FF2B5EF4-FFF2-40B4-BE49-F238E27FC236}">
                    <a16:creationId xmlns:a16="http://schemas.microsoft.com/office/drawing/2014/main" id="{45DAAAF2-318D-442F-9ADE-EDD8D5DB9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74" y="3443857"/>
                <a:ext cx="1246503" cy="5313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Google Shape;2397;p49">
                <a:extLst>
                  <a:ext uri="{FF2B5EF4-FFF2-40B4-BE49-F238E27FC236}">
                    <a16:creationId xmlns="" xmlns:a16="http://schemas.microsoft.com/office/drawing/2014/main" id="{6BF89E49-A9D3-4ABB-BAA1-38898E0124C8}"/>
                  </a:ext>
                </a:extLst>
              </p:cNvPr>
              <p:cNvSpPr txBox="1"/>
              <p:nvPr/>
            </p:nvSpPr>
            <p:spPr>
              <a:xfrm>
                <a:off x="5083732" y="1249367"/>
                <a:ext cx="2536155" cy="496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8" name="Google Shape;2397;p49">
                <a:extLst>
                  <a:ext uri="{FF2B5EF4-FFF2-40B4-BE49-F238E27FC236}">
                    <a16:creationId xmlns:a16="http://schemas.microsoft.com/office/drawing/2014/main" id="{6BF89E49-A9D3-4ABB-BAA1-38898E0124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732" y="1249367"/>
                <a:ext cx="2536155" cy="496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6.17284E-7 L -0.10677 0.5213 " pathEditMode="relative" rAng="0" ptsTypes="AA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347" y="26049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6" grpId="1"/>
      <p:bldP spid="6" grpId="2"/>
      <p:bldP spid="7" grpId="0" animBg="1"/>
      <p:bldP spid="8" grpId="0" animBg="1"/>
      <p:bldP spid="9" grpId="0" animBg="1"/>
      <p:bldP spid="10" grpId="0"/>
      <p:bldP spid="10" grpId="1"/>
      <p:bldP spid="11" grpId="0"/>
      <p:bldP spid="11" grpId="1"/>
      <p:bldP spid="12" grpId="0"/>
      <p:bldP spid="13" grpId="0"/>
      <p:bldP spid="16" grpId="0"/>
      <p:bldP spid="17" grpId="0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UTM - definition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="" xmlns:a16="http://schemas.microsoft.com/office/drawing/2014/main" id="{7898F82A-7A16-4D34-8671-6001F8045E8C}"/>
              </a:ext>
            </a:extLst>
          </p:cNvPr>
          <p:cNvGraphicFramePr>
            <a:graphicFrameLocks noGrp="1"/>
          </p:cNvGraphicFramePr>
          <p:nvPr/>
        </p:nvGraphicFramePr>
        <p:xfrm>
          <a:off x="-4572001" y="3961781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F3738D38-984F-4C63-A49E-5F841826BE52}"/>
                  </a:ext>
                </a:extLst>
              </p:cNvPr>
              <p:cNvSpPr txBox="1"/>
              <p:nvPr/>
            </p:nvSpPr>
            <p:spPr>
              <a:xfrm>
                <a:off x="81777" y="1251916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𝛴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F3738D38-984F-4C63-A49E-5F841826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7" y="1251916"/>
                <a:ext cx="5293112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97;p49">
                <a:extLst>
                  <a:ext uri="{FF2B5EF4-FFF2-40B4-BE49-F238E27FC236}">
                    <a16:creationId xmlns="" xmlns:a16="http://schemas.microsoft.com/office/drawing/2014/main" id="{11180F1F-55BC-4C96-98A0-75F4795DF66E}"/>
                  </a:ext>
                </a:extLst>
              </p:cNvPr>
              <p:cNvSpPr txBox="1"/>
              <p:nvPr/>
            </p:nvSpPr>
            <p:spPr>
              <a:xfrm>
                <a:off x="5083733" y="1249367"/>
                <a:ext cx="2536155" cy="496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6" name="Google Shape;2397;p49">
                <a:extLst>
                  <a:ext uri="{FF2B5EF4-FFF2-40B4-BE49-F238E27FC236}">
                    <a16:creationId xmlns:a16="http://schemas.microsoft.com/office/drawing/2014/main" id="{11180F1F-55BC-4C96-98A0-75F4795DF6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733" y="1249367"/>
                <a:ext cx="2536155" cy="496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: Rounded Corners 6">
            <a:extLst>
              <a:ext uri="{FF2B5EF4-FFF2-40B4-BE49-F238E27FC236}">
                <a16:creationId xmlns="" xmlns:a16="http://schemas.microsoft.com/office/drawing/2014/main" id="{5BB632D2-EDFC-4CB6-A308-4F58E0D73AC7}"/>
              </a:ext>
            </a:extLst>
          </p:cNvPr>
          <p:cNvSpPr>
            <a:spLocks noChangeAspect="1"/>
          </p:cNvSpPr>
          <p:nvPr/>
        </p:nvSpPr>
        <p:spPr>
          <a:xfrm>
            <a:off x="4313581" y="4593854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q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="" xmlns:a16="http://schemas.microsoft.com/office/drawing/2014/main" id="{B9C689F8-30C4-42AE-8BE9-9A18D0E71028}"/>
              </a:ext>
            </a:extLst>
          </p:cNvPr>
          <p:cNvSpPr>
            <a:spLocks noChangeAspect="1"/>
          </p:cNvSpPr>
          <p:nvPr/>
        </p:nvSpPr>
        <p:spPr>
          <a:xfrm>
            <a:off x="5002187" y="3951797"/>
            <a:ext cx="3205111" cy="457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Google Shape;2397;p49">
                <a:extLst>
                  <a:ext uri="{FF2B5EF4-FFF2-40B4-BE49-F238E27FC236}">
                    <a16:creationId xmlns="" xmlns:a16="http://schemas.microsoft.com/office/drawing/2014/main" id="{CA1ED51F-8EBB-4C51-8079-C2C7CFD78F8E}"/>
                  </a:ext>
                </a:extLst>
              </p:cNvPr>
              <p:cNvSpPr txBox="1"/>
              <p:nvPr/>
            </p:nvSpPr>
            <p:spPr>
              <a:xfrm>
                <a:off x="335463" y="1922119"/>
                <a:ext cx="2175601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𝑣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2" name="Google Shape;2397;p49">
                <a:extLst>
                  <a:ext uri="{FF2B5EF4-FFF2-40B4-BE49-F238E27FC236}">
                    <a16:creationId xmlns:a16="http://schemas.microsoft.com/office/drawing/2014/main" id="{CA1ED51F-8EBB-4C51-8079-C2C7CFD78F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63" y="1922119"/>
                <a:ext cx="2175601" cy="5313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Google Shape;2397;p49">
                <a:extLst>
                  <a:ext uri="{FF2B5EF4-FFF2-40B4-BE49-F238E27FC236}">
                    <a16:creationId xmlns="" xmlns:a16="http://schemas.microsoft.com/office/drawing/2014/main" id="{391AE1FA-0016-41BF-AD7A-333996BD6C4C}"/>
                  </a:ext>
                </a:extLst>
              </p:cNvPr>
              <p:cNvSpPr txBox="1"/>
              <p:nvPr/>
            </p:nvSpPr>
            <p:spPr>
              <a:xfrm>
                <a:off x="719998" y="2463536"/>
                <a:ext cx="1966052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3" name="Google Shape;2397;p49">
                <a:extLst>
                  <a:ext uri="{FF2B5EF4-FFF2-40B4-BE49-F238E27FC236}">
                    <a16:creationId xmlns:a16="http://schemas.microsoft.com/office/drawing/2014/main" id="{391AE1FA-0016-41BF-AD7A-333996BD6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98" y="2463536"/>
                <a:ext cx="1966052" cy="5313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Google Shape;2397;p49">
                <a:extLst>
                  <a:ext uri="{FF2B5EF4-FFF2-40B4-BE49-F238E27FC236}">
                    <a16:creationId xmlns="" xmlns:a16="http://schemas.microsoft.com/office/drawing/2014/main" id="{4A8BEB56-C4E2-4523-8F6F-08D512E31F88}"/>
                  </a:ext>
                </a:extLst>
              </p:cNvPr>
              <p:cNvSpPr txBox="1"/>
              <p:nvPr/>
            </p:nvSpPr>
            <p:spPr>
              <a:xfrm>
                <a:off x="709570" y="2925933"/>
                <a:ext cx="2361015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6" name="Google Shape;2397;p49">
                <a:extLst>
                  <a:ext uri="{FF2B5EF4-FFF2-40B4-BE49-F238E27FC236}">
                    <a16:creationId xmlns:a16="http://schemas.microsoft.com/office/drawing/2014/main" id="{4A8BEB56-C4E2-4523-8F6F-08D512E31F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570" y="2925933"/>
                <a:ext cx="2361015" cy="5313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Google Shape;2397;p49">
                <a:extLst>
                  <a:ext uri="{FF2B5EF4-FFF2-40B4-BE49-F238E27FC236}">
                    <a16:creationId xmlns="" xmlns:a16="http://schemas.microsoft.com/office/drawing/2014/main" id="{45DAAAF2-318D-442F-9ADE-EDD8D5DB9C8C}"/>
                  </a:ext>
                </a:extLst>
              </p:cNvPr>
              <p:cNvSpPr txBox="1"/>
              <p:nvPr/>
            </p:nvSpPr>
            <p:spPr>
              <a:xfrm>
                <a:off x="710174" y="3443857"/>
                <a:ext cx="1246503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→⊥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7" name="Google Shape;2397;p49">
                <a:extLst>
                  <a:ext uri="{FF2B5EF4-FFF2-40B4-BE49-F238E27FC236}">
                    <a16:creationId xmlns:a16="http://schemas.microsoft.com/office/drawing/2014/main" id="{45DAAAF2-318D-442F-9ADE-EDD8D5DB9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174" y="3443857"/>
                <a:ext cx="1246503" cy="5313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: Rounded Corners 14">
            <a:extLst>
              <a:ext uri="{FF2B5EF4-FFF2-40B4-BE49-F238E27FC236}">
                <a16:creationId xmlns="" xmlns:a16="http://schemas.microsoft.com/office/drawing/2014/main" id="{AF521B7C-545B-409A-BA71-C42F172444AB}"/>
              </a:ext>
            </a:extLst>
          </p:cNvPr>
          <p:cNvSpPr>
            <a:spLocks noChangeAspect="1"/>
          </p:cNvSpPr>
          <p:nvPr/>
        </p:nvSpPr>
        <p:spPr>
          <a:xfrm>
            <a:off x="884664" y="3961781"/>
            <a:ext cx="4117524" cy="4572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Google Shape;2397;p49">
                <a:extLst>
                  <a:ext uri="{FF2B5EF4-FFF2-40B4-BE49-F238E27FC236}">
                    <a16:creationId xmlns="" xmlns:a16="http://schemas.microsoft.com/office/drawing/2014/main" id="{926BE833-CE39-464E-B32D-A7E8CFDD1747}"/>
                  </a:ext>
                </a:extLst>
              </p:cNvPr>
              <p:cNvSpPr txBox="1"/>
              <p:nvPr/>
            </p:nvSpPr>
            <p:spPr>
              <a:xfrm>
                <a:off x="81777" y="1255392"/>
                <a:ext cx="5293112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𝛴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8" name="Google Shape;2397;p49">
                <a:extLst>
                  <a:ext uri="{FF2B5EF4-FFF2-40B4-BE49-F238E27FC236}">
                    <a16:creationId xmlns:a16="http://schemas.microsoft.com/office/drawing/2014/main" id="{926BE833-CE39-464E-B32D-A7E8CFDD17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7" y="1255392"/>
                <a:ext cx="5293112" cy="8289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Google Shape;2397;p49">
                <a:extLst>
                  <a:ext uri="{FF2B5EF4-FFF2-40B4-BE49-F238E27FC236}">
                    <a16:creationId xmlns="" xmlns:a16="http://schemas.microsoft.com/office/drawing/2014/main" id="{409624AA-8CFF-4497-B862-A43B3B05A42B}"/>
                  </a:ext>
                </a:extLst>
              </p:cNvPr>
              <p:cNvSpPr txBox="1"/>
              <p:nvPr/>
            </p:nvSpPr>
            <p:spPr>
              <a:xfrm>
                <a:off x="5083732" y="1245891"/>
                <a:ext cx="2536155" cy="4964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∈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Σ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9" name="Google Shape;2397;p49">
                <a:extLst>
                  <a:ext uri="{FF2B5EF4-FFF2-40B4-BE49-F238E27FC236}">
                    <a16:creationId xmlns:a16="http://schemas.microsoft.com/office/drawing/2014/main" id="{409624AA-8CFF-4497-B862-A43B3B05A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3732" y="1245891"/>
                <a:ext cx="2536155" cy="49645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A2700C9E-A381-41B9-97BD-7C06243EF0F9}"/>
              </a:ext>
            </a:extLst>
          </p:cNvPr>
          <p:cNvSpPr/>
          <p:nvPr/>
        </p:nvSpPr>
        <p:spPr>
          <a:xfrm>
            <a:off x="884664" y="3914730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Google Shape;2397;p49">
                <a:extLst>
                  <a:ext uri="{FF2B5EF4-FFF2-40B4-BE49-F238E27FC236}">
                    <a16:creationId xmlns="" xmlns:a16="http://schemas.microsoft.com/office/drawing/2014/main" id="{2B4F43FA-5323-46DD-BD2E-8162098C70FC}"/>
                  </a:ext>
                </a:extLst>
              </p:cNvPr>
              <p:cNvSpPr txBox="1"/>
              <p:nvPr/>
            </p:nvSpPr>
            <p:spPr>
              <a:xfrm>
                <a:off x="6443640" y="1856978"/>
                <a:ext cx="1791066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𝑈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[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, </m:t>
                          </m:r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]→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𝑣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0" name="Google Shape;2397;p49">
                <a:extLst>
                  <a:ext uri="{FF2B5EF4-FFF2-40B4-BE49-F238E27FC236}">
                    <a16:creationId xmlns:a16="http://schemas.microsoft.com/office/drawing/2014/main" id="{2B4F43FA-5323-46DD-BD2E-8162098C70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640" y="1856978"/>
                <a:ext cx="1791066" cy="53133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Google Shape;2397;p49">
                <a:extLst>
                  <a:ext uri="{FF2B5EF4-FFF2-40B4-BE49-F238E27FC236}">
                    <a16:creationId xmlns="" xmlns:a16="http://schemas.microsoft.com/office/drawing/2014/main" id="{A56D4FB1-68F8-41AD-893F-2D0CEC48D7F2}"/>
                  </a:ext>
                </a:extLst>
              </p:cNvPr>
              <p:cNvSpPr txBox="1"/>
              <p:nvPr/>
            </p:nvSpPr>
            <p:spPr>
              <a:xfrm>
                <a:off x="6443640" y="2398395"/>
                <a:ext cx="2518068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𝑈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[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] 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𝐹𝐴𝐿𝑆𝐸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1" name="Google Shape;2397;p49">
                <a:extLst>
                  <a:ext uri="{FF2B5EF4-FFF2-40B4-BE49-F238E27FC236}">
                    <a16:creationId xmlns:a16="http://schemas.microsoft.com/office/drawing/2014/main" id="{A56D4FB1-68F8-41AD-893F-2D0CEC48D7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640" y="2398395"/>
                <a:ext cx="2518068" cy="53133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Google Shape;2397;p49">
                <a:extLst>
                  <a:ext uri="{FF2B5EF4-FFF2-40B4-BE49-F238E27FC236}">
                    <a16:creationId xmlns="" xmlns:a16="http://schemas.microsoft.com/office/drawing/2014/main" id="{0970F998-D439-4F5A-BDE9-0919DFB37DAC}"/>
                  </a:ext>
                </a:extLst>
              </p:cNvPr>
              <p:cNvSpPr txBox="1"/>
              <p:nvPr/>
            </p:nvSpPr>
            <p:spPr>
              <a:xfrm>
                <a:off x="6433212" y="2860792"/>
                <a:ext cx="2361015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𝑈</m:t>
                      </m:r>
                      <m:r>
                        <a:rPr lang="en-US" sz="20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[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  <m:r>
                            <a:rPr lang="en-US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]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𝑇𝑅𝑈𝐸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2" name="Google Shape;2397;p49">
                <a:extLst>
                  <a:ext uri="{FF2B5EF4-FFF2-40B4-BE49-F238E27FC236}">
                    <a16:creationId xmlns:a16="http://schemas.microsoft.com/office/drawing/2014/main" id="{0970F998-D439-4F5A-BDE9-0919DFB37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212" y="2860792"/>
                <a:ext cx="2361015" cy="53133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Google Shape;2397;p49">
                <a:extLst>
                  <a:ext uri="{FF2B5EF4-FFF2-40B4-BE49-F238E27FC236}">
                    <a16:creationId xmlns="" xmlns:a16="http://schemas.microsoft.com/office/drawing/2014/main" id="{3D8C408E-BD7A-430A-A677-C5C69D7E2015}"/>
                  </a:ext>
                </a:extLst>
              </p:cNvPr>
              <p:cNvSpPr txBox="1"/>
              <p:nvPr/>
            </p:nvSpPr>
            <p:spPr>
              <a:xfrm>
                <a:off x="6433816" y="3378716"/>
                <a:ext cx="1851054" cy="5313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𝑈</m:t>
                      </m:r>
                      <m:r>
                        <a:rPr lang="en-US" sz="20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[</m:t>
                      </m:r>
                      <m:d>
                        <m:dPr>
                          <m:ctrlPr>
                            <a:rPr lang="en-US" sz="2000" i="1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𝑀</m:t>
                          </m:r>
                          <m:r>
                            <a:rPr lang="en-US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,</m:t>
                          </m:r>
                          <m:r>
                            <a:rPr lang="en-US" sz="2000" i="1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𝑤</m:t>
                          </m:r>
                        </m:e>
                      </m:d>
                      <m:r>
                        <a:rPr lang="en-US" sz="2000" i="1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]</m:t>
                      </m:r>
                      <m:r>
                        <a:rPr lang="en-US" sz="20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→⊥</m:t>
                      </m:r>
                    </m:oMath>
                  </m:oMathPara>
                </a14:m>
                <a:endParaRPr lang="en-US" sz="20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3" name="Google Shape;2397;p49">
                <a:extLst>
                  <a:ext uri="{FF2B5EF4-FFF2-40B4-BE49-F238E27FC236}">
                    <a16:creationId xmlns:a16="http://schemas.microsoft.com/office/drawing/2014/main" id="{3D8C408E-BD7A-430A-A677-C5C69D7E2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3816" y="3378716"/>
                <a:ext cx="1851054" cy="53133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Google Shape;2397;p49">
                <a:extLst>
                  <a:ext uri="{FF2B5EF4-FFF2-40B4-BE49-F238E27FC236}">
                    <a16:creationId xmlns="" xmlns:a16="http://schemas.microsoft.com/office/drawing/2014/main" id="{9FCEDC42-C804-46A0-83C7-9EE85135E657}"/>
                  </a:ext>
                </a:extLst>
              </p:cNvPr>
              <p:cNvSpPr txBox="1"/>
              <p:nvPr/>
            </p:nvSpPr>
            <p:spPr>
              <a:xfrm>
                <a:off x="3173823" y="2415882"/>
                <a:ext cx="2796347" cy="509284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𝑀</m:t>
                              </m:r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, </m:t>
                              </m:r>
                              <m:r>
                                <a:rPr lang="en-US" sz="24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𝑤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≡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[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𝑤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]</m:t>
                      </m:r>
                    </m:oMath>
                  </m:oMathPara>
                </a14:m>
                <a:endParaRPr lang="en-US" sz="2400" b="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4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FCEDC42-C804-46A0-83C7-9EE85135E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823" y="2415882"/>
                <a:ext cx="2796347" cy="509284"/>
              </a:xfrm>
              <a:prstGeom prst="rect">
                <a:avLst/>
              </a:prstGeom>
              <a:blipFill rotWithShape="1">
                <a:blip r:embed="rId15"/>
                <a:stretch>
                  <a:fillRect b="-13953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732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4.07407E-6 L 0.0276 0.51266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2" y="256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6.17284E-7 L 0.03073 0.5213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8" y="2604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8" grpId="0" animBg="1"/>
      <p:bldP spid="15" grpId="0" animBg="1"/>
      <p:bldP spid="18" grpId="1"/>
      <p:bldP spid="19" grpId="1"/>
      <p:bldP spid="9" grpId="0" animBg="1"/>
      <p:bldP spid="20" grpId="0"/>
      <p:bldP spid="21" grpId="0"/>
      <p:bldP spid="22" grpId="0"/>
      <p:bldP spid="23" grpId="0"/>
      <p:bldP spid="2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Dealing with different alphabets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Google Shape;2397;p49">
                <a:extLst>
                  <a:ext uri="{FF2B5EF4-FFF2-40B4-BE49-F238E27FC236}">
                    <a16:creationId xmlns="" xmlns:a16="http://schemas.microsoft.com/office/drawing/2014/main" id="{D42F3516-4798-4C40-8D32-266B1FB66C7C}"/>
                  </a:ext>
                </a:extLst>
              </p:cNvPr>
              <p:cNvSpPr txBox="1"/>
              <p:nvPr/>
            </p:nvSpPr>
            <p:spPr>
              <a:xfrm>
                <a:off x="1025913" y="1571584"/>
                <a:ext cx="3018262" cy="628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Σ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={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𝑎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𝑏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𝑐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𝑑</m:t>
                      </m:r>
                      <m: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}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>
          <p:sp>
            <p:nvSpPr>
              <p:cNvPr id="4" name="Google Shape;2397;p49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D42F3516-4798-4C40-8D32-266B1FB66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913" y="1571584"/>
                <a:ext cx="3018262" cy="62892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F74BEE92-5D53-4574-B6D6-1629909C3348}"/>
                  </a:ext>
                </a:extLst>
              </p:cNvPr>
              <p:cNvSpPr txBox="1"/>
              <p:nvPr/>
            </p:nvSpPr>
            <p:spPr>
              <a:xfrm>
                <a:off x="5267094" y="1571584"/>
                <a:ext cx="3018262" cy="6289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𝑏</m:t>
                          </m:r>
                        </m:sub>
                      </m:sSub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={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0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</m:t>
                      </m:r>
                      <m: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}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F74BEE92-5D53-4574-B6D6-1629909C3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7094" y="1571584"/>
                <a:ext cx="3018262" cy="6289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2397;p49">
                <a:extLst>
                  <a:ext uri="{FF2B5EF4-FFF2-40B4-BE49-F238E27FC236}">
                    <a16:creationId xmlns="" xmlns:a16="http://schemas.microsoft.com/office/drawing/2014/main" id="{1E14562F-67C1-40CD-9170-622E9B57FA79}"/>
                  </a:ext>
                </a:extLst>
              </p:cNvPr>
              <p:cNvSpPr txBox="1"/>
              <p:nvPr/>
            </p:nvSpPr>
            <p:spPr>
              <a:xfrm>
                <a:off x="3348977" y="2373194"/>
                <a:ext cx="3018262" cy="16188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enc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𝑎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10</m:t>
                      </m:r>
                    </m:oMath>
                  </m:oMathPara>
                </a14:m>
                <a:endParaRPr lang="en-US" sz="2400" b="0" i="1" dirty="0">
                  <a:solidFill>
                    <a:srgbClr val="191919"/>
                  </a:solidFill>
                  <a:latin typeface="Cambria Math" panose="02040503050406030204" pitchFamily="18" charset="0"/>
                  <a:sym typeface="Karla Regular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enc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𝑏</m:t>
                          </m:r>
                        </m:e>
                      </m:d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10</m:t>
                      </m:r>
                      <m: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0</m:t>
                      </m:r>
                    </m:oMath>
                  </m:oMathPara>
                </a14:m>
                <a:endParaRPr lang="en-US" sz="2400" b="0" i="0" dirty="0">
                  <a:solidFill>
                    <a:srgbClr val="191919"/>
                  </a:solidFill>
                  <a:latin typeface="Cambria Math" panose="02040503050406030204" pitchFamily="18" charset="0"/>
                  <a:sym typeface="Karla Regular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enc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𝑐</m:t>
                          </m:r>
                        </m:e>
                      </m:d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1000</m:t>
                      </m:r>
                    </m:oMath>
                  </m:oMathPara>
                </a14:m>
                <a:endParaRPr lang="en-US" sz="2400" dirty="0">
                  <a:solidFill>
                    <a:srgbClr val="191919"/>
                  </a:solidFill>
                  <a:latin typeface="Cambria Math" panose="02040503050406030204" pitchFamily="18" charset="0"/>
                  <a:sym typeface="Karla Regular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enc</m:t>
                      </m:r>
                      <m:d>
                        <m:dPr>
                          <m:ctrlPr>
                            <a:rPr lang="en-US" sz="240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𝑑</m:t>
                          </m:r>
                        </m:e>
                      </m:d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10000</m:t>
                      </m:r>
                    </m:oMath>
                  </m:oMathPara>
                </a14:m>
                <a:endParaRPr lang="en-US" sz="2400" dirty="0">
                  <a:solidFill>
                    <a:srgbClr val="191919"/>
                  </a:solidFill>
                  <a:latin typeface="Cambria Math" panose="02040503050406030204" pitchFamily="18" charset="0"/>
                  <a:sym typeface="Karla Regular"/>
                </a:endParaRPr>
              </a:p>
              <a:p>
                <a:pPr lvl="0" algn="ctr"/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7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E14562F-67C1-40CD-9170-622E9B57F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977" y="2373194"/>
                <a:ext cx="3018262" cy="161881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97;p49">
                <a:extLst>
                  <a:ext uri="{FF2B5EF4-FFF2-40B4-BE49-F238E27FC236}">
                    <a16:creationId xmlns="" xmlns:a16="http://schemas.microsoft.com/office/drawing/2014/main" id="{1E14562F-67C1-40CD-9170-622E9B57FA79}"/>
                  </a:ext>
                </a:extLst>
              </p:cNvPr>
              <p:cNvSpPr txBox="1"/>
              <p:nvPr/>
            </p:nvSpPr>
            <p:spPr>
              <a:xfrm>
                <a:off x="1839249" y="4225615"/>
                <a:ext cx="5679730" cy="6878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enc</m:t>
                      </m:r>
                      <m:d>
                        <m:dPr>
                          <m:ctrlP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  <m:t>𝑏𝑎𝑏𝑐𝑎𝑏</m:t>
                          </m:r>
                        </m:e>
                      </m:d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/>
                          <a:sym typeface="Karla Regular"/>
                        </a:rPr>
                        <m:t>10010100100010100</m:t>
                      </m:r>
                    </m:oMath>
                  </m:oMathPara>
                </a14:m>
                <a:endParaRPr lang="en-US" sz="2400" b="0" i="1" dirty="0">
                  <a:solidFill>
                    <a:srgbClr val="191919"/>
                  </a:solidFill>
                  <a:latin typeface="Cambria Math" panose="02040503050406030204" pitchFamily="18" charset="0"/>
                  <a:sym typeface="Karla Regular"/>
                </a:endParaRPr>
              </a:p>
            </p:txBody>
          </p:sp>
        </mc:Choice>
        <mc:Fallback xmlns="">
          <p:sp>
            <p:nvSpPr>
              <p:cNvPr id="6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E14562F-67C1-40CD-9170-622E9B57F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9249" y="4225615"/>
                <a:ext cx="5679730" cy="687869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6582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3">
            <a:extLst>
              <a:ext uri="{FF2B5EF4-FFF2-40B4-BE49-F238E27FC236}">
                <a16:creationId xmlns="" xmlns:a16="http://schemas.microsoft.com/office/drawing/2014/main" id="{766350FB-A753-E80B-FE53-3652D2123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3525911"/>
              </p:ext>
            </p:extLst>
          </p:nvPr>
        </p:nvGraphicFramePr>
        <p:xfrm>
          <a:off x="-4109802" y="3232134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20105585-37A0-ED0C-3F29-6E17A1B72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866108"/>
              </p:ext>
            </p:extLst>
          </p:nvPr>
        </p:nvGraphicFramePr>
        <p:xfrm>
          <a:off x="-3864830" y="1312913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b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99ABDC4C-46D2-47AE-B8EA-414DF06A6646}"/>
              </a:ext>
            </a:extLst>
          </p:cNvPr>
          <p:cNvSpPr>
            <a:spLocks noChangeAspect="1"/>
          </p:cNvSpPr>
          <p:nvPr/>
        </p:nvSpPr>
        <p:spPr>
          <a:xfrm>
            <a:off x="3262393" y="607145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q</a:t>
            </a:r>
            <a:endParaRPr lang="en-US" sz="2000" b="1" baseline="-25000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90E074F0-CA16-4020-9530-C3B05D48DA5E}"/>
              </a:ext>
            </a:extLst>
          </p:cNvPr>
          <p:cNvSpPr/>
          <p:nvPr/>
        </p:nvSpPr>
        <p:spPr>
          <a:xfrm>
            <a:off x="3623060" y="3192724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: Rounded Corners 50">
            <a:extLst>
              <a:ext uri="{FF2B5EF4-FFF2-40B4-BE49-F238E27FC236}">
                <a16:creationId xmlns="" xmlns:a16="http://schemas.microsoft.com/office/drawing/2014/main" id="{25F5F761-D902-4308-8A66-C17408FEFA7F}"/>
              </a:ext>
            </a:extLst>
          </p:cNvPr>
          <p:cNvSpPr>
            <a:spLocks noChangeAspect="1"/>
          </p:cNvSpPr>
          <p:nvPr/>
        </p:nvSpPr>
        <p:spPr>
          <a:xfrm>
            <a:off x="2962904" y="4054777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606F131B-3BFA-474A-A114-DD2FD6B2A665}"/>
                  </a:ext>
                </a:extLst>
              </p:cNvPr>
              <p:cNvSpPr txBox="1"/>
              <p:nvPr/>
            </p:nvSpPr>
            <p:spPr>
              <a:xfrm>
                <a:off x="772754" y="2371695"/>
                <a:ext cx="7307826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,→)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06F131B-3BFA-474A-A114-DD2FD6B2A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54" y="2371695"/>
                <a:ext cx="7307826" cy="4001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: Rounded Corners 52">
            <a:extLst>
              <a:ext uri="{FF2B5EF4-FFF2-40B4-BE49-F238E27FC236}">
                <a16:creationId xmlns="" xmlns:a16="http://schemas.microsoft.com/office/drawing/2014/main" id="{4D41F38C-C5E2-4CB9-8E5F-EB422E75A40E}"/>
              </a:ext>
            </a:extLst>
          </p:cNvPr>
          <p:cNvSpPr>
            <a:spLocks noChangeAspect="1"/>
          </p:cNvSpPr>
          <p:nvPr/>
        </p:nvSpPr>
        <p:spPr>
          <a:xfrm>
            <a:off x="2962904" y="4054777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q_a</a:t>
            </a:r>
            <a:endParaRPr lang="en-US" sz="2400" b="1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="" xmlns:a16="http://schemas.microsoft.com/office/drawing/2014/main" id="{301423FB-282A-42CA-BCCB-6B6276B44192}"/>
              </a:ext>
            </a:extLst>
          </p:cNvPr>
          <p:cNvSpPr>
            <a:spLocks noChangeAspect="1"/>
          </p:cNvSpPr>
          <p:nvPr/>
        </p:nvSpPr>
        <p:spPr>
          <a:xfrm>
            <a:off x="2962904" y="4054777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q_b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="" xmlns:a16="http://schemas.microsoft.com/office/drawing/2014/main" id="{5793AD7F-CAD5-4330-BE53-7341B13A1E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err="1"/>
                  <a:t>r_a</a:t>
                </a:r>
                <a:r>
                  <a:rPr lang="en-US" sz="2400" b="1" dirty="0"/>
                  <a:t>_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 smtClean="0"/>
                  <a:t>_delete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793AD7F-CAD5-4330-BE53-7341B13A1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  <a:blipFill rotWithShape="1">
                <a:blip r:embed="rId4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: Rounded Corners 41">
            <a:extLst>
              <a:ext uri="{FF2B5EF4-FFF2-40B4-BE49-F238E27FC236}">
                <a16:creationId xmlns="" xmlns:a16="http://schemas.microsoft.com/office/drawing/2014/main" id="{99ABDC4C-46D2-47AE-B8EA-414DF06A6646}"/>
              </a:ext>
            </a:extLst>
          </p:cNvPr>
          <p:cNvSpPr>
            <a:spLocks noChangeAspect="1"/>
          </p:cNvSpPr>
          <p:nvPr/>
        </p:nvSpPr>
        <p:spPr>
          <a:xfrm>
            <a:off x="3262393" y="607145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</a:t>
            </a:r>
            <a:endParaRPr lang="en-US" sz="2000" b="1" baseline="-25000" dirty="0"/>
          </a:p>
        </p:txBody>
      </p:sp>
      <p:sp>
        <p:nvSpPr>
          <p:cNvPr id="3" name="CasetăText 2"/>
          <p:cNvSpPr txBox="1"/>
          <p:nvPr/>
        </p:nvSpPr>
        <p:spPr>
          <a:xfrm>
            <a:off x="3520810" y="1353312"/>
            <a:ext cx="303996" cy="369332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en-US" sz="1800" dirty="0" smtClean="0"/>
              <a:t>a</a:t>
            </a:r>
            <a:endParaRPr lang="ro-RO" sz="180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7F44D1-1FFF-4A2B-3CC1-75970825CC7C}"/>
              </a:ext>
            </a:extLst>
          </p:cNvPr>
          <p:cNvSpPr/>
          <p:nvPr/>
        </p:nvSpPr>
        <p:spPr>
          <a:xfrm>
            <a:off x="3413057" y="127231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36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88391E-6 L 0.05209 -3.88391E-6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4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-2.22222E-6 L 0.04983 -2.22222E-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83 -2.22222E-6 L 0.10017 -2.22222E-6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017 -2.22222E-6 L 0.15069 -2.22222E-6 " pathEditMode="relative" rAng="0" ptsTypes="AA">
                                      <p:cBhvr>
                                        <p:cTn id="3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20" grpId="2" animBg="1"/>
      <p:bldP spid="20" grpId="3" animBg="1"/>
      <p:bldP spid="51" grpId="0" animBg="1"/>
      <p:bldP spid="52" grpId="0"/>
      <p:bldP spid="53" grpId="0" animBg="1"/>
      <p:bldP spid="54" grpId="0" animBg="1"/>
      <p:bldP spid="56" grpId="0" animBg="1"/>
      <p:bldP spid="12" grpId="0" animBg="1"/>
      <p:bldP spid="3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able 3">
            <a:extLst>
              <a:ext uri="{FF2B5EF4-FFF2-40B4-BE49-F238E27FC236}">
                <a16:creationId xmlns="" xmlns:a16="http://schemas.microsoft.com/office/drawing/2014/main" id="{766350FB-A753-E80B-FE53-3652D2123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17464"/>
              </p:ext>
            </p:extLst>
          </p:nvPr>
        </p:nvGraphicFramePr>
        <p:xfrm>
          <a:off x="-4109802" y="3232134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20105585-37A0-ED0C-3F29-6E17A1B72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751926"/>
              </p:ext>
            </p:extLst>
          </p:nvPr>
        </p:nvGraphicFramePr>
        <p:xfrm>
          <a:off x="-3864830" y="1312913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99ABDC4C-46D2-47AE-B8EA-414DF06A6646}"/>
              </a:ext>
            </a:extLst>
          </p:cNvPr>
          <p:cNvSpPr>
            <a:spLocks noChangeAspect="1"/>
          </p:cNvSpPr>
          <p:nvPr/>
        </p:nvSpPr>
        <p:spPr>
          <a:xfrm>
            <a:off x="3262393" y="607145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smtClean="0"/>
              <a:t>r</a:t>
            </a:r>
            <a:endParaRPr lang="en-US" sz="2000" b="1" baseline="-2500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7F44D1-1FFF-4A2B-3CC1-75970825CC7C}"/>
              </a:ext>
            </a:extLst>
          </p:cNvPr>
          <p:cNvSpPr/>
          <p:nvPr/>
        </p:nvSpPr>
        <p:spPr>
          <a:xfrm>
            <a:off x="3860909" y="1275846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="" xmlns:a16="http://schemas.microsoft.com/office/drawing/2014/main" id="{25F5F761-D902-4308-8A66-C17408FEFA7F}"/>
              </a:ext>
            </a:extLst>
          </p:cNvPr>
          <p:cNvSpPr>
            <a:spLocks noChangeAspect="1"/>
          </p:cNvSpPr>
          <p:nvPr/>
        </p:nvSpPr>
        <p:spPr>
          <a:xfrm>
            <a:off x="2962904" y="4054777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="" xmlns:a16="http://schemas.microsoft.com/office/drawing/2014/main" id="{606F131B-3BFA-474A-A114-DD2FD6B2A665}"/>
                  </a:ext>
                </a:extLst>
              </p:cNvPr>
              <p:cNvSpPr txBox="1"/>
              <p:nvPr/>
            </p:nvSpPr>
            <p:spPr>
              <a:xfrm>
                <a:off x="772754" y="2371695"/>
                <a:ext cx="7307826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,→)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606F131B-3BFA-474A-A114-DD2FD6B2A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754" y="2371695"/>
                <a:ext cx="7307826" cy="400110"/>
              </a:xfrm>
              <a:prstGeom prst="rect">
                <a:avLst/>
              </a:prstGeom>
              <a:blipFill>
                <a:blip r:embed="rId3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Rectangle: Rounded Corners 52">
            <a:extLst>
              <a:ext uri="{FF2B5EF4-FFF2-40B4-BE49-F238E27FC236}">
                <a16:creationId xmlns="" xmlns:a16="http://schemas.microsoft.com/office/drawing/2014/main" id="{4D41F38C-C5E2-4CB9-8E5F-EB422E75A40E}"/>
              </a:ext>
            </a:extLst>
          </p:cNvPr>
          <p:cNvSpPr>
            <a:spLocks noChangeAspect="1"/>
          </p:cNvSpPr>
          <p:nvPr/>
        </p:nvSpPr>
        <p:spPr>
          <a:xfrm>
            <a:off x="2962904" y="4054777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q_a</a:t>
            </a:r>
            <a:endParaRPr lang="en-US" sz="2400" b="1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="" xmlns:a16="http://schemas.microsoft.com/office/drawing/2014/main" id="{301423FB-282A-42CA-BCCB-6B6276B44192}"/>
              </a:ext>
            </a:extLst>
          </p:cNvPr>
          <p:cNvSpPr>
            <a:spLocks noChangeAspect="1"/>
          </p:cNvSpPr>
          <p:nvPr/>
        </p:nvSpPr>
        <p:spPr>
          <a:xfrm>
            <a:off x="2962904" y="4054777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q_b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: Rounded Corners 55">
                <a:extLst>
                  <a:ext uri="{FF2B5EF4-FFF2-40B4-BE49-F238E27FC236}">
                    <a16:creationId xmlns="" xmlns:a16="http://schemas.microsoft.com/office/drawing/2014/main" id="{5793AD7F-CAD5-4330-BE53-7341B13A1E9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err="1"/>
                  <a:t>r_a</a:t>
                </a:r>
                <a:r>
                  <a:rPr lang="en-US" sz="2400" b="1" dirty="0"/>
                  <a:t>_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6" name="Rectangle: Rounded Corners 55">
                <a:extLst>
                  <a:ext uri="{FF2B5EF4-FFF2-40B4-BE49-F238E27FC236}">
                    <a16:creationId xmlns:a16="http://schemas.microsoft.com/office/drawing/2014/main" id="{5793AD7F-CAD5-4330-BE53-7341B13A1E9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  <a:blipFill>
                <a:blip r:embed="rId4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74C3EFB4-47CC-4F16-8129-3EC66A40EE37}"/>
              </a:ext>
            </a:extLst>
          </p:cNvPr>
          <p:cNvSpPr/>
          <p:nvPr/>
        </p:nvSpPr>
        <p:spPr>
          <a:xfrm>
            <a:off x="6052322" y="3326780"/>
            <a:ext cx="223024" cy="249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33622AAC-5F27-4D2D-8318-97D44576DB5B}"/>
              </a:ext>
            </a:extLst>
          </p:cNvPr>
          <p:cNvSpPr/>
          <p:nvPr/>
        </p:nvSpPr>
        <p:spPr>
          <a:xfrm>
            <a:off x="6524776" y="3326780"/>
            <a:ext cx="223024" cy="249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3D9F79A1-3268-423F-8A2C-ED787126F7B3}"/>
              </a:ext>
            </a:extLst>
          </p:cNvPr>
          <p:cNvSpPr/>
          <p:nvPr/>
        </p:nvSpPr>
        <p:spPr>
          <a:xfrm>
            <a:off x="6997230" y="3326779"/>
            <a:ext cx="223024" cy="2499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38F0D51F-C151-4032-9749-5A8022C3DB14}"/>
              </a:ext>
            </a:extLst>
          </p:cNvPr>
          <p:cNvSpPr/>
          <p:nvPr/>
        </p:nvSpPr>
        <p:spPr>
          <a:xfrm>
            <a:off x="4694657" y="3363400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: Rounded Corners 25">
                <a:extLst>
                  <a:ext uri="{FF2B5EF4-FFF2-40B4-BE49-F238E27FC236}">
                    <a16:creationId xmlns="" xmlns:a16="http://schemas.microsoft.com/office/drawing/2014/main" id="{AD5546A5-9606-4641-8FA4-EDCD710DBC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err="1"/>
                  <a:t>r_a</a:t>
                </a:r>
                <a:r>
                  <a:rPr lang="en-US" sz="2400" b="1" dirty="0"/>
                  <a:t>_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/>
                  <a:t>_delete</a:t>
                </a:r>
              </a:p>
            </p:txBody>
          </p:sp>
        </mc:Choice>
        <mc:Fallback xmlns=""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AD5546A5-9606-4641-8FA4-EDCD710DBC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  <a:blipFill>
                <a:blip r:embed="rId5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BD824F9C-F73E-40C3-B708-5857BBE6F32B}"/>
              </a:ext>
            </a:extLst>
          </p:cNvPr>
          <p:cNvSpPr/>
          <p:nvPr/>
        </p:nvSpPr>
        <p:spPr>
          <a:xfrm>
            <a:off x="5609990" y="3336320"/>
            <a:ext cx="223024" cy="24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CF90D7D0-890A-462C-AA0F-0F3FEDC41662}"/>
              </a:ext>
            </a:extLst>
          </p:cNvPr>
          <p:cNvSpPr/>
          <p:nvPr/>
        </p:nvSpPr>
        <p:spPr>
          <a:xfrm>
            <a:off x="4276447" y="3328776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C84A0CE-48EA-4DAA-9D27-12A60797602E}"/>
              </a:ext>
            </a:extLst>
          </p:cNvPr>
          <p:cNvSpPr/>
          <p:nvPr/>
        </p:nvSpPr>
        <p:spPr>
          <a:xfrm>
            <a:off x="5167658" y="3336320"/>
            <a:ext cx="223024" cy="24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3645E9C4-9E09-49DD-8D84-ED7ABFEC9B1F}"/>
              </a:ext>
            </a:extLst>
          </p:cNvPr>
          <p:cNvSpPr/>
          <p:nvPr/>
        </p:nvSpPr>
        <p:spPr>
          <a:xfrm>
            <a:off x="4250467" y="3323447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90E074F0-CA16-4020-9530-C3B05D48DA5E}"/>
              </a:ext>
            </a:extLst>
          </p:cNvPr>
          <p:cNvSpPr/>
          <p:nvPr/>
        </p:nvSpPr>
        <p:spPr>
          <a:xfrm>
            <a:off x="5000310" y="3186092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: Rounded Corners 25">
                <a:extLst>
                  <a:ext uri="{FF2B5EF4-FFF2-40B4-BE49-F238E27FC236}">
                    <a16:creationId xmlns="" xmlns:a16="http://schemas.microsoft.com/office/drawing/2014/main" id="{AD5546A5-9606-4641-8FA4-EDCD710DBCB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err="1"/>
                  <a:t>r_a</a:t>
                </a:r>
                <a:r>
                  <a:rPr lang="en-US" sz="2400" b="1" dirty="0"/>
                  <a:t>_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b="1" dirty="0" smtClean="0"/>
                  <a:t>_insert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24" name="Rectangle: Rounded Corners 2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D5546A5-9606-4641-8FA4-EDCD710DBC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  <a:blipFill rotWithShape="1">
                <a:blip r:embed="rId6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: Rounded Corners 29">
                <a:extLst>
                  <a:ext uri="{FF2B5EF4-FFF2-40B4-BE49-F238E27FC236}">
                    <a16:creationId xmlns="" xmlns:a16="http://schemas.microsoft.com/office/drawing/2014/main" id="{4D0C2B5E-4213-4076-9112-C9D58E76E5D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400" b="1" dirty="0" err="1"/>
                  <a:t>r_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D0C2B5E-4213-4076-9112-C9D58E76E5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904" y="4054777"/>
                <a:ext cx="2927526" cy="457200"/>
              </a:xfrm>
              <a:prstGeom prst="roundRect">
                <a:avLst/>
              </a:prstGeom>
              <a:blipFill rotWithShape="1">
                <a:blip r:embed="rId7"/>
                <a:stretch>
                  <a:fillRect t="-6329" b="-27848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: Rounded Corners 30">
            <a:extLst>
              <a:ext uri="{FF2B5EF4-FFF2-40B4-BE49-F238E27FC236}">
                <a16:creationId xmlns="" xmlns:a16="http://schemas.microsoft.com/office/drawing/2014/main" id="{F7969F16-0B09-42DB-B246-A0180820A572}"/>
              </a:ext>
            </a:extLst>
          </p:cNvPr>
          <p:cNvSpPr>
            <a:spLocks noChangeAspect="1"/>
          </p:cNvSpPr>
          <p:nvPr/>
        </p:nvSpPr>
        <p:spPr>
          <a:xfrm>
            <a:off x="2962904" y="4058020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61795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3.58025E-6 L -0.05209 -0.0012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04" y="-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3.58025E-6 L -0.04843 9.87654E-7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1" y="-62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34568E-6 L -0.04827 0.00092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62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34568E-6 L -0.05173 -1.23457E-6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52" y="-154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4568E-6 L -0.05174 -4.07407E-6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35" y="154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2.34568E-6 L -0.04878 -0.00031 " pathEditMode="relative" rAng="0" ptsTypes="AA">
                                      <p:cBhvr>
                                        <p:cTn id="1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053 -0.00031 L -0.1 0.00123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12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208 -0.00123 L -0.1 0.00155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2" y="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43 -2.22222E-6 L -0.10052 -0.00123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56" y="-93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27 0.00092 L -0.0967 0.00093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78" y="-62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173 9.87654E-7 L -0.1 0.00092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5" y="62"/>
                                    </p:animMotion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174 -2.22222E-6 L -0.10347 2.34568E-6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9" y="-62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157 0.00031 L -0.05208 -0.00123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61" y="-93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052 -0.00123 L -0.04844 9.87654E-7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74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67 0.00092 L -0.04827 0.00092 " pathEditMode="relative" rAng="0" ptsTypes="AA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-216"/>
                                    </p:animMotion>
                                  </p:childTnLst>
                                </p:cTn>
                              </p:par>
                              <p:par>
                                <p:cTn id="4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 0.00092 L -0.05173 9.87654E-7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48" y="-62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0347 2.34568E-6 L -0.05174 4.19753E-6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 0.00123 L -0.05053 -0.00031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12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/>
      <p:bldP spid="16" grpId="2"/>
      <p:bldP spid="17" grpId="0" animBg="1"/>
      <p:bldP spid="17" grpId="1"/>
      <p:bldP spid="17" grpId="2"/>
      <p:bldP spid="18" grpId="0" animBg="1"/>
      <p:bldP spid="18" grpId="1"/>
      <p:bldP spid="18" grpId="2"/>
      <p:bldP spid="25" grpId="0" animBg="1"/>
      <p:bldP spid="14" grpId="0" animBg="1"/>
      <p:bldP spid="14" grpId="1"/>
      <p:bldP spid="14" grpId="2"/>
      <p:bldP spid="27" grpId="0" animBg="1"/>
      <p:bldP spid="12" grpId="0" animBg="1"/>
      <p:bldP spid="12" grpId="1"/>
      <p:bldP spid="12" grpId="2"/>
      <p:bldP spid="28" grpId="0" animBg="1"/>
      <p:bldP spid="20" grpId="0" animBg="1"/>
      <p:bldP spid="20" grpId="1" animBg="1"/>
      <p:bldP spid="20" grpId="2" animBg="1"/>
      <p:bldP spid="24" grpId="0" animBg="1"/>
      <p:bldP spid="30" grpId="0" animBg="1"/>
      <p:bldP spid="3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829728" y="1343749"/>
            <a:ext cx="7704000" cy="13576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Encoding machines for the</a:t>
            </a:r>
            <a:br>
              <a:rPr lang="en" dirty="0" smtClean="0"/>
            </a:br>
            <a:r>
              <a:rPr lang="en" dirty="0" smtClean="0"/>
              <a:t>Universal Turing Machine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97;p49">
                <a:extLst>
                  <a:ext uri="{FF2B5EF4-FFF2-40B4-BE49-F238E27FC236}">
                    <a16:creationId xmlns="" xmlns:a16="http://schemas.microsoft.com/office/drawing/2014/main" id="{F3738D38-984F-4C63-A49E-5F841826BE52}"/>
                  </a:ext>
                </a:extLst>
              </p:cNvPr>
              <p:cNvSpPr txBox="1"/>
              <p:nvPr/>
            </p:nvSpPr>
            <p:spPr>
              <a:xfrm>
                <a:off x="919626" y="3268822"/>
                <a:ext cx="7482404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𝛴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3738D38-984F-4C63-A49E-5F841826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626" y="3268822"/>
                <a:ext cx="7482404" cy="82894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Google Shape;2397;p49">
                <a:extLst>
                  <a:ext uri="{FF2B5EF4-FFF2-40B4-BE49-F238E27FC236}">
                    <a16:creationId xmlns="" xmlns:a16="http://schemas.microsoft.com/office/drawing/2014/main" id="{F3738D38-984F-4C63-A49E-5F841826BE52}"/>
                  </a:ext>
                </a:extLst>
              </p:cNvPr>
              <p:cNvSpPr txBox="1"/>
              <p:nvPr/>
            </p:nvSpPr>
            <p:spPr>
              <a:xfrm>
                <a:off x="919626" y="3147633"/>
                <a:ext cx="7440603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/>
                          <a:sym typeface="Karla Regular"/>
                        </a:rPr>
                        <m:t>1010010110101101000101010100101001</m:t>
                      </m:r>
                    </m:oMath>
                  </m:oMathPara>
                </a14:m>
                <a:endParaRPr lang="en-US" sz="2400" b="0" dirty="0" smtClean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rgbClr val="191919"/>
                          </a:solidFill>
                          <a:latin typeface="Cambria Math"/>
                          <a:sym typeface="Karla Regular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/>
                          <a:sym typeface="Karla Regular"/>
                        </a:rPr>
                        <m:t>11</m:t>
                      </m:r>
                      <m:r>
                        <a:rPr lang="en-US" sz="2400" i="1">
                          <a:solidFill>
                            <a:srgbClr val="191919"/>
                          </a:solidFill>
                          <a:latin typeface="Cambria Math"/>
                          <a:sym typeface="Karla Regular"/>
                        </a:rPr>
                        <m:t>01</m:t>
                      </m:r>
                      <m:r>
                        <a:rPr lang="en-US" sz="2400" b="0" i="1" smtClean="0">
                          <a:solidFill>
                            <a:srgbClr val="191919"/>
                          </a:solidFill>
                          <a:latin typeface="Cambria Math"/>
                          <a:sym typeface="Karla Regular"/>
                        </a:rPr>
                        <m:t>1000101001001001000100100</m:t>
                      </m:r>
                      <m:r>
                        <a:rPr lang="en-US" sz="2400" i="1">
                          <a:solidFill>
                            <a:srgbClr val="191919"/>
                          </a:solidFill>
                          <a:latin typeface="Cambria Math"/>
                          <a:sym typeface="Karla Regular"/>
                        </a:rPr>
                        <m:t>0001</m:t>
                      </m:r>
                    </m:oMath>
                  </m:oMathPara>
                </a14:m>
                <a:endParaRPr lang="en-US" sz="2400" dirty="0">
                  <a:solidFill>
                    <a:srgbClr val="191919"/>
                  </a:solidFill>
                  <a:latin typeface="Karla Regular"/>
                  <a:sym typeface="Karla Regular"/>
                </a:endParaRPr>
              </a:p>
              <a:p>
                <a:pPr lvl="0" algn="ctr"/>
                <a:endParaRPr lang="en-US"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 lvl="0" algn="ctr"/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10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3738D38-984F-4C63-A49E-5F841826B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9626" y="3147633"/>
                <a:ext cx="7440603" cy="828941"/>
              </a:xfrm>
              <a:prstGeom prst="rect">
                <a:avLst/>
              </a:prstGeom>
              <a:blipFill rotWithShape="1">
                <a:blip r:embed="rId4"/>
                <a:stretch>
                  <a:fillRect b="-294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1030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0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Encoding states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="" xmlns:a16="http://schemas.microsoft.com/office/drawing/2014/main" id="{5B7A5C23-7399-9E8E-5A97-E818E9ACBB9D}"/>
                  </a:ext>
                </a:extLst>
              </p:cNvPr>
              <p:cNvSpPr txBox="1"/>
              <p:nvPr/>
            </p:nvSpPr>
            <p:spPr>
              <a:xfrm>
                <a:off x="1167654" y="2154007"/>
                <a:ext cx="3463819" cy="2637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𝑵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𝟔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𝒕</m:t>
                      </m:r>
                      <m:sSub>
                        <m:sSubPr>
                          <m:ctrlPr>
                            <a:rPr lang="en-US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𝒒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𝟕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:endParaRPr lang="en-US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7A5C23-7399-9E8E-5A97-E818E9ACB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54" y="2154007"/>
                <a:ext cx="3463819" cy="26377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420C03C6-5150-42DF-F8C0-FD695BE72B5E}"/>
                  </a:ext>
                </a:extLst>
              </p:cNvPr>
              <p:cNvSpPr txBox="1"/>
              <p:nvPr/>
            </p:nvSpPr>
            <p:spPr>
              <a:xfrm>
                <a:off x="5032378" y="2748198"/>
                <a:ext cx="3768211" cy="930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d>
                        <m:d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groupChr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000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groupChr>
                        </m:e>
                        <m:li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0C03C6-5150-42DF-F8C0-FD695BE72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8" y="2748198"/>
                <a:ext cx="3768211" cy="9307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F1E6CFE1-FDDF-419B-B943-BDC097F5D395}"/>
                  </a:ext>
                </a:extLst>
              </p:cNvPr>
              <p:cNvSpPr txBox="1"/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en-US" sz="2400" i="1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=({</m:t>
                      </m:r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𝑟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𝑠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}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{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},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𝐵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2400" b="0" i="1" dirty="0" smtClean="0">
                              <a:solidFill>
                                <a:schemeClr val="tx2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24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en-US" sz="2400" b="0" i="1" dirty="0" smtClean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en-US" sz="2400" i="1" dirty="0">
                          <a:solidFill>
                            <a:srgbClr val="191919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sz="2400" dirty="0">
                  <a:solidFill>
                    <a:srgbClr val="191919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1E6CFE1-FDDF-419B-B943-BDC097F5D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DD8D0ED5-99EF-4E2D-871F-6AF778814022}"/>
                  </a:ext>
                </a:extLst>
              </p:cNvPr>
              <p:cNvSpPr txBox="1"/>
              <p:nvPr/>
            </p:nvSpPr>
            <p:spPr>
              <a:xfrm>
                <a:off x="3070280" y="2147585"/>
                <a:ext cx="3463819" cy="26377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𝐞𝐧𝐜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𝐪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𝒆𝒏𝒄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𝟎𝟎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𝟎𝟎𝟎𝟎𝟎</m:t>
                      </m:r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𝟎𝟎𝟎𝟎𝟎𝟎</m:t>
                      </m:r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𝟎𝟎𝟎𝟎𝟎𝟎𝟎</m:t>
                      </m:r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:endParaRPr lang="en-US" b="1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D8D0ED5-99EF-4E2D-871F-6AF7788140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0280" y="2147585"/>
                <a:ext cx="3463819" cy="26377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224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Encoding </a:t>
            </a:r>
            <a:r>
              <a:rPr lang="en-US" dirty="0"/>
              <a:t>tape symbols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420C03C6-5150-42DF-F8C0-FD695BE72B5E}"/>
                  </a:ext>
                </a:extLst>
              </p:cNvPr>
              <p:cNvSpPr txBox="1"/>
              <p:nvPr/>
            </p:nvSpPr>
            <p:spPr>
              <a:xfrm>
                <a:off x="5032378" y="2748198"/>
                <a:ext cx="3768211" cy="9307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d>
                        <m:d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en-US" sz="3200" b="0" i="1" smtClean="0">
                              <a:latin typeface="Cambria Math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3200" b="0" i="1" smtClean="0">
                                  <a:latin typeface="Cambria Math"/>
                                </a:rPr>
                              </m:ctrlPr>
                            </m:groupChr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000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groupChr>
                        </m:e>
                        <m:lim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lim>
                      </m:limLow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420C03C6-5150-42DF-F8C0-FD695BE72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2378" y="2748198"/>
                <a:ext cx="3768211" cy="9307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F1E6CFE1-FDDF-419B-B943-BDC097F5D395}"/>
                  </a:ext>
                </a:extLst>
              </p:cNvPr>
              <p:cNvSpPr txBox="1"/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ar-AE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ar-A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{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},{</m:t>
                      </m:r>
                      <m:r>
                        <a:rPr lang="en-US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0</m:t>
                      </m:r>
                      <m:r>
                        <a:rPr lang="en-US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</m:t>
                      </m:r>
                      <m:r>
                        <a:rPr lang="en-US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2"/>
                          </a:solidFill>
                        </a:rPr>
                        <m:t>□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  <m:r>
                        <m:rPr>
                          <m:nor/>
                        </m:rPr>
                        <a:rPr lang="en-US" sz="2400">
                          <a:solidFill>
                            <a:schemeClr val="tx2"/>
                          </a:solidFill>
                        </a:rPr>
                        <m:t>□</m:t>
                      </m:r>
                      <m:r>
                        <a:rPr lang="el-GR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ar-AE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ar-A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ar-A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lang="ar-AE" sz="24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1E6CFE1-FDDF-419B-B943-BDC097F5D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C94668C9-3E40-4B91-9992-83170DB95512}"/>
                  </a:ext>
                </a:extLst>
              </p:cNvPr>
              <p:cNvSpPr txBox="1"/>
              <p:nvPr/>
            </p:nvSpPr>
            <p:spPr>
              <a:xfrm>
                <a:off x="1197391" y="2359469"/>
                <a:ext cx="1426863" cy="1991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mtClean="0">
                          <a:solidFill>
                            <a:schemeClr val="tx1"/>
                          </a:solidFill>
                        </a:rPr>
                        <m:t>□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𝒁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94668C9-3E40-4B91-9992-83170DB95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7391" y="2359469"/>
                <a:ext cx="1426863" cy="199137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F6E5A95D-5645-4A60-A197-E6A568D66612}"/>
                  </a:ext>
                </a:extLst>
              </p:cNvPr>
              <p:cNvSpPr txBox="1"/>
              <p:nvPr/>
            </p:nvSpPr>
            <p:spPr>
              <a:xfrm>
                <a:off x="2929032" y="2359469"/>
                <a:ext cx="1798568" cy="1708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𝐞𝐧𝐜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b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b="1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b="1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𝟎𝟎</m:t>
                      </m:r>
                    </m:oMath>
                  </m:oMathPara>
                </a14:m>
                <a:endParaRPr lang="en-US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𝟎𝟎𝟎𝟎</m:t>
                      </m:r>
                    </m:oMath>
                  </m:oMathPara>
                </a14:m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b="1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𝒈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sub>
                          </m:sSub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𝟎𝟎𝟎𝟎𝟎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6E5A95D-5645-4A60-A197-E6A568D666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032" y="2359469"/>
                <a:ext cx="1798568" cy="17081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29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/>
              <a:t>Encoding head movement directions</a:t>
            </a:r>
            <a:endParaRPr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="" xmlns:a16="http://schemas.microsoft.com/office/drawing/2014/main" id="{5B7A5C23-7399-9E8E-5A97-E818E9ACBB9D}"/>
                  </a:ext>
                </a:extLst>
              </p:cNvPr>
              <p:cNvSpPr txBox="1"/>
              <p:nvPr/>
            </p:nvSpPr>
            <p:spPr>
              <a:xfrm>
                <a:off x="2047118" y="1741534"/>
                <a:ext cx="1365156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←  ⇒</m:t>
                    </m:r>
                    <m:sSub>
                      <m:sSubPr>
                        <m:ctrlPr>
                          <a:rPr lang="en-US" sz="2400" b="1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𝐝</m:t>
                        </m:r>
                      </m:e>
                      <m:sub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2400" b="1" dirty="0"/>
                  <a:t> </a:t>
                </a:r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→ 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−   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sz="2400" b="1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400" b="1">
                              <a:latin typeface="Cambria Math" panose="02040503050406030204" pitchFamily="18" charset="0"/>
                            </a:rPr>
                            <m:t>𝐝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B7A5C23-7399-9E8E-5A97-E818E9ACB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118" y="1741534"/>
                <a:ext cx="1365156" cy="23083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="" xmlns:a16="http://schemas.microsoft.com/office/drawing/2014/main" id="{E36EC90E-C9E5-43F5-85B4-6F66D24B7A8C}"/>
                  </a:ext>
                </a:extLst>
              </p:cNvPr>
              <p:cNvSpPr txBox="1"/>
              <p:nvPr/>
            </p:nvSpPr>
            <p:spPr>
              <a:xfrm>
                <a:off x="4750543" y="1741534"/>
                <a:ext cx="3673457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𝒆𝒏𝒄</m:t>
                      </m:r>
                      <m:d>
                        <m:dPr>
                          <m:ctrlPr>
                            <a:rPr lang="en-US" sz="2400" b="1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←</m:t>
                          </m:r>
                        </m:e>
                      </m:d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 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𝒆𝒏𝒄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(→)  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𝟎𝟎</m:t>
                      </m:r>
                    </m:oMath>
                  </m:oMathPara>
                </a14:m>
                <a:endParaRPr lang="en-US" sz="2400" b="1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𝒆𝒏𝒄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(−)   ⇒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𝟎𝟎𝟎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36EC90E-C9E5-43F5-85B4-6F66D24B7A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0543" y="1741534"/>
                <a:ext cx="3673457" cy="23083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590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Encoding </a:t>
            </a:r>
            <a:r>
              <a:rPr lang="en-US" dirty="0"/>
              <a:t>transitions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F1E6CFE1-FDDF-419B-B943-BDC097F5D395}"/>
                  </a:ext>
                </a:extLst>
              </p:cNvPr>
              <p:cNvSpPr txBox="1"/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ar-AE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ar-A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{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},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l-GR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ar-AE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ar-A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ar-A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lang="ar-AE" sz="24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F1E6CFE1-FDDF-419B-B943-BDC097F5D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2397;p49">
                <a:extLst>
                  <a:ext uri="{FF2B5EF4-FFF2-40B4-BE49-F238E27FC236}">
                    <a16:creationId xmlns="" xmlns:a16="http://schemas.microsoft.com/office/drawing/2014/main" id="{84F11520-03C0-4F1C-92A7-99320E27E710}"/>
                  </a:ext>
                </a:extLst>
              </p:cNvPr>
              <p:cNvSpPr txBox="1"/>
              <p:nvPr/>
            </p:nvSpPr>
            <p:spPr>
              <a:xfrm>
                <a:off x="2053682" y="2581445"/>
                <a:ext cx="2105532" cy="4648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𝛿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𝑟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𝑍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,→</m:t>
                          </m:r>
                        </m:e>
                      </m:d>
                    </m:oMath>
                  </m:oMathPara>
                </a14:m>
                <a:endParaRPr lang="ar-AE" sz="18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7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4F11520-03C0-4F1C-92A7-99320E27E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682" y="2581445"/>
                <a:ext cx="2105532" cy="464813"/>
              </a:xfrm>
              <a:prstGeom prst="rect">
                <a:avLst/>
              </a:prstGeom>
              <a:blipFill rotWithShape="1">
                <a:blip r:embed="rId4"/>
                <a:stretch>
                  <a:fillRect b="-90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97;p49">
                <a:extLst>
                  <a:ext uri="{FF2B5EF4-FFF2-40B4-BE49-F238E27FC236}">
                    <a16:creationId xmlns="" xmlns:a16="http://schemas.microsoft.com/office/drawing/2014/main" id="{36E84460-3AF8-4A95-A2B6-6F3816827C63}"/>
                  </a:ext>
                </a:extLst>
              </p:cNvPr>
              <p:cNvSpPr txBox="1"/>
              <p:nvPr/>
            </p:nvSpPr>
            <p:spPr>
              <a:xfrm>
                <a:off x="1146716" y="3601379"/>
                <a:ext cx="6850566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𝛿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𝑟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𝑍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,→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)⇒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000001001000000100000100</m:t>
                      </m:r>
                    </m:oMath>
                  </m:oMathPara>
                </a14:m>
                <a:endParaRPr lang="ar-AE" sz="18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id="{36E84460-3AF8-4A95-A2B6-6F3816827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6716" y="3601379"/>
                <a:ext cx="6850566" cy="8289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Google Shape;2397;p49">
                <a:extLst>
                  <a:ext uri="{FF2B5EF4-FFF2-40B4-BE49-F238E27FC236}">
                    <a16:creationId xmlns="" xmlns:a16="http://schemas.microsoft.com/office/drawing/2014/main" id="{675D4F11-500C-4CBB-89F2-86F23D235B6B}"/>
                  </a:ext>
                </a:extLst>
              </p:cNvPr>
              <p:cNvSpPr txBox="1"/>
              <p:nvPr/>
            </p:nvSpPr>
            <p:spPr>
              <a:xfrm>
                <a:off x="1108615" y="3601379"/>
                <a:ext cx="6926767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(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𝛿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𝑟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𝑍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,→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)⇒</m:t>
                      </m:r>
                      <m:limLow>
                        <m:limLow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groupChr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00000</m:t>
                              </m:r>
                            </m:e>
                          </m:groupChr>
                        </m:e>
                        <m:li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𝑒𝑛𝑐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)</m:t>
                          </m:r>
                        </m:lim>
                      </m:limLow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1</m:t>
                      </m:r>
                      <m:limLow>
                        <m:limLow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groupChr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00</m:t>
                              </m:r>
                            </m:e>
                          </m:groupChr>
                        </m:e>
                        <m:li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𝑒𝑛𝑐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)</m:t>
                          </m:r>
                        </m:lim>
                      </m:limLow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1</m:t>
                      </m:r>
                      <m:limLow>
                        <m:limLow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groupChr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000000</m:t>
                              </m:r>
                            </m:e>
                          </m:groupChr>
                        </m:e>
                        <m:li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𝑒𝑛𝑐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)</m:t>
                          </m:r>
                        </m:lim>
                      </m:limLow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1</m:t>
                      </m:r>
                      <m:limLow>
                        <m:limLow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groupChr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00000</m:t>
                              </m:r>
                            </m:e>
                          </m:groupChr>
                        </m:e>
                        <m:li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𝑒𝑛𝑐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)</m:t>
                          </m:r>
                        </m:lim>
                      </m:limLow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1</m:t>
                      </m:r>
                      <m:limLow>
                        <m:limLow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groupChr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00</m:t>
                              </m:r>
                            </m:e>
                          </m:groupChr>
                        </m:e>
                        <m:lim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𝑒𝑛𝑐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sym typeface="Karla Regular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)</m:t>
                          </m:r>
                        </m:lim>
                      </m:limLow>
                    </m:oMath>
                  </m:oMathPara>
                </a14:m>
                <a:endParaRPr lang="ar-AE" sz="18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9" name="Google Shape;2397;p49">
                <a:extLst>
                  <a:ext uri="{FF2B5EF4-FFF2-40B4-BE49-F238E27FC236}">
                    <a16:creationId xmlns:a16="http://schemas.microsoft.com/office/drawing/2014/main" id="{675D4F11-500C-4CBB-89F2-86F23D235B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615" y="3601379"/>
                <a:ext cx="6926767" cy="828941"/>
              </a:xfrm>
              <a:prstGeom prst="rect">
                <a:avLst/>
              </a:prstGeom>
              <a:blipFill>
                <a:blip r:embed="rId6"/>
                <a:stretch>
                  <a:fillRect r="-748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Dreptunghi 1"/>
              <p:cNvSpPr/>
              <p:nvPr/>
            </p:nvSpPr>
            <p:spPr>
              <a:xfrm>
                <a:off x="4206347" y="2629185"/>
                <a:ext cx="29154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⇒</m:t>
                      </m:r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/>
                          <a:ea typeface="Karla Regular"/>
                          <a:cs typeface="Karla Regular"/>
                          <a:sym typeface="Karla Regular"/>
                        </a:rPr>
                        <m:t>  </m:t>
                      </m:r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𝛿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=(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6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 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𝑔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5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𝑑</m:t>
                          </m:r>
                        </m:e>
                        <m: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) </m:t>
                      </m:r>
                    </m:oMath>
                  </m:oMathPara>
                </a14:m>
                <a:endParaRPr lang="ar-AE" sz="18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2" name="Dreptunghi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6347" y="2629185"/>
                <a:ext cx="2915413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1046" b="-24590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439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8" grpId="1"/>
      <p:bldP spid="9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Encoding a </a:t>
            </a:r>
            <a:r>
              <a:rPr lang="en-US" dirty="0"/>
              <a:t>transition function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F1E6CFE1-FDDF-419B-B943-BDC097F5D395}"/>
                  </a:ext>
                </a:extLst>
              </p:cNvPr>
              <p:cNvSpPr txBox="1"/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ar-AE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ar-AE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{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},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l-GR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ar-AE" sz="2400" b="0" i="1" dirty="0" smtClean="0">
                              <a:solidFill>
                                <a:schemeClr val="tx1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ar-A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ar-AE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ar-AE" sz="24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ar-AE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lang="ar-AE" sz="24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F1E6CFE1-FDDF-419B-B943-BDC097F5D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Google Shape;2397;p49">
                <a:extLst>
                  <a:ext uri="{FF2B5EF4-FFF2-40B4-BE49-F238E27FC236}">
                    <a16:creationId xmlns="" xmlns:a16="http://schemas.microsoft.com/office/drawing/2014/main" id="{84F11520-03C0-4F1C-92A7-99320E27E710}"/>
                  </a:ext>
                </a:extLst>
              </p:cNvPr>
              <p:cNvSpPr txBox="1"/>
              <p:nvPr/>
            </p:nvSpPr>
            <p:spPr>
              <a:xfrm>
                <a:off x="871653" y="2147585"/>
                <a:ext cx="5036634" cy="13390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𝛿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0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d>
                        <m:d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𝑟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𝑋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,→</m:t>
                          </m:r>
                        </m:e>
                      </m:d>
                      <m:r>
                        <a:rPr lang="en-US" sz="1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⇒</m:t>
                      </m:r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Karla Regular"/>
                  <a:cs typeface="Karla Regular"/>
                  <a:sym typeface="Karla Regular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𝛿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1</m:t>
                          </m:r>
                        </m:e>
                      </m:d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𝑠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𝑋</m:t>
                          </m:r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,−</m:t>
                          </m:r>
                        </m:e>
                      </m:d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⇒</m:t>
                      </m:r>
                      <m:sSub>
                        <m:sSubPr>
                          <m:ctrlPr>
                            <a:rPr lang="en-US" sz="1800" i="1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1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2</m:t>
                          </m:r>
                        </m:sub>
                      </m:sSub>
                      <m:r>
                        <a:rPr lang="en-US" sz="1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 </m:t>
                      </m:r>
                    </m:oMath>
                  </m:oMathPara>
                </a14:m>
                <a:endParaRPr lang="ar-AE" sz="18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Karla Regular"/>
                        <a:cs typeface="Karla Regular"/>
                        <a:sym typeface="Karla Regular"/>
                      </a:rPr>
                      <m:t> </m:t>
                    </m:r>
                  </m:oMath>
                </a14:m>
                <a:r>
                  <a:rPr lang="en-US" sz="1800" dirty="0">
                    <a:solidFill>
                      <a:schemeClr val="tx1"/>
                    </a:solidFill>
                    <a:latin typeface="Karla Regular"/>
                    <a:ea typeface="Karla Regular"/>
                    <a:cs typeface="Karla Regular"/>
                    <a:sym typeface="Karla Regular"/>
                  </a:rPr>
                  <a:t>…</a:t>
                </a:r>
                <a:endParaRPr lang="ar-AE" sz="18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7" name="Google Shape;2397;p49">
                <a:extLst>
                  <a:ext uri="{FF2B5EF4-FFF2-40B4-BE49-F238E27FC236}">
                    <a16:creationId xmlns:a16="http://schemas.microsoft.com/office/drawing/2014/main" id="{84F11520-03C0-4F1C-92A7-99320E27E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653" y="2147585"/>
                <a:ext cx="5036634" cy="1339030"/>
              </a:xfrm>
              <a:prstGeom prst="rect">
                <a:avLst/>
              </a:prstGeom>
              <a:blipFill>
                <a:blip r:embed="rId4"/>
                <a:stretch>
                  <a:fillRect l="-121" b="-68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97;p49">
                <a:extLst>
                  <a:ext uri="{FF2B5EF4-FFF2-40B4-BE49-F238E27FC236}">
                    <a16:creationId xmlns="" xmlns:a16="http://schemas.microsoft.com/office/drawing/2014/main" id="{36E84460-3AF8-4A95-A2B6-6F3816827C63}"/>
                  </a:ext>
                </a:extLst>
              </p:cNvPr>
              <p:cNvSpPr txBox="1"/>
              <p:nvPr/>
            </p:nvSpPr>
            <p:spPr>
              <a:xfrm>
                <a:off x="817756" y="3869534"/>
                <a:ext cx="7606244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𝛿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11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11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11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…</m:t>
                      </m:r>
                      <m:r>
                        <a:rPr lang="en-US" sz="2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11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𝛿</m:t>
                          </m:r>
                        </m:e>
                        <m:sub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Γ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Karla Regular"/>
                                  <a:cs typeface="Karla Regular"/>
                                  <a:sym typeface="Karla Regular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Karla Regular"/>
                                  <a:cs typeface="Karla Regular"/>
                                  <a:sym typeface="Karla Regular"/>
                                </a:rPr>
                                <m:t>𝑄</m:t>
                              </m:r>
                            </m:e>
                          </m:d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lang="ar-AE" sz="20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6E84460-3AF8-4A95-A2B6-6F3816827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756" y="3869534"/>
                <a:ext cx="7606244" cy="82894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519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" name="Google Shape;2386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Input of a UTM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Google Shape;2397;p49">
                <a:extLst>
                  <a:ext uri="{FF2B5EF4-FFF2-40B4-BE49-F238E27FC236}">
                    <a16:creationId xmlns="" xmlns:a16="http://schemas.microsoft.com/office/drawing/2014/main" id="{F1E6CFE1-FDDF-419B-B943-BDC097F5D395}"/>
                  </a:ext>
                </a:extLst>
              </p:cNvPr>
              <p:cNvSpPr txBox="1"/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𝑀</m:t>
                      </m:r>
                      <m:r>
                        <a:rPr lang="ar-AE" sz="24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=(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𝑄</m:t>
                      </m:r>
                      <m:r>
                        <a:rPr lang="ar-AE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{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0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1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},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Γ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l-GR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sSub>
                        <m:sSubPr>
                          <m:ctrlPr>
                            <a:rPr lang="ar-AE" sz="2400" b="0" i="1" dirty="0" smtClean="0">
                              <a:solidFill>
                                <a:schemeClr val="tx2"/>
                              </a:solidFill>
                              <a:latin typeface="Cambria Math"/>
                              <a:sym typeface="Karla Regular"/>
                            </a:rPr>
                          </m:ctrlPr>
                        </m:sSubPr>
                        <m:e>
                          <m:r>
                            <a:rPr lang="ar-AE" sz="24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𝑞</m:t>
                          </m:r>
                        </m:e>
                        <m:sub>
                          <m:r>
                            <a:rPr lang="ar-AE" sz="2400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sym typeface="Karla Regular"/>
                            </a:rPr>
                            <m:t>1</m:t>
                          </m:r>
                        </m:sub>
                      </m:sSub>
                      <m:r>
                        <a:rPr lang="ar-AE" sz="24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 </m:t>
                      </m:r>
                      <m:r>
                        <a:rPr lang="ar-AE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𝑌</m:t>
                      </m:r>
                      <m:r>
                        <a:rPr lang="ar-AE" sz="24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𝑁</m:t>
                      </m:r>
                      <m:r>
                        <a:rPr lang="ar-AE" sz="24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𝐻</m:t>
                      </m:r>
                      <m:r>
                        <a:rPr lang="ar-AE" sz="2400" b="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,</m:t>
                      </m:r>
                      <m:r>
                        <a:rPr lang="ar-AE" sz="2400" i="1" dirty="0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𝛿</m:t>
                      </m:r>
                      <m:r>
                        <a:rPr lang="ar-AE" sz="2400" i="1" dirty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sym typeface="Karla Regular"/>
                        </a:rPr>
                        <m:t>)</m:t>
                      </m:r>
                    </m:oMath>
                  </m:oMathPara>
                </a14:m>
                <a:endParaRPr lang="ar-AE" sz="2400" dirty="0">
                  <a:solidFill>
                    <a:schemeClr val="tx2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5" name="Google Shape;2397;p49">
                <a:extLst>
                  <a:ext uri="{FF2B5EF4-FFF2-40B4-BE49-F238E27FC236}">
                    <a16:creationId xmlns:a16="http://schemas.microsoft.com/office/drawing/2014/main" id="{F1E6CFE1-FDDF-419B-B943-BDC097F5D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2848" y="1318644"/>
                <a:ext cx="6118303" cy="8289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2397;p49">
                <a:extLst>
                  <a:ext uri="{FF2B5EF4-FFF2-40B4-BE49-F238E27FC236}">
                    <a16:creationId xmlns="" xmlns:a16="http://schemas.microsoft.com/office/drawing/2014/main" id="{36E84460-3AF8-4A95-A2B6-6F3816827C63}"/>
                  </a:ext>
                </a:extLst>
              </p:cNvPr>
              <p:cNvSpPr txBox="1"/>
              <p:nvPr/>
            </p:nvSpPr>
            <p:spPr>
              <a:xfrm>
                <a:off x="768877" y="2448505"/>
                <a:ext cx="7606244" cy="547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𝛿</m:t>
                          </m:r>
                        </m:e>
                      </m:d>
                    </m:oMath>
                  </m:oMathPara>
                </a14:m>
                <a:endParaRPr lang="ar-AE" sz="32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8" name="Google Shape;2397;p49">
                <a:extLst>
                  <a:ext uri="{FF2B5EF4-FFF2-40B4-BE49-F238E27FC236}">
                    <a16:creationId xmlns:a16="http://schemas.microsoft.com/office/drawing/2014/main" id="{36E84460-3AF8-4A95-A2B6-6F3816827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77" y="2448505"/>
                <a:ext cx="7606244" cy="547412"/>
              </a:xfrm>
              <a:prstGeom prst="rect">
                <a:avLst/>
              </a:prstGeom>
              <a:blipFill>
                <a:blip r:embed="rId4"/>
                <a:stretch>
                  <a:fillRect t="-6742" b="-516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Google Shape;2397;p49">
                <a:extLst>
                  <a:ext uri="{FF2B5EF4-FFF2-40B4-BE49-F238E27FC236}">
                    <a16:creationId xmlns="" xmlns:a16="http://schemas.microsoft.com/office/drawing/2014/main" id="{4C9A6AD9-EBA6-46C2-A49D-F2C309A04936}"/>
                  </a:ext>
                </a:extLst>
              </p:cNvPr>
              <p:cNvSpPr txBox="1"/>
              <p:nvPr/>
            </p:nvSpPr>
            <p:spPr>
              <a:xfrm>
                <a:off x="768877" y="3578365"/>
                <a:ext cx="7606244" cy="5474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(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, 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𝑤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)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=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𝑒𝑛𝑐</m:t>
                      </m:r>
                      <m:d>
                        <m:d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/>
                              <a:ea typeface="Karla Regular"/>
                              <a:cs typeface="Karla Regular"/>
                              <a:sym typeface="Karla Regular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Karla Regular"/>
                              <a:cs typeface="Karla Regular"/>
                              <a:sym typeface="Karla Regular"/>
                            </a:rPr>
                            <m:t>𝑀</m:t>
                          </m:r>
                        </m:e>
                      </m:d>
                      <m:r>
                        <a:rPr lang="en-US" sz="32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111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Karla Regular"/>
                          <a:cs typeface="Karla Regular"/>
                          <a:sym typeface="Karla Regular"/>
                        </a:rPr>
                        <m:t>𝑤</m:t>
                      </m:r>
                    </m:oMath>
                  </m:oMathPara>
                </a14:m>
                <a:endParaRPr lang="ar-AE" sz="3200" dirty="0">
                  <a:solidFill>
                    <a:schemeClr val="tx1"/>
                  </a:solidFill>
                  <a:latin typeface="Karla Regular"/>
                  <a:ea typeface="Karla Regular"/>
                  <a:cs typeface="Karla Regular"/>
                  <a:sym typeface="Karla Regular"/>
                </a:endParaRPr>
              </a:p>
            </p:txBody>
          </p:sp>
        </mc:Choice>
        <mc:Fallback xmlns="">
          <p:sp>
            <p:nvSpPr>
              <p:cNvPr id="6" name="Google Shape;2397;p4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4C9A6AD9-EBA6-46C2-A49D-F2C309A04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877" y="3578365"/>
                <a:ext cx="7606244" cy="547412"/>
              </a:xfrm>
              <a:prstGeom prst="rect">
                <a:avLst/>
              </a:prstGeom>
              <a:blipFill rotWithShape="1">
                <a:blip r:embed="rId5"/>
                <a:stretch>
                  <a:fillRect t="-5556" b="-5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610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Google Shape;2381;p48">
                <a:extLst>
                  <a:ext uri="{FF2B5EF4-FFF2-40B4-BE49-F238E27FC236}">
                    <a16:creationId xmlns="" xmlns:a16="http://schemas.microsoft.com/office/drawing/2014/main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25915047"/>
                  </p:ext>
                </p:extLst>
              </p:nvPr>
            </p:nvGraphicFramePr>
            <p:xfrm>
              <a:off x="1109816" y="1252041"/>
              <a:ext cx="6924368" cy="1824987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=""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="" xmlns:a16="http://schemas.microsoft.com/office/drawing/2014/main" val="670237904"/>
                        </a:ext>
                      </a:extLst>
                    </a:gridCol>
                  </a:tblGrid>
                  <a:tr h="608329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0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1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1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</m:oMath>
                            </m:oMathPara>
                          </a14:m>
                          <a:endParaRPr lang="en-US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608329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←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608329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𝑌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0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1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−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𝑁</m:t>
                                </m:r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◻,−</m:t>
                                </m:r>
                              </m:oMath>
                            </m:oMathPara>
                          </a14:m>
                          <a:endParaRPr lang="en-US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Google Shape;2381;p48">
                <a:extLst>
                  <a:ext uri="{FF2B5EF4-FFF2-40B4-BE49-F238E27FC236}">
                    <a16:creationId xmlns:a16="http://schemas.microsoft.com/office/drawing/2014/main" id="{C91D8B96-B941-B0E1-CA82-2CB5AB095DC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25915047"/>
                  </p:ext>
                </p:extLst>
              </p:nvPr>
            </p:nvGraphicFramePr>
            <p:xfrm>
              <a:off x="1109816" y="1252041"/>
              <a:ext cx="6924368" cy="1824987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608329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0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ro-RO" sz="2400" b="1" dirty="0">
                              <a:sym typeface="Karla"/>
                            </a:rPr>
                            <a:t>1</a:t>
                          </a:r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4000" r="-3169" b="-2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83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104000" r="-303169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104000" r="-203169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104000" r="-103169" b="-1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104000" r="-3169" b="-1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83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204000" r="-303169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204000" r="-203169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204000" r="-103169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04000" r="-3169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Google Shape;2386;p49">
            <a:extLst>
              <a:ext uri="{FF2B5EF4-FFF2-40B4-BE49-F238E27FC236}">
                <a16:creationId xmlns="" xmlns:a16="http://schemas.microsoft.com/office/drawing/2014/main" id="{1A503847-AD8B-4373-9DAD-ADECF5BCD4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encoding </a:t>
            </a:r>
            <a:r>
              <a:rPr lang="en" dirty="0">
                <a:latin typeface="Lucida Sans" panose="020B0602030504020204" pitchFamily="34" charset="0"/>
              </a:rPr>
              <a:t>- </a:t>
            </a:r>
            <a:r>
              <a:rPr lang="en-US" dirty="0" err="1">
                <a:latin typeface="Lucida Sans" panose="020B0602030504020204" pitchFamily="34" charset="0"/>
              </a:rPr>
              <a:t>isEven</a:t>
            </a:r>
            <a:endParaRPr dirty="0">
              <a:latin typeface="Lucida Sans" panose="020B0602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42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2386;p49">
            <a:extLst>
              <a:ext uri="{FF2B5EF4-FFF2-40B4-BE49-F238E27FC236}">
                <a16:creationId xmlns="" xmlns:a16="http://schemas.microsoft.com/office/drawing/2014/main" id="{6F7D91BA-6F31-9922-7C1B-E8C3574756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Example encoding </a:t>
            </a:r>
            <a:r>
              <a:rPr lang="en" dirty="0">
                <a:latin typeface="Lucida Sans" panose="020B0602030504020204" pitchFamily="34" charset="0"/>
              </a:rPr>
              <a:t>- </a:t>
            </a:r>
            <a:r>
              <a:rPr lang="en-US" dirty="0" err="1">
                <a:latin typeface="Lucida Sans" panose="020B0602030504020204" pitchFamily="34" charset="0"/>
              </a:rPr>
              <a:t>isEven</a:t>
            </a:r>
            <a:endParaRPr dirty="0">
              <a:latin typeface="Lucida Sans" panose="020B0602030504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Google Shape;2381;p48">
                <a:extLst>
                  <a:ext uri="{FF2B5EF4-FFF2-40B4-BE49-F238E27FC236}">
                    <a16:creationId xmlns="" xmlns:a16="http://schemas.microsoft.com/office/drawing/2014/main" id="{59AEAD8A-133C-B627-E3DB-4C85728E336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5050527"/>
                  </p:ext>
                </p:extLst>
              </p:nvPr>
            </p:nvGraphicFramePr>
            <p:xfrm>
              <a:off x="1109816" y="1248762"/>
              <a:ext cx="6924368" cy="1827813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=""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="" xmlns:a16="http://schemas.microsoft.com/office/drawing/2014/main" val="670237904"/>
                        </a:ext>
                      </a:extLst>
                    </a:gridCol>
                  </a:tblGrid>
                  <a:tr h="60927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ro-RO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60927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AE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5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60927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solidFill>
                                          <a:schemeClr val="bg2"/>
                                        </a:solidFill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𝒒</m:t>
                                    </m:r>
                                  </m:e>
                                  <m:sub>
                                    <m:r>
                                      <a:rPr lang="en-US" sz="2400" b="1" i="0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1" dirty="0">
                            <a:solidFill>
                              <a:schemeClr val="bg2"/>
                            </a:solidFill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2400" b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accent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/>
                                      <a:sym typeface="Karla"/>
                                    </a:rPr>
                                  </m:ctrlPr>
                                </m:sSubPr>
                                <m:e>
                                  <m:r>
                                    <a:rPr lang="ar-AE" sz="2400" b="0" smtClean="0">
                                      <a:latin typeface="Cambria Math" panose="02040503050406030204" pitchFamily="18" charset="0"/>
                                      <a:sym typeface="Karla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  <a:sym typeface="Karla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ar-AE" sz="2400" b="0" smtClean="0">
                                  <a:latin typeface="Cambria Math" panose="02040503050406030204" pitchFamily="18" charset="0"/>
                                  <a:sym typeface="Karla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/>
                                      <a:sym typeface="Karla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sym typeface="Karla"/>
                                    </a:rPr>
                                    <m:t>𝑔</m:t>
                                  </m:r>
                                </m:e>
                                <m:sub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  <a:sym typeface="Karla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2400" b="0" smtClean="0">
                                  <a:latin typeface="Cambria Math" panose="02040503050406030204" pitchFamily="18" charset="0"/>
                                  <a:sym typeface="Karla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/>
                                      <a:sym typeface="Karla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 b="0" i="0" smtClean="0">
                                      <a:latin typeface="Cambria Math" panose="02040503050406030204" pitchFamily="18" charset="0"/>
                                      <a:sym typeface="Karla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en-US" sz="2400" b="0" i="0" smtClean="0">
                                      <a:latin typeface="Cambria Math" panose="02040503050406030204" pitchFamily="18" charset="0"/>
                                      <a:sym typeface="Karla"/>
                                    </a:rPr>
                                    <m:t>3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2400" b="0" dirty="0">
                              <a:latin typeface="Karla"/>
                              <a:ea typeface="Karla"/>
                              <a:cs typeface="Karla"/>
                              <a:sym typeface="Karla"/>
                            </a:rPr>
                            <a:t> </a:t>
                          </a:r>
                          <a:endParaRPr lang="ar-AE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q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ar-AE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0" smtClean="0">
                                    <a:latin typeface="Cambria Math" panose="02040503050406030204" pitchFamily="18" charset="0"/>
                                    <a:sym typeface="Karla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/>
                                        <a:sym typeface="Karla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d</m:t>
                                    </m:r>
                                  </m:e>
                                  <m:sub>
                                    <m:r>
                                      <a:rPr lang="en-US" sz="2400" b="0" i="0" smtClean="0">
                                        <a:latin typeface="Cambria Math" panose="02040503050406030204" pitchFamily="18" charset="0"/>
                                        <a:sym typeface="Karla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Google Shape;2381;p48">
                <a:extLst>
                  <a:ext uri="{FF2B5EF4-FFF2-40B4-BE49-F238E27FC236}">
                    <a16:creationId xmlns:a16="http://schemas.microsoft.com/office/drawing/2014/main" id="{59AEAD8A-133C-B627-E3DB-4C85728E3367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75050527"/>
                  </p:ext>
                </p:extLst>
              </p:nvPr>
            </p:nvGraphicFramePr>
            <p:xfrm>
              <a:off x="1109816" y="1248762"/>
              <a:ext cx="6924368" cy="1827813"/>
            </p:xfrm>
            <a:graphic>
              <a:graphicData uri="http://schemas.openxmlformats.org/drawingml/2006/table">
                <a:tbl>
                  <a:tblPr firstRow="1">
                    <a:tableStyleId>{08FB837D-C827-4EFA-A057-4D05807E0F7C}</a:tableStyleId>
                  </a:tblPr>
                  <a:tblGrid>
                    <a:gridCol w="173109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1825011256"/>
                        </a:ext>
                      </a:extLst>
                    </a:gridCol>
                    <a:gridCol w="1731092">
                      <a:extLst>
                        <a:ext uri="{9D8B030D-6E8A-4147-A177-3AD203B41FA5}">
                          <a16:colId xmlns:a16="http://schemas.microsoft.com/office/drawing/2014/main" val="670237904"/>
                        </a:ext>
                      </a:extLst>
                    </a:gridCol>
                  </a:tblGrid>
                  <a:tr h="609271">
                    <a:tc>
                      <a:txBody>
                        <a:bodyPr/>
                        <a:lstStyle/>
                        <a:p>
                          <a:pPr marL="0" lvl="0" indent="0" algn="ctr" rtl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endParaRPr sz="2400" b="0" dirty="0">
                            <a:latin typeface="Karla"/>
                            <a:ea typeface="Karla"/>
                            <a:cs typeface="Karla"/>
                            <a:sym typeface="Karla"/>
                          </a:endParaRPr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4000" r="-203169" b="-213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4000" r="-103169" b="-213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4000" r="-3169" b="-213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092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102970" r="-303169" b="-1108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102970" r="-203169" b="-1108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102970" r="-103169" b="-1108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102970" r="-3169" b="-11089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0927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817" t="-205000" r="-303169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102817" t="-205000" r="-203169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202817" t="-205000" r="-103169" b="-12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1425" marR="91425" marT="91425" marB="9142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02817" t="-205000" r="-3169" b="-12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DE202BC8-6278-4978-A285-006A5BAE95CE}"/>
              </a:ext>
            </a:extLst>
          </p:cNvPr>
          <p:cNvSpPr/>
          <p:nvPr/>
        </p:nvSpPr>
        <p:spPr>
          <a:xfrm>
            <a:off x="1109816" y="1865971"/>
            <a:ext cx="3462184" cy="594731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3A05943-60BB-43E4-BD0F-DC39246D2D58}"/>
              </a:ext>
            </a:extLst>
          </p:cNvPr>
          <p:cNvSpPr/>
          <p:nvPr/>
        </p:nvSpPr>
        <p:spPr>
          <a:xfrm>
            <a:off x="2851530" y="1248762"/>
            <a:ext cx="1720470" cy="121193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="" xmlns:a16="http://schemas.microsoft.com/office/drawing/2014/main" id="{FE31CAC3-8BFE-43D9-BC97-709781EEB2FB}"/>
                  </a:ext>
                </a:extLst>
              </p:cNvPr>
              <p:cNvSpPr txBox="1"/>
              <p:nvPr/>
            </p:nvSpPr>
            <p:spPr>
              <a:xfrm>
                <a:off x="1109816" y="3512620"/>
                <a:ext cx="135761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𝑒𝑛𝑐</m:t>
                      </m:r>
                      <m:d>
                        <m:dPr>
                          <m:ctrlPr>
                            <a:rPr lang="en-US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𝑖𝑠𝐸𝑣𝑒𝑛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E31CAC3-8BFE-43D9-BC97-709781EEB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16" y="3512620"/>
                <a:ext cx="1357613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F9CFF7CC-FEB0-42C4-AB4E-F16A335273FF}"/>
                  </a:ext>
                </a:extLst>
              </p:cNvPr>
              <p:cNvSpPr txBox="1"/>
              <p:nvPr/>
            </p:nvSpPr>
            <p:spPr>
              <a:xfrm>
                <a:off x="2354152" y="3512619"/>
                <a:ext cx="1158305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0101010100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9CFF7CC-FEB0-42C4-AB4E-F16A33527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152" y="3512619"/>
                <a:ext cx="1158305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BF5C05A2-D2EA-4C0C-B088-18701DE60276}"/>
              </a:ext>
            </a:extLst>
          </p:cNvPr>
          <p:cNvSpPr/>
          <p:nvPr/>
        </p:nvSpPr>
        <p:spPr>
          <a:xfrm>
            <a:off x="4582622" y="1248762"/>
            <a:ext cx="1720470" cy="121193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03FD8042-5013-42EB-9435-82540C93EDAD}"/>
              </a:ext>
            </a:extLst>
          </p:cNvPr>
          <p:cNvSpPr/>
          <p:nvPr/>
        </p:nvSpPr>
        <p:spPr>
          <a:xfrm>
            <a:off x="1120438" y="1854731"/>
            <a:ext cx="5182654" cy="594731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6A0B6036-0871-477B-8DF3-67560B4F4164}"/>
                  </a:ext>
                </a:extLst>
              </p:cNvPr>
              <p:cNvSpPr txBox="1"/>
              <p:nvPr/>
            </p:nvSpPr>
            <p:spPr>
              <a:xfrm>
                <a:off x="3630260" y="3512620"/>
                <a:ext cx="135761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010010100100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A0B6036-0871-477B-8DF3-67560B4F4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0260" y="3512620"/>
                <a:ext cx="1357613" cy="307777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52615F1E-42FE-4997-B85C-8216A122934C}"/>
              </a:ext>
            </a:extLst>
          </p:cNvPr>
          <p:cNvSpPr/>
          <p:nvPr/>
        </p:nvSpPr>
        <p:spPr>
          <a:xfrm>
            <a:off x="6303092" y="1248762"/>
            <a:ext cx="1720470" cy="1211939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F90BAA14-1718-420B-9181-4220E9F1F30E}"/>
              </a:ext>
            </a:extLst>
          </p:cNvPr>
          <p:cNvSpPr/>
          <p:nvPr/>
        </p:nvSpPr>
        <p:spPr>
          <a:xfrm>
            <a:off x="1131060" y="1854730"/>
            <a:ext cx="6892502" cy="594731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id="{8B916422-88C6-449C-A6F8-79F9ACB3EBEB}"/>
                  </a:ext>
                </a:extLst>
              </p:cNvPr>
              <p:cNvSpPr txBox="1"/>
              <p:nvPr/>
            </p:nvSpPr>
            <p:spPr>
              <a:xfrm>
                <a:off x="5107215" y="3517486"/>
                <a:ext cx="183321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01000100000100010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B916422-88C6-449C-A6F8-79F9ACB3E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215" y="3517486"/>
                <a:ext cx="1833219" cy="307777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8690B8F0-2274-41FD-AAC4-A10A7B2D09C1}"/>
              </a:ext>
            </a:extLst>
          </p:cNvPr>
          <p:cNvSpPr/>
          <p:nvPr/>
        </p:nvSpPr>
        <p:spPr>
          <a:xfrm>
            <a:off x="2851530" y="1248762"/>
            <a:ext cx="1720470" cy="1827813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41617E34-3F9F-4946-968E-7BE4FBE27489}"/>
              </a:ext>
            </a:extLst>
          </p:cNvPr>
          <p:cNvSpPr/>
          <p:nvPr/>
        </p:nvSpPr>
        <p:spPr>
          <a:xfrm>
            <a:off x="1127168" y="2471272"/>
            <a:ext cx="3462184" cy="594731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="" xmlns:a16="http://schemas.microsoft.com/office/drawing/2014/main" id="{579413D4-5A5B-4721-A848-834AFC4E5B68}"/>
                  </a:ext>
                </a:extLst>
              </p:cNvPr>
              <p:cNvSpPr txBox="1"/>
              <p:nvPr/>
            </p:nvSpPr>
            <p:spPr>
              <a:xfrm>
                <a:off x="2362829" y="3820396"/>
                <a:ext cx="1833219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0000010100101000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79413D4-5A5B-4721-A848-834AFC4E5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829" y="3820396"/>
                <a:ext cx="1833219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3A5BE104-230E-468D-A908-557F6D2BB238}"/>
              </a:ext>
            </a:extLst>
          </p:cNvPr>
          <p:cNvSpPr/>
          <p:nvPr/>
        </p:nvSpPr>
        <p:spPr>
          <a:xfrm>
            <a:off x="4572000" y="1248762"/>
            <a:ext cx="1720470" cy="1827813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C1F939A1-1445-4331-ADD2-EE5FCD65CE1E}"/>
              </a:ext>
            </a:extLst>
          </p:cNvPr>
          <p:cNvSpPr/>
          <p:nvPr/>
        </p:nvSpPr>
        <p:spPr>
          <a:xfrm>
            <a:off x="1109816" y="2471272"/>
            <a:ext cx="5182654" cy="594731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="" xmlns:a16="http://schemas.microsoft.com/office/drawing/2014/main" id="{A5D29942-B6BD-4730-9F2E-E5532DDF8181}"/>
                  </a:ext>
                </a:extLst>
              </p:cNvPr>
              <p:cNvSpPr txBox="1"/>
              <p:nvPr/>
            </p:nvSpPr>
            <p:spPr>
              <a:xfrm>
                <a:off x="4196048" y="3817939"/>
                <a:ext cx="215174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0000010010001001000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D29942-B6BD-4730-9F2E-E5532DDF81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048" y="3817939"/>
                <a:ext cx="2151742" cy="307777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DB163DEA-0F9C-4A61-8F08-1B2D614DFEA4}"/>
              </a:ext>
            </a:extLst>
          </p:cNvPr>
          <p:cNvSpPr/>
          <p:nvPr/>
        </p:nvSpPr>
        <p:spPr>
          <a:xfrm>
            <a:off x="6303092" y="1259617"/>
            <a:ext cx="1720470" cy="1827813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85C29FEA-41F8-4501-B3AC-E4954C250D31}"/>
              </a:ext>
            </a:extLst>
          </p:cNvPr>
          <p:cNvSpPr/>
          <p:nvPr/>
        </p:nvSpPr>
        <p:spPr>
          <a:xfrm>
            <a:off x="1124330" y="2471272"/>
            <a:ext cx="6892502" cy="594731"/>
          </a:xfrm>
          <a:prstGeom prst="rect">
            <a:avLst/>
          </a:prstGeom>
          <a:solidFill>
            <a:schemeClr val="accent1">
              <a:lumMod val="60000"/>
              <a:lumOff val="4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="" xmlns:a16="http://schemas.microsoft.com/office/drawing/2014/main" id="{BE31229B-15C1-4A28-9D9D-E436A15EAFA2}"/>
                  </a:ext>
                </a:extLst>
              </p:cNvPr>
              <p:cNvSpPr txBox="1"/>
              <p:nvPr/>
            </p:nvSpPr>
            <p:spPr>
              <a:xfrm>
                <a:off x="6347790" y="3817937"/>
                <a:ext cx="2238827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000001000100010001000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BE31229B-15C1-4A28-9D9D-E436A15EAF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7790" y="3817937"/>
                <a:ext cx="2238827" cy="307777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14">
                <a:extLst>
                  <a:ext uri="{FF2B5EF4-FFF2-40B4-BE49-F238E27FC236}">
                    <a16:creationId xmlns="" xmlns:a16="http://schemas.microsoft.com/office/drawing/2014/main" id="{6A0B6036-0871-477B-8DF3-67560B4F4164}"/>
                  </a:ext>
                </a:extLst>
              </p:cNvPr>
              <p:cNvSpPr txBox="1"/>
              <p:nvPr/>
            </p:nvSpPr>
            <p:spPr>
              <a:xfrm>
                <a:off x="3382324" y="3512618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9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A0B6036-0871-477B-8DF3-67560B4F4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324" y="3512618"/>
                <a:ext cx="329441" cy="307777"/>
              </a:xfrm>
              <a:prstGeom prst="rect">
                <a:avLst/>
              </a:prstGeom>
              <a:blipFill rotWithShape="1">
                <a:blip r:embed="rId11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14">
                <a:extLst>
                  <a:ext uri="{FF2B5EF4-FFF2-40B4-BE49-F238E27FC236}">
                    <a16:creationId xmlns="" xmlns:a16="http://schemas.microsoft.com/office/drawing/2014/main" id="{6A0B6036-0871-477B-8DF3-67560B4F4164}"/>
                  </a:ext>
                </a:extLst>
              </p:cNvPr>
              <p:cNvSpPr txBox="1"/>
              <p:nvPr/>
            </p:nvSpPr>
            <p:spPr>
              <a:xfrm>
                <a:off x="4879945" y="3517486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A0B6036-0871-477B-8DF3-67560B4F4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9945" y="3517486"/>
                <a:ext cx="329441" cy="307777"/>
              </a:xfrm>
              <a:prstGeom prst="rect">
                <a:avLst/>
              </a:prstGeom>
              <a:blipFill rotWithShape="1">
                <a:blip r:embed="rId11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14">
                <a:extLst>
                  <a:ext uri="{FF2B5EF4-FFF2-40B4-BE49-F238E27FC236}">
                    <a16:creationId xmlns="" xmlns:a16="http://schemas.microsoft.com/office/drawing/2014/main" id="{6A0B6036-0871-477B-8DF3-67560B4F4164}"/>
                  </a:ext>
                </a:extLst>
              </p:cNvPr>
              <p:cNvSpPr txBox="1"/>
              <p:nvPr/>
            </p:nvSpPr>
            <p:spPr>
              <a:xfrm>
                <a:off x="6833886" y="3517486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A0B6036-0871-477B-8DF3-67560B4F4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3886" y="3517486"/>
                <a:ext cx="329441" cy="307777"/>
              </a:xfrm>
              <a:prstGeom prst="rect">
                <a:avLst/>
              </a:prstGeom>
              <a:blipFill rotWithShape="1">
                <a:blip r:embed="rId12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14">
                <a:extLst>
                  <a:ext uri="{FF2B5EF4-FFF2-40B4-BE49-F238E27FC236}">
                    <a16:creationId xmlns="" xmlns:a16="http://schemas.microsoft.com/office/drawing/2014/main" id="{6A0B6036-0871-477B-8DF3-67560B4F4164}"/>
                  </a:ext>
                </a:extLst>
              </p:cNvPr>
              <p:cNvSpPr txBox="1"/>
              <p:nvPr/>
            </p:nvSpPr>
            <p:spPr>
              <a:xfrm>
                <a:off x="3979625" y="3820395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A0B6036-0871-477B-8DF3-67560B4F4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9625" y="3820395"/>
                <a:ext cx="329441" cy="307777"/>
              </a:xfrm>
              <a:prstGeom prst="rect">
                <a:avLst/>
              </a:prstGeom>
              <a:blipFill rotWithShape="1">
                <a:blip r:embed="rId13"/>
                <a:stretch>
                  <a:fillRect r="-555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14">
                <a:extLst>
                  <a:ext uri="{FF2B5EF4-FFF2-40B4-BE49-F238E27FC236}">
                    <a16:creationId xmlns="" xmlns:a16="http://schemas.microsoft.com/office/drawing/2014/main" id="{6A0B6036-0871-477B-8DF3-67560B4F4164}"/>
                  </a:ext>
                </a:extLst>
              </p:cNvPr>
              <p:cNvSpPr txBox="1"/>
              <p:nvPr/>
            </p:nvSpPr>
            <p:spPr>
              <a:xfrm>
                <a:off x="6127749" y="3817938"/>
                <a:ext cx="32944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11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A0B6036-0871-477B-8DF3-67560B4F4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7749" y="3817938"/>
                <a:ext cx="329441" cy="307777"/>
              </a:xfrm>
              <a:prstGeom prst="rect">
                <a:avLst/>
              </a:prstGeom>
              <a:blipFill rotWithShape="1">
                <a:blip r:embed="rId12"/>
                <a:stretch>
                  <a:fillRect r="-7407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011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9" grpId="0" animBg="1"/>
      <p:bldP spid="9" grpId="1" animBg="1"/>
      <p:bldP spid="12" grpId="0"/>
      <p:bldP spid="13" grpId="0" animBg="1"/>
      <p:bldP spid="13" grpId="1" animBg="1"/>
      <p:bldP spid="14" grpId="0" animBg="1"/>
      <p:bldP spid="14" grpId="1" animBg="1"/>
      <p:bldP spid="15" grpId="0"/>
      <p:bldP spid="16" grpId="0" animBg="1"/>
      <p:bldP spid="16" grpId="1" animBg="1"/>
      <p:bldP spid="17" grpId="0" animBg="1"/>
      <p:bldP spid="17" grpId="1" animBg="1"/>
      <p:bldP spid="18" grpId="0"/>
      <p:bldP spid="19" grpId="0" animBg="1"/>
      <p:bldP spid="19" grpId="1" animBg="1"/>
      <p:bldP spid="21" grpId="0" animBg="1"/>
      <p:bldP spid="21" grpId="1" animBg="1"/>
      <p:bldP spid="22" grpId="0"/>
      <p:bldP spid="23" grpId="0" animBg="1"/>
      <p:bldP spid="23" grpId="1" animBg="1"/>
      <p:bldP spid="24" grpId="0" animBg="1"/>
      <p:bldP spid="24" grpId="1" animBg="1"/>
      <p:bldP spid="25" grpId="0"/>
      <p:bldP spid="26" grpId="0" animBg="1"/>
      <p:bldP spid="27" grpId="0" animBg="1"/>
      <p:bldP spid="28" grpId="0"/>
      <p:bldP spid="29" grpId="0"/>
      <p:bldP spid="32" grpId="0"/>
      <p:bldP spid="33" grpId="0"/>
      <p:bldP spid="34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3">
            <a:extLst>
              <a:ext uri="{FF2B5EF4-FFF2-40B4-BE49-F238E27FC236}">
                <a16:creationId xmlns="" xmlns:a16="http://schemas.microsoft.com/office/drawing/2014/main" id="{255CD34B-9431-40B3-A97D-AA6FB2EB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352863"/>
              </p:ext>
            </p:extLst>
          </p:nvPr>
        </p:nvGraphicFramePr>
        <p:xfrm>
          <a:off x="-4498760" y="364722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55" name="Rectangle: Rounded Corners 54">
            <a:extLst>
              <a:ext uri="{FF2B5EF4-FFF2-40B4-BE49-F238E27FC236}">
                <a16:creationId xmlns="" xmlns:a16="http://schemas.microsoft.com/office/drawing/2014/main" id="{A19E74BC-C727-4291-8C2C-FC9CF590B299}"/>
              </a:ext>
            </a:extLst>
          </p:cNvPr>
          <p:cNvSpPr>
            <a:spLocks noChangeAspect="1"/>
          </p:cNvSpPr>
          <p:nvPr/>
        </p:nvSpPr>
        <p:spPr>
          <a:xfrm>
            <a:off x="3093003" y="4438515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init</a:t>
            </a:r>
            <a:endParaRPr lang="en-US" sz="2400" b="1" dirty="0"/>
          </a:p>
        </p:txBody>
      </p:sp>
      <p:graphicFrame>
        <p:nvGraphicFramePr>
          <p:cNvPr id="14" name="Table 3">
            <a:extLst>
              <a:ext uri="{FF2B5EF4-FFF2-40B4-BE49-F238E27FC236}">
                <a16:creationId xmlns="" xmlns:a16="http://schemas.microsoft.com/office/drawing/2014/main" id="{DF746E40-DA0E-810F-CAD4-179092464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592018"/>
              </p:ext>
            </p:extLst>
          </p:nvPr>
        </p:nvGraphicFramePr>
        <p:xfrm>
          <a:off x="-4080419" y="301290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15" name="Table 3">
            <a:extLst>
              <a:ext uri="{FF2B5EF4-FFF2-40B4-BE49-F238E27FC236}">
                <a16:creationId xmlns="" xmlns:a16="http://schemas.microsoft.com/office/drawing/2014/main" id="{766350FB-A753-E80B-FE53-3652D2123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622210"/>
              </p:ext>
            </p:extLst>
          </p:nvPr>
        </p:nvGraphicFramePr>
        <p:xfrm>
          <a:off x="-4086006" y="2340154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20105585-37A0-ED0C-3F29-6E17A1B72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99485"/>
              </p:ext>
            </p:extLst>
          </p:nvPr>
        </p:nvGraphicFramePr>
        <p:xfrm>
          <a:off x="-3998644" y="817526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99ABDC4C-46D2-47AE-B8EA-414DF06A6646}"/>
              </a:ext>
            </a:extLst>
          </p:cNvPr>
          <p:cNvSpPr>
            <a:spLocks noChangeAspect="1"/>
          </p:cNvSpPr>
          <p:nvPr/>
        </p:nvSpPr>
        <p:spPr>
          <a:xfrm>
            <a:off x="3128579" y="111758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q</a:t>
            </a:r>
            <a:r>
              <a:rPr lang="en-US" sz="2000" b="1" baseline="-25000" dirty="0"/>
              <a:t>1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="" xmlns:a16="http://schemas.microsoft.com/office/drawing/2014/main" id="{774C2A6D-F3FF-4052-B899-15977A4E7632}"/>
              </a:ext>
            </a:extLst>
          </p:cNvPr>
          <p:cNvSpPr>
            <a:spLocks noChangeAspect="1"/>
          </p:cNvSpPr>
          <p:nvPr/>
        </p:nvSpPr>
        <p:spPr>
          <a:xfrm>
            <a:off x="2858894" y="805301"/>
            <a:ext cx="2278102" cy="457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7F44D1-1FFF-4A2B-3CC1-75970825CC7C}"/>
              </a:ext>
            </a:extLst>
          </p:cNvPr>
          <p:cNvSpPr/>
          <p:nvPr/>
        </p:nvSpPr>
        <p:spPr>
          <a:xfrm>
            <a:off x="2829478" y="783578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="" xmlns:a16="http://schemas.microsoft.com/office/drawing/2014/main" id="{FD6B4D31-B19B-49A5-ADCF-FD6CD025CAC3}"/>
              </a:ext>
            </a:extLst>
          </p:cNvPr>
          <p:cNvSpPr>
            <a:spLocks noChangeAspect="1"/>
          </p:cNvSpPr>
          <p:nvPr/>
        </p:nvSpPr>
        <p:spPr>
          <a:xfrm>
            <a:off x="944137" y="2340154"/>
            <a:ext cx="3665034" cy="4572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enc(M)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="" xmlns:a16="http://schemas.microsoft.com/office/drawing/2014/main" id="{13435717-E599-4DD6-BC7E-2AF07163DA4A}"/>
              </a:ext>
            </a:extLst>
          </p:cNvPr>
          <p:cNvSpPr>
            <a:spLocks noChangeAspect="1"/>
          </p:cNvSpPr>
          <p:nvPr/>
        </p:nvSpPr>
        <p:spPr>
          <a:xfrm>
            <a:off x="5969844" y="2340154"/>
            <a:ext cx="2278102" cy="457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enc(w)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D74D9029-A152-434A-BAA1-7481DDF56016}"/>
              </a:ext>
            </a:extLst>
          </p:cNvPr>
          <p:cNvSpPr/>
          <p:nvPr/>
        </p:nvSpPr>
        <p:spPr>
          <a:xfrm>
            <a:off x="4713249" y="2438400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="" xmlns:a16="http://schemas.microsoft.com/office/drawing/2014/main" id="{9C5F3087-17E2-497C-85E9-17464455FF41}"/>
              </a:ext>
            </a:extLst>
          </p:cNvPr>
          <p:cNvSpPr/>
          <p:nvPr/>
        </p:nvSpPr>
        <p:spPr>
          <a:xfrm>
            <a:off x="5177995" y="2433494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="" xmlns:a16="http://schemas.microsoft.com/office/drawing/2014/main" id="{B8302F9F-74A4-47F0-A54E-60246A50010C}"/>
              </a:ext>
            </a:extLst>
          </p:cNvPr>
          <p:cNvSpPr/>
          <p:nvPr/>
        </p:nvSpPr>
        <p:spPr>
          <a:xfrm>
            <a:off x="5642741" y="2432618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: Rounded Corners 63">
            <a:extLst>
              <a:ext uri="{FF2B5EF4-FFF2-40B4-BE49-F238E27FC236}">
                <a16:creationId xmlns="" xmlns:a16="http://schemas.microsoft.com/office/drawing/2014/main" id="{46B34ADF-23B8-4BD2-AA43-81EEEC2037CB}"/>
              </a:ext>
            </a:extLst>
          </p:cNvPr>
          <p:cNvSpPr>
            <a:spLocks noChangeAspect="1"/>
          </p:cNvSpPr>
          <p:nvPr/>
        </p:nvSpPr>
        <p:spPr>
          <a:xfrm>
            <a:off x="3096721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copy_input</a:t>
            </a:r>
            <a:endParaRPr lang="en-US" sz="2400" b="1" dirty="0"/>
          </a:p>
        </p:txBody>
      </p:sp>
      <p:sp>
        <p:nvSpPr>
          <p:cNvPr id="65" name="Rectangle: Rounded Corners 64">
            <a:extLst>
              <a:ext uri="{FF2B5EF4-FFF2-40B4-BE49-F238E27FC236}">
                <a16:creationId xmlns="" xmlns:a16="http://schemas.microsoft.com/office/drawing/2014/main" id="{5F54EDD3-2C89-4645-AB32-65C544D3D0A1}"/>
              </a:ext>
            </a:extLst>
          </p:cNvPr>
          <p:cNvSpPr>
            <a:spLocks noChangeAspect="1"/>
          </p:cNvSpPr>
          <p:nvPr/>
        </p:nvSpPr>
        <p:spPr>
          <a:xfrm>
            <a:off x="943393" y="3012908"/>
            <a:ext cx="2278102" cy="457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enc(w)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BDFCCE10-E547-042C-D1D4-04E11B8A135A}"/>
              </a:ext>
            </a:extLst>
          </p:cNvPr>
          <p:cNvSpPr/>
          <p:nvPr/>
        </p:nvSpPr>
        <p:spPr>
          <a:xfrm>
            <a:off x="917374" y="2965056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: Rounded Corners 65">
            <a:extLst>
              <a:ext uri="{FF2B5EF4-FFF2-40B4-BE49-F238E27FC236}">
                <a16:creationId xmlns="" xmlns:a16="http://schemas.microsoft.com/office/drawing/2014/main" id="{DF0F21D8-0082-46A4-B87A-D90A2CA2110F}"/>
              </a:ext>
            </a:extLst>
          </p:cNvPr>
          <p:cNvSpPr>
            <a:spLocks noChangeAspect="1"/>
          </p:cNvSpPr>
          <p:nvPr/>
        </p:nvSpPr>
        <p:spPr>
          <a:xfrm>
            <a:off x="943393" y="3649832"/>
            <a:ext cx="116790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enc(q</a:t>
            </a:r>
            <a:r>
              <a:rPr lang="en-US" sz="2000" b="1" baseline="-25000" dirty="0"/>
              <a:t>1</a:t>
            </a:r>
            <a:r>
              <a:rPr lang="en-US" sz="2000" b="1" dirty="0"/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5BAFCFD-20A5-3B52-E18E-111A4BFF5974}"/>
              </a:ext>
            </a:extLst>
          </p:cNvPr>
          <p:cNvSpPr/>
          <p:nvPr/>
        </p:nvSpPr>
        <p:spPr>
          <a:xfrm>
            <a:off x="904767" y="2306737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="" xmlns:a16="http://schemas.microsoft.com/office/drawing/2014/main" id="{C25F06E3-6E3F-4E14-BE6D-157D33E3A11F}"/>
              </a:ext>
            </a:extLst>
          </p:cNvPr>
          <p:cNvSpPr/>
          <p:nvPr/>
        </p:nvSpPr>
        <p:spPr>
          <a:xfrm>
            <a:off x="943393" y="3608110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="" xmlns:a16="http://schemas.microsoft.com/office/drawing/2014/main" id="{429BC4B2-CF3C-4B59-95E8-CC994DF16EFC}"/>
              </a:ext>
            </a:extLst>
          </p:cNvPr>
          <p:cNvSpPr>
            <a:spLocks noChangeAspect="1"/>
          </p:cNvSpPr>
          <p:nvPr/>
        </p:nvSpPr>
        <p:spPr>
          <a:xfrm>
            <a:off x="3093003" y="4438515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reset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="" xmlns:a16="http://schemas.microsoft.com/office/drawing/2014/main" id="{29096996-629C-4186-BB86-DC89B2794043}"/>
              </a:ext>
            </a:extLst>
          </p:cNvPr>
          <p:cNvSpPr>
            <a:spLocks noChangeAspect="1"/>
          </p:cNvSpPr>
          <p:nvPr/>
        </p:nvSpPr>
        <p:spPr>
          <a:xfrm>
            <a:off x="3089285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find_transition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169486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3.58025E-6 L 0.10539 -0.00062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60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539 -0.00062 L 4.72222E-6 8.64198E-7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4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0 L 0.54948 0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46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4948 0 L 0.79982 0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17" y="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3.58025E-6 L 0.24896 0.0021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448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79982 0 L -4.16667E-6 0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0000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896 0.00216 L -2.22222E-6 3.08642E-6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8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7" grpId="0" animBg="1"/>
      <p:bldP spid="7" grpId="0" animBg="1"/>
      <p:bldP spid="59" grpId="0" animBg="1"/>
      <p:bldP spid="61" grpId="0" animBg="1"/>
      <p:bldP spid="19" grpId="0" animBg="1"/>
      <p:bldP spid="62" grpId="0" animBg="1"/>
      <p:bldP spid="63" grpId="0" animBg="1"/>
      <p:bldP spid="64" grpId="0" animBg="1"/>
      <p:bldP spid="65" grpId="0" animBg="1"/>
      <p:bldP spid="17" grpId="0" animBg="1"/>
      <p:bldP spid="17" grpId="1" animBg="1"/>
      <p:bldP spid="17" grpId="2" animBg="1"/>
      <p:bldP spid="66" grpId="0" animBg="1"/>
      <p:bldP spid="18" grpId="0" animBg="1"/>
      <p:bldP spid="18" grpId="1" animBg="1"/>
      <p:bldP spid="18" grpId="2" animBg="1"/>
      <p:bldP spid="18" grpId="3" animBg="1"/>
      <p:bldP spid="60" grpId="0" animBg="1"/>
      <p:bldP spid="60" grpId="1" animBg="1"/>
      <p:bldP spid="60" grpId="2" animBg="1"/>
      <p:bldP spid="67" grpId="0" animBg="1"/>
      <p:bldP spid="6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3">
            <a:extLst>
              <a:ext uri="{FF2B5EF4-FFF2-40B4-BE49-F238E27FC236}">
                <a16:creationId xmlns="" xmlns:a16="http://schemas.microsoft.com/office/drawing/2014/main" id="{255CD34B-9431-40B3-A97D-AA6FB2EB4362}"/>
              </a:ext>
            </a:extLst>
          </p:cNvPr>
          <p:cNvGraphicFramePr>
            <a:graphicFrameLocks noGrp="1"/>
          </p:cNvGraphicFramePr>
          <p:nvPr/>
        </p:nvGraphicFramePr>
        <p:xfrm>
          <a:off x="-4498760" y="364722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55" name="Rectangle: Rounded Corners 54">
            <a:extLst>
              <a:ext uri="{FF2B5EF4-FFF2-40B4-BE49-F238E27FC236}">
                <a16:creationId xmlns="" xmlns:a16="http://schemas.microsoft.com/office/drawing/2014/main" id="{A19E74BC-C727-4291-8C2C-FC9CF590B299}"/>
              </a:ext>
            </a:extLst>
          </p:cNvPr>
          <p:cNvSpPr>
            <a:spLocks noChangeAspect="1"/>
          </p:cNvSpPr>
          <p:nvPr/>
        </p:nvSpPr>
        <p:spPr>
          <a:xfrm>
            <a:off x="3093003" y="4438515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init</a:t>
            </a:r>
            <a:endParaRPr lang="en-US" sz="2400" b="1" dirty="0"/>
          </a:p>
        </p:txBody>
      </p:sp>
      <p:graphicFrame>
        <p:nvGraphicFramePr>
          <p:cNvPr id="14" name="Table 3">
            <a:extLst>
              <a:ext uri="{FF2B5EF4-FFF2-40B4-BE49-F238E27FC236}">
                <a16:creationId xmlns="" xmlns:a16="http://schemas.microsoft.com/office/drawing/2014/main" id="{DF746E40-DA0E-810F-CAD4-1790924644F9}"/>
              </a:ext>
            </a:extLst>
          </p:cNvPr>
          <p:cNvGraphicFramePr>
            <a:graphicFrameLocks noGrp="1"/>
          </p:cNvGraphicFramePr>
          <p:nvPr/>
        </p:nvGraphicFramePr>
        <p:xfrm>
          <a:off x="-4080419" y="301290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15" name="Table 3">
            <a:extLst>
              <a:ext uri="{FF2B5EF4-FFF2-40B4-BE49-F238E27FC236}">
                <a16:creationId xmlns="" xmlns:a16="http://schemas.microsoft.com/office/drawing/2014/main" id="{766350FB-A753-E80B-FE53-3652D212354D}"/>
              </a:ext>
            </a:extLst>
          </p:cNvPr>
          <p:cNvGraphicFramePr>
            <a:graphicFrameLocks noGrp="1"/>
          </p:cNvGraphicFramePr>
          <p:nvPr/>
        </p:nvGraphicFramePr>
        <p:xfrm>
          <a:off x="-4086006" y="2340154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20105585-37A0-ED0C-3F29-6E17A1B72EB8}"/>
              </a:ext>
            </a:extLst>
          </p:cNvPr>
          <p:cNvGraphicFramePr>
            <a:graphicFrameLocks noGrp="1"/>
          </p:cNvGraphicFramePr>
          <p:nvPr/>
        </p:nvGraphicFramePr>
        <p:xfrm>
          <a:off x="-3998644" y="817526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99ABDC4C-46D2-47AE-B8EA-414DF06A6646}"/>
              </a:ext>
            </a:extLst>
          </p:cNvPr>
          <p:cNvSpPr>
            <a:spLocks noChangeAspect="1"/>
          </p:cNvSpPr>
          <p:nvPr/>
        </p:nvSpPr>
        <p:spPr>
          <a:xfrm>
            <a:off x="3128579" y="111758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/>
              <a:t>q</a:t>
            </a:r>
            <a:r>
              <a:rPr lang="en-US" sz="2000" b="1" baseline="-25000" dirty="0" err="1"/>
              <a:t>j</a:t>
            </a:r>
            <a:endParaRPr lang="en-US" sz="2000" b="1" baseline="-25000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="" xmlns:a16="http://schemas.microsoft.com/office/drawing/2014/main" id="{774C2A6D-F3FF-4052-B899-15977A4E7632}"/>
              </a:ext>
            </a:extLst>
          </p:cNvPr>
          <p:cNvSpPr>
            <a:spLocks noChangeAspect="1"/>
          </p:cNvSpPr>
          <p:nvPr/>
        </p:nvSpPr>
        <p:spPr>
          <a:xfrm>
            <a:off x="2858893" y="805301"/>
            <a:ext cx="5117945" cy="457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tape contents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7F44D1-1FFF-4A2B-3CC1-75970825CC7C}"/>
              </a:ext>
            </a:extLst>
          </p:cNvPr>
          <p:cNvSpPr/>
          <p:nvPr/>
        </p:nvSpPr>
        <p:spPr>
          <a:xfrm>
            <a:off x="5125635" y="76559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="" xmlns:a16="http://schemas.microsoft.com/office/drawing/2014/main" id="{FD6B4D31-B19B-49A5-ADCF-FD6CD025CAC3}"/>
              </a:ext>
            </a:extLst>
          </p:cNvPr>
          <p:cNvSpPr>
            <a:spLocks noChangeAspect="1"/>
          </p:cNvSpPr>
          <p:nvPr/>
        </p:nvSpPr>
        <p:spPr>
          <a:xfrm>
            <a:off x="944137" y="2340154"/>
            <a:ext cx="3665034" cy="457200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2"/>
                </a:solidFill>
              </a:rPr>
              <a:t>enc(M)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="" xmlns:a16="http://schemas.microsoft.com/office/drawing/2014/main" id="{13435717-E599-4DD6-BC7E-2AF07163DA4A}"/>
              </a:ext>
            </a:extLst>
          </p:cNvPr>
          <p:cNvSpPr>
            <a:spLocks noChangeAspect="1"/>
          </p:cNvSpPr>
          <p:nvPr/>
        </p:nvSpPr>
        <p:spPr>
          <a:xfrm>
            <a:off x="5969844" y="2340154"/>
            <a:ext cx="2278102" cy="457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enc(w)</a:t>
            </a:r>
          </a:p>
        </p:txBody>
      </p:sp>
      <p:sp>
        <p:nvSpPr>
          <p:cNvPr id="64" name="Rectangle: Rounded Corners 63">
            <a:extLst>
              <a:ext uri="{FF2B5EF4-FFF2-40B4-BE49-F238E27FC236}">
                <a16:creationId xmlns="" xmlns:a16="http://schemas.microsoft.com/office/drawing/2014/main" id="{46B34ADF-23B8-4BD2-AA43-81EEEC2037CB}"/>
              </a:ext>
            </a:extLst>
          </p:cNvPr>
          <p:cNvSpPr>
            <a:spLocks noChangeAspect="1"/>
          </p:cNvSpPr>
          <p:nvPr/>
        </p:nvSpPr>
        <p:spPr>
          <a:xfrm>
            <a:off x="3096721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copy_input</a:t>
            </a:r>
            <a:endParaRPr lang="en-US" sz="2400" b="1" dirty="0"/>
          </a:p>
        </p:txBody>
      </p:sp>
      <p:sp>
        <p:nvSpPr>
          <p:cNvPr id="66" name="Rectangle: Rounded Corners 65">
            <a:extLst>
              <a:ext uri="{FF2B5EF4-FFF2-40B4-BE49-F238E27FC236}">
                <a16:creationId xmlns="" xmlns:a16="http://schemas.microsoft.com/office/drawing/2014/main" id="{DF0F21D8-0082-46A4-B87A-D90A2CA2110F}"/>
              </a:ext>
            </a:extLst>
          </p:cNvPr>
          <p:cNvSpPr>
            <a:spLocks noChangeAspect="1"/>
          </p:cNvSpPr>
          <p:nvPr/>
        </p:nvSpPr>
        <p:spPr>
          <a:xfrm>
            <a:off x="943393" y="3649832"/>
            <a:ext cx="116790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enc(</a:t>
            </a:r>
            <a:r>
              <a:rPr lang="en-US" sz="2000" b="1" dirty="0" err="1"/>
              <a:t>q</a:t>
            </a:r>
            <a:r>
              <a:rPr lang="en-US" sz="2000" b="1" baseline="-25000" dirty="0" err="1"/>
              <a:t>j</a:t>
            </a:r>
            <a:r>
              <a:rPr lang="en-US" sz="2000" b="1" dirty="0"/>
              <a:t>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5BAFCFD-20A5-3B52-E18E-111A4BFF5974}"/>
              </a:ext>
            </a:extLst>
          </p:cNvPr>
          <p:cNvSpPr/>
          <p:nvPr/>
        </p:nvSpPr>
        <p:spPr>
          <a:xfrm>
            <a:off x="904767" y="2306737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>
            <a:extLst>
              <a:ext uri="{FF2B5EF4-FFF2-40B4-BE49-F238E27FC236}">
                <a16:creationId xmlns="" xmlns:a16="http://schemas.microsoft.com/office/drawing/2014/main" id="{C25F06E3-6E3F-4E14-BE6D-157D33E3A11F}"/>
              </a:ext>
            </a:extLst>
          </p:cNvPr>
          <p:cNvSpPr/>
          <p:nvPr/>
        </p:nvSpPr>
        <p:spPr>
          <a:xfrm>
            <a:off x="943393" y="3608110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="" xmlns:a16="http://schemas.microsoft.com/office/drawing/2014/main" id="{429BC4B2-CF3C-4B59-95E8-CC994DF16EFC}"/>
              </a:ext>
            </a:extLst>
          </p:cNvPr>
          <p:cNvSpPr>
            <a:spLocks noChangeAspect="1"/>
          </p:cNvSpPr>
          <p:nvPr/>
        </p:nvSpPr>
        <p:spPr>
          <a:xfrm>
            <a:off x="3093003" y="4438515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reset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="" xmlns:a16="http://schemas.microsoft.com/office/drawing/2014/main" id="{29096996-629C-4186-BB86-DC89B2794043}"/>
              </a:ext>
            </a:extLst>
          </p:cNvPr>
          <p:cNvSpPr>
            <a:spLocks noChangeAspect="1"/>
          </p:cNvSpPr>
          <p:nvPr/>
        </p:nvSpPr>
        <p:spPr>
          <a:xfrm>
            <a:off x="3089285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find_transition</a:t>
            </a:r>
            <a:endParaRPr lang="en-US" sz="2400" b="1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="" xmlns:a16="http://schemas.microsoft.com/office/drawing/2014/main" id="{8A3694DC-4087-4B62-9E2A-B79D9A81D8F0}"/>
              </a:ext>
            </a:extLst>
          </p:cNvPr>
          <p:cNvSpPr>
            <a:spLocks noChangeAspect="1"/>
          </p:cNvSpPr>
          <p:nvPr/>
        </p:nvSpPr>
        <p:spPr>
          <a:xfrm>
            <a:off x="943393" y="3012908"/>
            <a:ext cx="7769427" cy="4572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enc(tape contents)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BDFCCE10-E547-042C-D1D4-04E11B8A135A}"/>
              </a:ext>
            </a:extLst>
          </p:cNvPr>
          <p:cNvSpPr/>
          <p:nvPr/>
        </p:nvSpPr>
        <p:spPr>
          <a:xfrm>
            <a:off x="5025982" y="2975841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86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3">
            <a:extLst>
              <a:ext uri="{FF2B5EF4-FFF2-40B4-BE49-F238E27FC236}">
                <a16:creationId xmlns="" xmlns:a16="http://schemas.microsoft.com/office/drawing/2014/main" id="{255CD34B-9431-40B3-A97D-AA6FB2EB43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541401"/>
              </p:ext>
            </p:extLst>
          </p:nvPr>
        </p:nvGraphicFramePr>
        <p:xfrm>
          <a:off x="-4498760" y="364722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55" name="Rectangle: Rounded Corners 54">
            <a:extLst>
              <a:ext uri="{FF2B5EF4-FFF2-40B4-BE49-F238E27FC236}">
                <a16:creationId xmlns="" xmlns:a16="http://schemas.microsoft.com/office/drawing/2014/main" id="{A19E74BC-C727-4291-8C2C-FC9CF590B299}"/>
              </a:ext>
            </a:extLst>
          </p:cNvPr>
          <p:cNvSpPr>
            <a:spLocks noChangeAspect="1"/>
          </p:cNvSpPr>
          <p:nvPr/>
        </p:nvSpPr>
        <p:spPr>
          <a:xfrm>
            <a:off x="3093003" y="4438515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init</a:t>
            </a:r>
            <a:endParaRPr lang="en-US" sz="2400" b="1" dirty="0"/>
          </a:p>
        </p:txBody>
      </p:sp>
      <p:graphicFrame>
        <p:nvGraphicFramePr>
          <p:cNvPr id="14" name="Table 3">
            <a:extLst>
              <a:ext uri="{FF2B5EF4-FFF2-40B4-BE49-F238E27FC236}">
                <a16:creationId xmlns="" xmlns:a16="http://schemas.microsoft.com/office/drawing/2014/main" id="{DF746E40-DA0E-810F-CAD4-179092464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999045"/>
              </p:ext>
            </p:extLst>
          </p:nvPr>
        </p:nvGraphicFramePr>
        <p:xfrm>
          <a:off x="-4080419" y="301290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15" name="Table 3">
            <a:extLst>
              <a:ext uri="{FF2B5EF4-FFF2-40B4-BE49-F238E27FC236}">
                <a16:creationId xmlns="" xmlns:a16="http://schemas.microsoft.com/office/drawing/2014/main" id="{766350FB-A753-E80B-FE53-3652D2123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6812387"/>
              </p:ext>
            </p:extLst>
          </p:nvPr>
        </p:nvGraphicFramePr>
        <p:xfrm>
          <a:off x="-4086006" y="2340154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20105585-37A0-ED0C-3F29-6E17A1B72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3919376"/>
              </p:ext>
            </p:extLst>
          </p:nvPr>
        </p:nvGraphicFramePr>
        <p:xfrm>
          <a:off x="-3998644" y="817526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Z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99ABDC4C-46D2-47AE-B8EA-414DF06A6646}"/>
              </a:ext>
            </a:extLst>
          </p:cNvPr>
          <p:cNvSpPr>
            <a:spLocks noChangeAspect="1"/>
          </p:cNvSpPr>
          <p:nvPr/>
        </p:nvSpPr>
        <p:spPr>
          <a:xfrm>
            <a:off x="3128579" y="111758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</a:t>
            </a:r>
            <a:endParaRPr lang="en-US" sz="2000" b="1" baseline="-2500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7F44D1-1FFF-4A2B-3CC1-75970825CC7C}"/>
              </a:ext>
            </a:extLst>
          </p:cNvPr>
          <p:cNvSpPr/>
          <p:nvPr/>
        </p:nvSpPr>
        <p:spPr>
          <a:xfrm>
            <a:off x="5110767" y="782910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="" xmlns:a16="http://schemas.microsoft.com/office/drawing/2014/main" id="{46B34ADF-23B8-4BD2-AA43-81EEEC2037CB}"/>
              </a:ext>
            </a:extLst>
          </p:cNvPr>
          <p:cNvSpPr>
            <a:spLocks noChangeAspect="1"/>
          </p:cNvSpPr>
          <p:nvPr/>
        </p:nvSpPr>
        <p:spPr>
          <a:xfrm>
            <a:off x="3096721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copy_input</a:t>
            </a:r>
            <a:endParaRPr lang="en-US" sz="24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5BAFCFD-20A5-3B52-E18E-111A4BFF5974}"/>
              </a:ext>
            </a:extLst>
          </p:cNvPr>
          <p:cNvSpPr/>
          <p:nvPr/>
        </p:nvSpPr>
        <p:spPr>
          <a:xfrm>
            <a:off x="904768" y="2284608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="" xmlns:a16="http://schemas.microsoft.com/office/drawing/2014/main" id="{429BC4B2-CF3C-4B59-95E8-CC994DF16EFC}"/>
              </a:ext>
            </a:extLst>
          </p:cNvPr>
          <p:cNvSpPr>
            <a:spLocks noChangeAspect="1"/>
          </p:cNvSpPr>
          <p:nvPr/>
        </p:nvSpPr>
        <p:spPr>
          <a:xfrm>
            <a:off x="3093003" y="4438515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reset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="" xmlns:a16="http://schemas.microsoft.com/office/drawing/2014/main" id="{29096996-629C-4186-BB86-DC89B2794043}"/>
              </a:ext>
            </a:extLst>
          </p:cNvPr>
          <p:cNvSpPr>
            <a:spLocks noChangeAspect="1"/>
          </p:cNvSpPr>
          <p:nvPr/>
        </p:nvSpPr>
        <p:spPr>
          <a:xfrm>
            <a:off x="3089285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find_transition</a:t>
            </a:r>
            <a:endParaRPr lang="en-US" sz="2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90E074F0-CA16-4020-9530-C3B05D48DA5E}"/>
              </a:ext>
            </a:extLst>
          </p:cNvPr>
          <p:cNvSpPr/>
          <p:nvPr/>
        </p:nvSpPr>
        <p:spPr>
          <a:xfrm>
            <a:off x="953090" y="3596735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="" xmlns:a16="http://schemas.microsoft.com/office/drawing/2014/main" id="{8C6ACBC8-950E-4A2D-8FAB-678B653B1682}"/>
              </a:ext>
            </a:extLst>
          </p:cNvPr>
          <p:cNvSpPr>
            <a:spLocks noChangeAspect="1"/>
          </p:cNvSpPr>
          <p:nvPr/>
        </p:nvSpPr>
        <p:spPr>
          <a:xfrm>
            <a:off x="3089285" y="4431081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check_state</a:t>
            </a:r>
            <a:endParaRPr lang="en-US" sz="24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0E9732A7-CE62-4312-BC06-37C5B435E7B4}"/>
              </a:ext>
            </a:extLst>
          </p:cNvPr>
          <p:cNvSpPr/>
          <p:nvPr/>
        </p:nvSpPr>
        <p:spPr>
          <a:xfrm>
            <a:off x="5035691" y="2974474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: Rounded Corners 23">
            <a:extLst>
              <a:ext uri="{FF2B5EF4-FFF2-40B4-BE49-F238E27FC236}">
                <a16:creationId xmlns="" xmlns:a16="http://schemas.microsoft.com/office/drawing/2014/main" id="{8503884F-71E6-443F-BE98-5247C2C06F9A}"/>
              </a:ext>
            </a:extLst>
          </p:cNvPr>
          <p:cNvSpPr>
            <a:spLocks noChangeAspect="1"/>
          </p:cNvSpPr>
          <p:nvPr/>
        </p:nvSpPr>
        <p:spPr>
          <a:xfrm>
            <a:off x="3089285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go_to_symbol</a:t>
            </a:r>
            <a:endParaRPr lang="en-US" sz="2400" b="1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="" xmlns:a16="http://schemas.microsoft.com/office/drawing/2014/main" id="{65CABF3E-E659-47A2-A65D-C326330A872A}"/>
              </a:ext>
            </a:extLst>
          </p:cNvPr>
          <p:cNvSpPr>
            <a:spLocks noChangeAspect="1"/>
          </p:cNvSpPr>
          <p:nvPr/>
        </p:nvSpPr>
        <p:spPr>
          <a:xfrm>
            <a:off x="3096125" y="4431081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check_symbol</a:t>
            </a:r>
            <a:endParaRPr lang="en-US" sz="24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8B911FED-E3A0-4DA3-B3FE-4FD92223EF36}"/>
              </a:ext>
            </a:extLst>
          </p:cNvPr>
          <p:cNvSpPr>
            <a:spLocks noChangeAspect="1"/>
          </p:cNvSpPr>
          <p:nvPr/>
        </p:nvSpPr>
        <p:spPr>
          <a:xfrm>
            <a:off x="3096125" y="4427364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delete_state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="" xmlns:a16="http://schemas.microsoft.com/office/drawing/2014/main" id="{97099171-A099-4A9D-9DFC-195B9C7E2E08}"/>
                  </a:ext>
                </a:extLst>
              </p:cNvPr>
              <p:cNvSpPr txBox="1"/>
              <p:nvPr/>
            </p:nvSpPr>
            <p:spPr>
              <a:xfrm>
                <a:off x="156052" y="1571598"/>
                <a:ext cx="2972527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,−)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099171-A099-4A9D-9DFC-195B9C7E2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52" y="1571598"/>
                <a:ext cx="2972527" cy="400110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id="{586E1A45-5244-454F-9460-CB9F178BC7B9}"/>
                  </a:ext>
                </a:extLst>
              </p:cNvPr>
              <p:cNvSpPr txBox="1"/>
              <p:nvPr/>
            </p:nvSpPr>
            <p:spPr>
              <a:xfrm>
                <a:off x="5433765" y="1571598"/>
                <a:ext cx="2972527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86E1A45-5244-454F-9460-CB9F178BC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765" y="1571598"/>
                <a:ext cx="2972527" cy="400110"/>
              </a:xfrm>
              <a:prstGeom prst="rect">
                <a:avLst/>
              </a:prstGeom>
              <a:blipFill rotWithShape="1"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152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9.87654E-7 L 0.04948 0.00154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62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4.07407E-6 L 0.04948 0.00154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48 0.00154 L 0.09739 0.00154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48 0.00154 L 0.09739 0.00154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739 0.00154 L 0.15035 0.00154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739 0.00154 L 0.15034 0.00154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035 0.00154 L 0.19982 0.00432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123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034 0.00154 L 0.19982 0.00432 " pathEditMode="relative" rAng="0" ptsTypes="AA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82 0.00432 L 0.25035 0.00432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42" presetClass="path" presetSubtype="0" accel="50000" decel="5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82 0.00432 L 0.25034 0.00432 " pathEditMode="relative" rAng="0" ptsTypes="AA">
                                      <p:cBhvr>
                                        <p:cTn id="4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035 0.00432 L 0.29913 0.00432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88889E-6 1.7284E-6 L 0.04948 0.00154 " pathEditMode="relative" rAng="0" ptsTypes="AA">
                                      <p:cBhvr>
                                        <p:cTn id="5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62"/>
                                    </p:animMotion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42" presetClass="path" presetSubtype="0" accel="50000" decel="5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913 0.00432 L 0.34948 0.00432 " pathEditMode="relative" rAng="0" ptsTypes="AA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4948 0.00432 L 0.39982 0.00432 " pathEditMode="relative" rAng="0" ptsTypes="AA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1" y="0"/>
                                    </p:animMotion>
                                  </p:childTnLst>
                                </p:cTn>
                              </p:par>
                              <p:par>
                                <p:cTn id="5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48 0.00154 L 0.0974 0.00154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9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9982 0.00432 L 0.44948 0.00432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1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42" presetClass="path" presetSubtype="0" accel="50000" decel="5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74 0.00154 L 0.15035 0.00154 " pathEditMode="relative" rAng="0" ptsTypes="AA">
                                      <p:cBhvr>
                                        <p:cTn id="6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5035 0.00154 L 0.19983 0.00432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65" y="12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42" presetClass="path" presetSubtype="0" accel="50000" decel="5000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948 0.00432 L 0.49826 0.00432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18" grpId="9" animBg="1"/>
      <p:bldP spid="20" grpId="0" animBg="1"/>
      <p:bldP spid="20" grpId="1" animBg="1"/>
      <p:bldP spid="20" grpId="2" animBg="1"/>
      <p:bldP spid="20" grpId="3" animBg="1"/>
      <p:bldP spid="20" grpId="4" animBg="1"/>
      <p:bldP spid="22" grpId="0" animBg="1"/>
      <p:bldP spid="22" grpId="1" animBg="1"/>
      <p:bldP spid="22" grpId="2" animBg="1"/>
      <p:bldP spid="22" grpId="3" animBg="1"/>
      <p:bldP spid="24" grpId="0" animBg="1"/>
      <p:bldP spid="25" grpId="0" animBg="1"/>
      <p:bldP spid="26" grpId="0" animBg="1"/>
      <p:bldP spid="27" grpId="0"/>
      <p:bldP spid="29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Table 3">
            <a:extLst>
              <a:ext uri="{FF2B5EF4-FFF2-40B4-BE49-F238E27FC236}">
                <a16:creationId xmlns="" xmlns:a16="http://schemas.microsoft.com/office/drawing/2014/main" id="{255CD34B-9431-40B3-A97D-AA6FB2EB4362}"/>
              </a:ext>
            </a:extLst>
          </p:cNvPr>
          <p:cNvGraphicFramePr>
            <a:graphicFrameLocks noGrp="1"/>
          </p:cNvGraphicFramePr>
          <p:nvPr/>
        </p:nvGraphicFramePr>
        <p:xfrm>
          <a:off x="-4498760" y="364722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55" name="Rectangle: Rounded Corners 54">
            <a:extLst>
              <a:ext uri="{FF2B5EF4-FFF2-40B4-BE49-F238E27FC236}">
                <a16:creationId xmlns="" xmlns:a16="http://schemas.microsoft.com/office/drawing/2014/main" id="{A19E74BC-C727-4291-8C2C-FC9CF590B299}"/>
              </a:ext>
            </a:extLst>
          </p:cNvPr>
          <p:cNvSpPr>
            <a:spLocks noChangeAspect="1"/>
          </p:cNvSpPr>
          <p:nvPr/>
        </p:nvSpPr>
        <p:spPr>
          <a:xfrm>
            <a:off x="3093003" y="4438515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init</a:t>
            </a:r>
            <a:endParaRPr lang="en-US" sz="2400" b="1" dirty="0"/>
          </a:p>
        </p:txBody>
      </p:sp>
      <p:graphicFrame>
        <p:nvGraphicFramePr>
          <p:cNvPr id="14" name="Table 3">
            <a:extLst>
              <a:ext uri="{FF2B5EF4-FFF2-40B4-BE49-F238E27FC236}">
                <a16:creationId xmlns="" xmlns:a16="http://schemas.microsoft.com/office/drawing/2014/main" id="{DF746E40-DA0E-810F-CAD4-1790924644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839942"/>
              </p:ext>
            </p:extLst>
          </p:nvPr>
        </p:nvGraphicFramePr>
        <p:xfrm>
          <a:off x="-4080419" y="3012908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15" name="Table 3">
            <a:extLst>
              <a:ext uri="{FF2B5EF4-FFF2-40B4-BE49-F238E27FC236}">
                <a16:creationId xmlns="" xmlns:a16="http://schemas.microsoft.com/office/drawing/2014/main" id="{766350FB-A753-E80B-FE53-3652D21235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0789533"/>
              </p:ext>
            </p:extLst>
          </p:nvPr>
        </p:nvGraphicFramePr>
        <p:xfrm>
          <a:off x="-4086006" y="2340154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</a:t>
                      </a:r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graphicFrame>
        <p:nvGraphicFramePr>
          <p:cNvPr id="2" name="Table 3">
            <a:extLst>
              <a:ext uri="{FF2B5EF4-FFF2-40B4-BE49-F238E27FC236}">
                <a16:creationId xmlns="" xmlns:a16="http://schemas.microsoft.com/office/drawing/2014/main" id="{20105585-37A0-ED0C-3F29-6E17A1B72EB8}"/>
              </a:ext>
            </a:extLst>
          </p:cNvPr>
          <p:cNvGraphicFramePr>
            <a:graphicFrameLocks noGrp="1"/>
          </p:cNvGraphicFramePr>
          <p:nvPr/>
        </p:nvGraphicFramePr>
        <p:xfrm>
          <a:off x="-3998644" y="817526"/>
          <a:ext cx="18288000" cy="457200"/>
        </p:xfrm>
        <a:graphic>
          <a:graphicData uri="http://schemas.openxmlformats.org/drawingml/2006/table">
            <a:tbl>
              <a:tblPr firstRow="1" bandRow="1">
                <a:tableStyleId>{D5FC7F6E-7D7C-429E-9E02-8E8779DB5895}</a:tableStyleId>
              </a:tblPr>
              <a:tblGrid>
                <a:gridCol w="457200">
                  <a:extLst>
                    <a:ext uri="{9D8B030D-6E8A-4147-A177-3AD203B41FA5}">
                      <a16:colId xmlns="" xmlns:a16="http://schemas.microsoft.com/office/drawing/2014/main" val="359707689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3254474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419279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8178907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9730371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3891441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576650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3050609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00377100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5686202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1132879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8799580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4129619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4356825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94537162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224693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159691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27551561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4363705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3728496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21009084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69563277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423496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2605008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588179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04979814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0534673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7869425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14215558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72050313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378871366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66459370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4175208885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1978092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43595803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1813085962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967161460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531441889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3986434723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775553135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Z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0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X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1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81669796"/>
                  </a:ext>
                </a:extLst>
              </a:tr>
            </a:tbl>
          </a:graphicData>
        </a:graphic>
      </p:graphicFrame>
      <p:sp>
        <p:nvSpPr>
          <p:cNvPr id="42" name="Rectangle: Rounded Corners 41">
            <a:extLst>
              <a:ext uri="{FF2B5EF4-FFF2-40B4-BE49-F238E27FC236}">
                <a16:creationId xmlns="" xmlns:a16="http://schemas.microsoft.com/office/drawing/2014/main" id="{99ABDC4C-46D2-47AE-B8EA-414DF06A6646}"/>
              </a:ext>
            </a:extLst>
          </p:cNvPr>
          <p:cNvSpPr>
            <a:spLocks noChangeAspect="1"/>
          </p:cNvSpPr>
          <p:nvPr/>
        </p:nvSpPr>
        <p:spPr>
          <a:xfrm>
            <a:off x="3128579" y="111758"/>
            <a:ext cx="516835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</a:t>
            </a:r>
            <a:endParaRPr lang="en-US" sz="2000" b="1" baseline="-2500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757F44D1-1FFF-4A2B-3CC1-75970825CC7C}"/>
              </a:ext>
            </a:extLst>
          </p:cNvPr>
          <p:cNvSpPr/>
          <p:nvPr/>
        </p:nvSpPr>
        <p:spPr>
          <a:xfrm>
            <a:off x="5110767" y="782910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4" name="Rectangle: Rounded Corners 63">
            <a:extLst>
              <a:ext uri="{FF2B5EF4-FFF2-40B4-BE49-F238E27FC236}">
                <a16:creationId xmlns="" xmlns:a16="http://schemas.microsoft.com/office/drawing/2014/main" id="{46B34ADF-23B8-4BD2-AA43-81EEEC2037CB}"/>
              </a:ext>
            </a:extLst>
          </p:cNvPr>
          <p:cNvSpPr>
            <a:spLocks noChangeAspect="1"/>
          </p:cNvSpPr>
          <p:nvPr/>
        </p:nvSpPr>
        <p:spPr>
          <a:xfrm>
            <a:off x="3096721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copy_input</a:t>
            </a:r>
            <a:endParaRPr lang="en-US" sz="2400" b="1" dirty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C5BAFCFD-20A5-3B52-E18E-111A4BFF5974}"/>
              </a:ext>
            </a:extLst>
          </p:cNvPr>
          <p:cNvSpPr/>
          <p:nvPr/>
        </p:nvSpPr>
        <p:spPr>
          <a:xfrm>
            <a:off x="5482832" y="2301720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: Rounded Corners 66">
            <a:extLst>
              <a:ext uri="{FF2B5EF4-FFF2-40B4-BE49-F238E27FC236}">
                <a16:creationId xmlns="" xmlns:a16="http://schemas.microsoft.com/office/drawing/2014/main" id="{429BC4B2-CF3C-4B59-95E8-CC994DF16EFC}"/>
              </a:ext>
            </a:extLst>
          </p:cNvPr>
          <p:cNvSpPr>
            <a:spLocks noChangeAspect="1"/>
          </p:cNvSpPr>
          <p:nvPr/>
        </p:nvSpPr>
        <p:spPr>
          <a:xfrm>
            <a:off x="3093003" y="4438515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reset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="" xmlns:a16="http://schemas.microsoft.com/office/drawing/2014/main" id="{29096996-629C-4186-BB86-DC89B2794043}"/>
              </a:ext>
            </a:extLst>
          </p:cNvPr>
          <p:cNvSpPr>
            <a:spLocks noChangeAspect="1"/>
          </p:cNvSpPr>
          <p:nvPr/>
        </p:nvSpPr>
        <p:spPr>
          <a:xfrm>
            <a:off x="3089285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find_transition</a:t>
            </a:r>
            <a:endParaRPr lang="en-US" sz="2400" b="1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="" xmlns:a16="http://schemas.microsoft.com/office/drawing/2014/main" id="{8C6ACBC8-950E-4A2D-8FAB-678B653B1682}"/>
              </a:ext>
            </a:extLst>
          </p:cNvPr>
          <p:cNvSpPr>
            <a:spLocks noChangeAspect="1"/>
          </p:cNvSpPr>
          <p:nvPr/>
        </p:nvSpPr>
        <p:spPr>
          <a:xfrm>
            <a:off x="3089285" y="4431081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check_state</a:t>
            </a:r>
            <a:endParaRPr lang="en-US" sz="2400" b="1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="" xmlns:a16="http://schemas.microsoft.com/office/drawing/2014/main" id="{8503884F-71E6-443F-BE98-5247C2C06F9A}"/>
              </a:ext>
            </a:extLst>
          </p:cNvPr>
          <p:cNvSpPr>
            <a:spLocks noChangeAspect="1"/>
          </p:cNvSpPr>
          <p:nvPr/>
        </p:nvSpPr>
        <p:spPr>
          <a:xfrm>
            <a:off x="3089285" y="443479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go_to_symbol</a:t>
            </a:r>
            <a:endParaRPr lang="en-US" sz="2400" b="1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="" xmlns:a16="http://schemas.microsoft.com/office/drawing/2014/main" id="{65CABF3E-E659-47A2-A65D-C326330A872A}"/>
              </a:ext>
            </a:extLst>
          </p:cNvPr>
          <p:cNvSpPr>
            <a:spLocks noChangeAspect="1"/>
          </p:cNvSpPr>
          <p:nvPr/>
        </p:nvSpPr>
        <p:spPr>
          <a:xfrm>
            <a:off x="3096125" y="4431081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check_symbol</a:t>
            </a:r>
            <a:endParaRPr lang="en-US" sz="2400" b="1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="" xmlns:a16="http://schemas.microsoft.com/office/drawing/2014/main" id="{8B911FED-E3A0-4DA3-B3FE-4FD92223EF36}"/>
              </a:ext>
            </a:extLst>
          </p:cNvPr>
          <p:cNvSpPr>
            <a:spLocks noChangeAspect="1"/>
          </p:cNvSpPr>
          <p:nvPr/>
        </p:nvSpPr>
        <p:spPr>
          <a:xfrm>
            <a:off x="3096125" y="4427364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delete_state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="" xmlns:a16="http://schemas.microsoft.com/office/drawing/2014/main" id="{97099171-A099-4A9D-9DFC-195B9C7E2E08}"/>
                  </a:ext>
                </a:extLst>
              </p:cNvPr>
              <p:cNvSpPr txBox="1"/>
              <p:nvPr/>
            </p:nvSpPr>
            <p:spPr>
              <a:xfrm>
                <a:off x="156052" y="1571598"/>
                <a:ext cx="2972527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,−)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7099171-A099-4A9D-9DFC-195B9C7E2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52" y="1571598"/>
                <a:ext cx="2972527" cy="400110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033FA8BC-7B81-4EEC-9817-506FA270D23E}"/>
              </a:ext>
            </a:extLst>
          </p:cNvPr>
          <p:cNvSpPr/>
          <p:nvPr/>
        </p:nvSpPr>
        <p:spPr>
          <a:xfrm>
            <a:off x="5210741" y="3140666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192BB3C2-BE4D-4D76-84A4-A097B98CAD52}"/>
              </a:ext>
            </a:extLst>
          </p:cNvPr>
          <p:cNvSpPr/>
          <p:nvPr/>
        </p:nvSpPr>
        <p:spPr>
          <a:xfrm>
            <a:off x="5637817" y="3121297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A4CE954E-BB24-4E61-AD62-33D143D27F12}"/>
              </a:ext>
            </a:extLst>
          </p:cNvPr>
          <p:cNvSpPr/>
          <p:nvPr/>
        </p:nvSpPr>
        <p:spPr>
          <a:xfrm>
            <a:off x="6064893" y="3120253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DE404603-B042-497F-BC8A-34D33CCED4E0}"/>
              </a:ext>
            </a:extLst>
          </p:cNvPr>
          <p:cNvSpPr/>
          <p:nvPr/>
        </p:nvSpPr>
        <p:spPr>
          <a:xfrm>
            <a:off x="6544991" y="3095909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A18FC9DD-E999-4006-A440-BC984E3B118B}"/>
              </a:ext>
            </a:extLst>
          </p:cNvPr>
          <p:cNvSpPr/>
          <p:nvPr/>
        </p:nvSpPr>
        <p:spPr>
          <a:xfrm>
            <a:off x="7012388" y="3120253"/>
            <a:ext cx="223024" cy="24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82B9A7D5-2FC7-481D-BC3F-2A8C6233C167}"/>
              </a:ext>
            </a:extLst>
          </p:cNvPr>
          <p:cNvSpPr/>
          <p:nvPr/>
        </p:nvSpPr>
        <p:spPr>
          <a:xfrm>
            <a:off x="8317081" y="3120693"/>
            <a:ext cx="327698" cy="24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E0501D97-3E15-4CAB-9E7D-1E6A4360D1B1}"/>
              </a:ext>
            </a:extLst>
          </p:cNvPr>
          <p:cNvSpPr/>
          <p:nvPr/>
        </p:nvSpPr>
        <p:spPr>
          <a:xfrm>
            <a:off x="7436134" y="3116976"/>
            <a:ext cx="327698" cy="24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93B71429-4B60-400C-B2A8-03FAEF222601}"/>
              </a:ext>
            </a:extLst>
          </p:cNvPr>
          <p:cNvSpPr/>
          <p:nvPr/>
        </p:nvSpPr>
        <p:spPr>
          <a:xfrm>
            <a:off x="7890005" y="3117191"/>
            <a:ext cx="327698" cy="24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="" xmlns:a16="http://schemas.microsoft.com/office/drawing/2014/main" id="{097B2143-6337-4328-A52D-848077B88C59}"/>
              </a:ext>
            </a:extLst>
          </p:cNvPr>
          <p:cNvSpPr/>
          <p:nvPr/>
        </p:nvSpPr>
        <p:spPr>
          <a:xfrm>
            <a:off x="5158404" y="3114976"/>
            <a:ext cx="327698" cy="2404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+mj-lt"/>
              </a:rPr>
              <a:t>0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F40FA153-A01D-4356-8F2D-3B2422F1002A}"/>
              </a:ext>
            </a:extLst>
          </p:cNvPr>
          <p:cNvSpPr/>
          <p:nvPr/>
        </p:nvSpPr>
        <p:spPr>
          <a:xfrm>
            <a:off x="2935211" y="3759334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="" xmlns:a16="http://schemas.microsoft.com/office/drawing/2014/main" id="{418F621B-1D37-4E70-BC46-8927ED137852}"/>
              </a:ext>
            </a:extLst>
          </p:cNvPr>
          <p:cNvSpPr/>
          <p:nvPr/>
        </p:nvSpPr>
        <p:spPr>
          <a:xfrm>
            <a:off x="2463143" y="3759334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="" xmlns:a16="http://schemas.microsoft.com/office/drawing/2014/main" id="{079A923E-B4ED-4EC5-88F2-A7D3BDA4C972}"/>
              </a:ext>
            </a:extLst>
          </p:cNvPr>
          <p:cNvSpPr/>
          <p:nvPr/>
        </p:nvSpPr>
        <p:spPr>
          <a:xfrm>
            <a:off x="2016756" y="3749625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="" xmlns:a16="http://schemas.microsoft.com/office/drawing/2014/main" id="{688B9E4B-240D-4F17-8870-9B7791BA9FE5}"/>
              </a:ext>
            </a:extLst>
          </p:cNvPr>
          <p:cNvSpPr/>
          <p:nvPr/>
        </p:nvSpPr>
        <p:spPr>
          <a:xfrm>
            <a:off x="1535553" y="3742571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="" xmlns:a16="http://schemas.microsoft.com/office/drawing/2014/main" id="{E0B95554-B67E-465B-B9CF-F8A83937C846}"/>
              </a:ext>
            </a:extLst>
          </p:cNvPr>
          <p:cNvSpPr/>
          <p:nvPr/>
        </p:nvSpPr>
        <p:spPr>
          <a:xfrm>
            <a:off x="1147909" y="3759334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: Rounded Corners 47">
            <a:extLst>
              <a:ext uri="{FF2B5EF4-FFF2-40B4-BE49-F238E27FC236}">
                <a16:creationId xmlns="" xmlns:a16="http://schemas.microsoft.com/office/drawing/2014/main" id="{BC89A43A-41FB-427C-97A5-2512715E0F4B}"/>
              </a:ext>
            </a:extLst>
          </p:cNvPr>
          <p:cNvSpPr>
            <a:spLocks noChangeAspect="1"/>
          </p:cNvSpPr>
          <p:nvPr/>
        </p:nvSpPr>
        <p:spPr>
          <a:xfrm>
            <a:off x="3090779" y="4430057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copy_state</a:t>
            </a:r>
            <a:endParaRPr lang="en-US" sz="2400" b="1" dirty="0"/>
          </a:p>
        </p:txBody>
      </p:sp>
      <p:sp>
        <p:nvSpPr>
          <p:cNvPr id="49" name="Rectangle 48">
            <a:extLst>
              <a:ext uri="{FF2B5EF4-FFF2-40B4-BE49-F238E27FC236}">
                <a16:creationId xmlns="" xmlns:a16="http://schemas.microsoft.com/office/drawing/2014/main" id="{1757750F-8726-4FFD-A4E0-1BC929F5F373}"/>
              </a:ext>
            </a:extLst>
          </p:cNvPr>
          <p:cNvSpPr/>
          <p:nvPr/>
        </p:nvSpPr>
        <p:spPr>
          <a:xfrm>
            <a:off x="1118707" y="3742570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="" xmlns:a16="http://schemas.microsoft.com/office/drawing/2014/main" id="{FAB61F24-E5BA-4EA8-9D9E-17FFF7FBB406}"/>
              </a:ext>
            </a:extLst>
          </p:cNvPr>
          <p:cNvSpPr/>
          <p:nvPr/>
        </p:nvSpPr>
        <p:spPr>
          <a:xfrm>
            <a:off x="1570369" y="3742569"/>
            <a:ext cx="223024" cy="24042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90E074F0-CA16-4020-9530-C3B05D48DA5E}"/>
              </a:ext>
            </a:extLst>
          </p:cNvPr>
          <p:cNvSpPr/>
          <p:nvPr/>
        </p:nvSpPr>
        <p:spPr>
          <a:xfrm>
            <a:off x="3235373" y="3604169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="" xmlns:a16="http://schemas.microsoft.com/office/drawing/2014/main" id="{70B4E380-0570-431A-B2A2-078CFB26046D}"/>
              </a:ext>
            </a:extLst>
          </p:cNvPr>
          <p:cNvSpPr>
            <a:spLocks noChangeAspect="1"/>
          </p:cNvSpPr>
          <p:nvPr/>
        </p:nvSpPr>
        <p:spPr>
          <a:xfrm>
            <a:off x="3089285" y="4433654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delete_symbol</a:t>
            </a:r>
            <a:endParaRPr lang="en-US" sz="2400" b="1" dirty="0"/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0E9732A7-CE62-4312-BC06-37C5B435E7B4}"/>
              </a:ext>
            </a:extLst>
          </p:cNvPr>
          <p:cNvSpPr/>
          <p:nvPr/>
        </p:nvSpPr>
        <p:spPr>
          <a:xfrm>
            <a:off x="6859395" y="2974474"/>
            <a:ext cx="527050" cy="531334"/>
          </a:xfrm>
          <a:prstGeom prst="rect">
            <a:avLst/>
          </a:prstGeom>
          <a:solidFill>
            <a:schemeClr val="accent1">
              <a:alpha val="32000"/>
            </a:schemeClr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="" xmlns:a16="http://schemas.microsoft.com/office/drawing/2014/main" id="{7CF5F4C1-5CD3-403E-B340-113E0503FBC4}"/>
              </a:ext>
            </a:extLst>
          </p:cNvPr>
          <p:cNvSpPr>
            <a:spLocks noChangeAspect="1"/>
          </p:cNvSpPr>
          <p:nvPr/>
        </p:nvSpPr>
        <p:spPr>
          <a:xfrm>
            <a:off x="3095704" y="4430057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insert_symbol</a:t>
            </a:r>
            <a:endParaRPr lang="en-US" sz="2400" b="1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="" xmlns:a16="http://schemas.microsoft.com/office/drawing/2014/main" id="{25F5F761-D902-4308-8A66-C17408FEFA7F}"/>
              </a:ext>
            </a:extLst>
          </p:cNvPr>
          <p:cNvSpPr>
            <a:spLocks noChangeAspect="1"/>
          </p:cNvSpPr>
          <p:nvPr/>
        </p:nvSpPr>
        <p:spPr>
          <a:xfrm>
            <a:off x="3090779" y="4441088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/>
              <a:t>move_head</a:t>
            </a:r>
            <a:endParaRPr lang="en-US" sz="2400" b="1" dirty="0"/>
          </a:p>
        </p:txBody>
      </p:sp>
      <p:sp>
        <p:nvSpPr>
          <p:cNvPr id="52" name="Rectangle: Rounded Corners 50">
            <a:extLst>
              <a:ext uri="{FF2B5EF4-FFF2-40B4-BE49-F238E27FC236}">
                <a16:creationId xmlns="" xmlns:a16="http://schemas.microsoft.com/office/drawing/2014/main" id="{25F5F761-D902-4308-8A66-C17408FEFA7F}"/>
              </a:ext>
            </a:extLst>
          </p:cNvPr>
          <p:cNvSpPr>
            <a:spLocks noChangeAspect="1"/>
          </p:cNvSpPr>
          <p:nvPr/>
        </p:nvSpPr>
        <p:spPr>
          <a:xfrm>
            <a:off x="3090779" y="4431081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move_head_0</a:t>
            </a:r>
            <a:endParaRPr lang="en-US" sz="2400" b="1" dirty="0"/>
          </a:p>
        </p:txBody>
      </p:sp>
      <p:sp>
        <p:nvSpPr>
          <p:cNvPr id="53" name="Rectangle: Rounded Corners 50">
            <a:extLst>
              <a:ext uri="{FF2B5EF4-FFF2-40B4-BE49-F238E27FC236}">
                <a16:creationId xmlns="" xmlns:a16="http://schemas.microsoft.com/office/drawing/2014/main" id="{25F5F761-D902-4308-8A66-C17408FEFA7F}"/>
              </a:ext>
            </a:extLst>
          </p:cNvPr>
          <p:cNvSpPr>
            <a:spLocks noChangeAspect="1"/>
          </p:cNvSpPr>
          <p:nvPr/>
        </p:nvSpPr>
        <p:spPr>
          <a:xfrm>
            <a:off x="3090779" y="4427364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move_head_00</a:t>
            </a:r>
            <a:endParaRPr lang="en-US" sz="2400" b="1" dirty="0"/>
          </a:p>
        </p:txBody>
      </p:sp>
      <p:sp>
        <p:nvSpPr>
          <p:cNvPr id="54" name="Rectangle: Rounded Corners 50">
            <a:extLst>
              <a:ext uri="{FF2B5EF4-FFF2-40B4-BE49-F238E27FC236}">
                <a16:creationId xmlns="" xmlns:a16="http://schemas.microsoft.com/office/drawing/2014/main" id="{25F5F761-D902-4308-8A66-C17408FEFA7F}"/>
              </a:ext>
            </a:extLst>
          </p:cNvPr>
          <p:cNvSpPr>
            <a:spLocks noChangeAspect="1"/>
          </p:cNvSpPr>
          <p:nvPr/>
        </p:nvSpPr>
        <p:spPr>
          <a:xfrm>
            <a:off x="3103727" y="4433371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move_head_000</a:t>
            </a:r>
            <a:endParaRPr lang="en-US" sz="2400" b="1" dirty="0"/>
          </a:p>
        </p:txBody>
      </p:sp>
      <p:sp>
        <p:nvSpPr>
          <p:cNvPr id="56" name="Rectangle: Rounded Corners 50">
            <a:extLst>
              <a:ext uri="{FF2B5EF4-FFF2-40B4-BE49-F238E27FC236}">
                <a16:creationId xmlns="" xmlns:a16="http://schemas.microsoft.com/office/drawing/2014/main" id="{25F5F761-D902-4308-8A66-C17408FEFA7F}"/>
              </a:ext>
            </a:extLst>
          </p:cNvPr>
          <p:cNvSpPr>
            <a:spLocks noChangeAspect="1"/>
          </p:cNvSpPr>
          <p:nvPr/>
        </p:nvSpPr>
        <p:spPr>
          <a:xfrm>
            <a:off x="3100313" y="4429774"/>
            <a:ext cx="2927526" cy="4572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smtClean="0"/>
              <a:t>restart</a:t>
            </a:r>
            <a:endParaRPr lang="en-US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28">
                <a:extLst>
                  <a:ext uri="{FF2B5EF4-FFF2-40B4-BE49-F238E27FC236}">
                    <a16:creationId xmlns="" xmlns:a16="http://schemas.microsoft.com/office/drawing/2014/main" id="{586E1A45-5244-454F-9460-CB9F178BC7B9}"/>
                  </a:ext>
                </a:extLst>
              </p:cNvPr>
              <p:cNvSpPr txBox="1"/>
              <p:nvPr/>
            </p:nvSpPr>
            <p:spPr>
              <a:xfrm>
                <a:off x="5433765" y="1571598"/>
                <a:ext cx="2972527" cy="400110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57" name="TextBox 2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586E1A45-5244-454F-9460-CB9F178BC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765" y="1571598"/>
                <a:ext cx="2972527" cy="400110"/>
              </a:xfrm>
              <a:prstGeom prst="rect">
                <a:avLst/>
              </a:prstGeom>
              <a:blipFill rotWithShape="1">
                <a:blip r:embed="rId4"/>
                <a:stretch>
                  <a:fillRect b="-18462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6201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07407E-6 L 0.04966 0.00093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3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4.93827E-7 L -0.04931 0.00093 " pathEditMode="relative" rAng="0" ptsTypes="AA">
                                      <p:cBhvr>
                                        <p:cTn id="1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65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931 0.00093 L -0.09809 0.00093 " pathEditMode="relative" rAng="0" ptsTypes="AA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0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9809 0.00093 L -0.14931 -0.00123 " pathEditMode="relative" rAng="0" ptsTypes="AA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69" y="-123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4931 -0.00123 L -0.19809 -0.00123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48" y="0"/>
                                    </p:animMotion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809 -0.00123 L -0.25087 -0.00123 " pathEditMode="relative" rAng="0" ptsTypes="AA">
                                      <p:cBhvr>
                                        <p:cTn id="3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639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path" presetSubtype="0" accel="50000" decel="5000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087 -0.00123 L -0.30052 -0.00123 " pathEditMode="relative" rAng="0" ptsTypes="AA">
                                      <p:cBhvr>
                                        <p:cTn id="3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83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path" presetSubtype="0" accel="50000" decel="5000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0052 -0.00123 L -0.25086 -0.00123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path" presetSubtype="0" accel="50000" decel="5000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5087 -0.00123 L -0.19809 -0.00124 " pathEditMode="relative" rAng="0" ptsTypes="AA">
                                      <p:cBhvr>
                                        <p:cTn id="5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87" y="31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966 0.00093 L 0.09948 0.00093 " pathEditMode="relative" rAng="0" ptsTypes="AA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35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948 0.00093 L 0.14966 0.00093 " pathEditMode="relative" rAng="0" ptsTypes="AA">
                                      <p:cBhvr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0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809 -0.00123 L -0.14931 -0.00123 " pathEditMode="relative" rAng="0" ptsTypes="AA">
                                      <p:cBhvr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09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7284E-6 L -0.19843 -0.00216 " pathEditMode="relative" rAng="0" ptsTypes="AA">
                                      <p:cBhvr>
                                        <p:cTn id="8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31" y="-123"/>
                                    </p:animMotion>
                                  </p:childTnLst>
                                </p:cTn>
                              </p:par>
                              <p:par>
                                <p:cTn id="8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-9.87654E-7 L -0.20174 -0.00154 " pathEditMode="relative" rAng="0" ptsTypes="AA">
                                      <p:cBhvr>
                                        <p:cTn id="8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87" y="-93"/>
                                    </p:animMotion>
                                  </p:childTnLst>
                                </p:cTn>
                              </p:par>
                              <p:par>
                                <p:cTn id="8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9.87654E-7 L -0.19948 -0.00154 " pathEditMode="relative" rAng="0" ptsTypes="AA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983" y="-93"/>
                                    </p:animMotion>
                                  </p:childTnLst>
                                </p:cTn>
                              </p:par>
                              <p:par>
                                <p:cTn id="8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7284E-6 L -0.19566 0.00031 " pathEditMode="relative" rAng="0" ptsTypes="AA">
                                      <p:cBhvr>
                                        <p:cTn id="8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92" y="0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7284E-6 L -0.19843 -0.00216 " pathEditMode="relative" rAng="0" ptsTypes="AA">
                                      <p:cBhvr>
                                        <p:cTn id="9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5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843 -0.00216 L -0.14392 -0.00463 " pathEditMode="relative" rAng="0" ptsTypes="AA">
                                      <p:cBhvr>
                                        <p:cTn id="9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6" y="-123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2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66 0.00093 L 0.19913 0.00093 " pathEditMode="relative" rAng="0" ptsTypes="AA">
                                      <p:cBhvr>
                                        <p:cTn id="10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  <p:par>
                                <p:cTn id="10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0174 -0.00154 L -0.14983 -0.00154 " pathEditMode="relative" rAng="0" ptsTypes="AA">
                                      <p:cBhvr>
                                        <p:cTn id="10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17" y="-123"/>
                                    </p:animMotion>
                                  </p:childTnLst>
                                </p:cTn>
                              </p:par>
                              <p:par>
                                <p:cTn id="10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948 -0.00154 L -0.14896 0.00093 " pathEditMode="relative" rAng="0" ptsTypes="AA">
                                      <p:cBhvr>
                                        <p:cTn id="10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9" y="0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9566 0.00031 L -0.14844 2.22222E-6 " pathEditMode="relative" rAng="0" ptsTypes="AA">
                                      <p:cBhvr>
                                        <p:cTn id="10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4" y="-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path" presetSubtype="0" accel="50000" decel="5000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9913 0.00093 L 0.24879 0.00093 " pathEditMode="relative" rAng="0" ptsTypes="AA">
                                      <p:cBhvr>
                                        <p:cTn id="1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42" presetClass="path" presetSubtype="0" accel="50000" decel="5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4879 0.00093 L 0.29913 0.00093 " pathEditMode="relative" rAng="0" ptsTypes="AA">
                                      <p:cBhvr>
                                        <p:cTn id="1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2" presetClass="path" presetSubtype="0" accel="50000" decel="5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9913 0.00092 L 0.35052 0.00031 " pathEditMode="relative" rAng="0" ptsTypes="AA">
                                      <p:cBhvr>
                                        <p:cTn id="1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9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42" presetClass="path" presetSubtype="0" accel="50000" decel="5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053 0.00031 L 0.40261 0.00031 " pathEditMode="relative" rAng="0" ptsTypes="AA">
                                      <p:cBhvr>
                                        <p:cTn id="1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0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42" presetClass="path" presetSubtype="0" accel="50000" decel="5000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0261 0.00031 L 0.45243 -0.00155 " pathEditMode="relative" rAng="0" ptsTypes="AA">
                                      <p:cBhvr>
                                        <p:cTn id="1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83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8" grpId="2" animBg="1"/>
      <p:bldP spid="18" grpId="3" animBg="1"/>
      <p:bldP spid="18" grpId="4" animBg="1"/>
      <p:bldP spid="18" grpId="5" animBg="1"/>
      <p:bldP spid="18" grpId="6" animBg="1"/>
      <p:bldP spid="18" grpId="7" animBg="1"/>
      <p:bldP spid="18" grpId="8" animBg="1"/>
      <p:bldP spid="23" grpId="0" animBg="1"/>
      <p:bldP spid="30" grpId="0" animBg="1"/>
      <p:bldP spid="31" grpId="0" animBg="1"/>
      <p:bldP spid="32" grpId="0" animBg="1"/>
      <p:bldP spid="33" grpId="0" animBg="1"/>
      <p:bldP spid="33" grpId="1"/>
      <p:bldP spid="34" grpId="0" animBg="1"/>
      <p:bldP spid="34" grpId="1"/>
      <p:bldP spid="35" grpId="0" animBg="1"/>
      <p:bldP spid="35" grpId="1"/>
      <p:bldP spid="36" grpId="0" animBg="1"/>
      <p:bldP spid="36" grpId="1"/>
      <p:bldP spid="38" grpId="0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20" grpId="0" animBg="1"/>
      <p:bldP spid="20" grpId="1" animBg="1"/>
      <p:bldP spid="20" grpId="2" animBg="1"/>
      <p:bldP spid="20" grpId="3" animBg="1"/>
      <p:bldP spid="20" grpId="4" animBg="1"/>
      <p:bldP spid="20" grpId="5" animBg="1"/>
      <p:bldP spid="20" grpId="6" animBg="1"/>
      <p:bldP spid="20" grpId="7" animBg="1"/>
      <p:bldP spid="20" grpId="8" animBg="1"/>
      <p:bldP spid="37" grpId="0" animBg="1"/>
      <p:bldP spid="22" grpId="0" animBg="1"/>
      <p:bldP spid="41" grpId="0" animBg="1"/>
      <p:bldP spid="51" grpId="0" animBg="1"/>
      <p:bldP spid="52" grpId="0" animBg="1"/>
      <p:bldP spid="53" grpId="0" animBg="1"/>
      <p:bldP spid="54" grpId="0" animBg="1"/>
      <p:bldP spid="56" grpId="0" animBg="1"/>
    </p:bldLst>
  </p:timing>
</p:sld>
</file>

<file path=ppt/theme/theme1.xml><?xml version="1.0" encoding="utf-8"?>
<a:theme xmlns:a="http://schemas.openxmlformats.org/drawingml/2006/main" name="Mathematics Subject for Middle School - 6th Grade: Algebra by Slidesgo">
  <a:themeElements>
    <a:clrScheme name="Simple Light">
      <a:dk1>
        <a:srgbClr val="191919"/>
      </a:dk1>
      <a:lt1>
        <a:srgbClr val="07246E"/>
      </a:lt1>
      <a:dk2>
        <a:srgbClr val="0F327F"/>
      </a:dk2>
      <a:lt2>
        <a:srgbClr val="FF3141"/>
      </a:lt2>
      <a:accent1>
        <a:srgbClr val="FFB400"/>
      </a:accent1>
      <a:accent2>
        <a:srgbClr val="00B6FF"/>
      </a:accent2>
      <a:accent3>
        <a:srgbClr val="EDEDE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1037</TotalTime>
  <Words>2057</Words>
  <Application>Microsoft Office PowerPoint</Application>
  <PresentationFormat>Expunere pe ecran (16:9)</PresentationFormat>
  <Paragraphs>517</Paragraphs>
  <Slides>26</Slides>
  <Notes>26</Notes>
  <HiddenSlides>0</HiddenSlides>
  <MMClips>0</MMClips>
  <ScaleCrop>false</ScaleCrop>
  <HeadingPairs>
    <vt:vector size="6" baseType="variant">
      <vt:variant>
        <vt:lpstr>Fonturi utilizate</vt:lpstr>
      </vt:variant>
      <vt:variant>
        <vt:i4>7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26</vt:i4>
      </vt:variant>
    </vt:vector>
  </HeadingPairs>
  <TitlesOfParts>
    <vt:vector size="34" baseType="lpstr">
      <vt:lpstr>Arial</vt:lpstr>
      <vt:lpstr>Roboto Condensed Light</vt:lpstr>
      <vt:lpstr>Cambria Math</vt:lpstr>
      <vt:lpstr>Karla</vt:lpstr>
      <vt:lpstr>Nunito</vt:lpstr>
      <vt:lpstr>Lucida Sans</vt:lpstr>
      <vt:lpstr>Karla Regular</vt:lpstr>
      <vt:lpstr>Mathematics Subject for Middle School - 6th Grade: Algebra by Slidesgo</vt:lpstr>
      <vt:lpstr>Recap</vt:lpstr>
      <vt:lpstr>The Universal Turing Machine</vt:lpstr>
      <vt:lpstr>Contents</vt:lpstr>
      <vt:lpstr>Formal definition</vt:lpstr>
      <vt:lpstr>Equivalence with single-tape TMs</vt:lpstr>
      <vt:lpstr>Prezentare PowerPoint</vt:lpstr>
      <vt:lpstr>Prezentare PowerPoint</vt:lpstr>
      <vt:lpstr>Prezentare PowerPoint</vt:lpstr>
      <vt:lpstr>UTM - definition</vt:lpstr>
      <vt:lpstr>UTM - definition</vt:lpstr>
      <vt:lpstr>Dealing with different alphabets</vt:lpstr>
      <vt:lpstr>Prezentare PowerPoint</vt:lpstr>
      <vt:lpstr>Prezentare PowerPoint</vt:lpstr>
      <vt:lpstr>Encoding machines for the Universal Turing Machine</vt:lpstr>
      <vt:lpstr>Encoding states</vt:lpstr>
      <vt:lpstr>Encoding tape symbols</vt:lpstr>
      <vt:lpstr>Encoding head movement directions</vt:lpstr>
      <vt:lpstr>Encoding transitions</vt:lpstr>
      <vt:lpstr>Encoding a transition function</vt:lpstr>
      <vt:lpstr>Input of a UTM</vt:lpstr>
      <vt:lpstr>Example encoding - isEven</vt:lpstr>
      <vt:lpstr>Example encoding - isEven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Turing Machine</dc:title>
  <dc:creator>mihai</dc:creator>
  <cp:lastModifiedBy>adfafhdafhadjfh@outlook.com</cp:lastModifiedBy>
  <cp:revision>106</cp:revision>
  <dcterms:modified xsi:type="dcterms:W3CDTF">2022-10-26T17:21:50Z</dcterms:modified>
</cp:coreProperties>
</file>