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5"/>
  </p:notesMasterIdLst>
  <p:sldIdLst>
    <p:sldId id="384" r:id="rId2"/>
    <p:sldId id="256" r:id="rId3"/>
    <p:sldId id="322" r:id="rId4"/>
    <p:sldId id="331" r:id="rId5"/>
    <p:sldId id="385" r:id="rId6"/>
    <p:sldId id="370" r:id="rId7"/>
    <p:sldId id="386" r:id="rId8"/>
    <p:sldId id="388" r:id="rId9"/>
    <p:sldId id="394" r:id="rId10"/>
    <p:sldId id="395" r:id="rId11"/>
    <p:sldId id="375" r:id="rId12"/>
    <p:sldId id="390" r:id="rId13"/>
    <p:sldId id="373" r:id="rId14"/>
    <p:sldId id="261" r:id="rId15"/>
    <p:sldId id="377" r:id="rId16"/>
    <p:sldId id="352" r:id="rId17"/>
    <p:sldId id="378" r:id="rId18"/>
    <p:sldId id="393" r:id="rId19"/>
    <p:sldId id="362" r:id="rId20"/>
    <p:sldId id="391" r:id="rId21"/>
    <p:sldId id="397" r:id="rId22"/>
    <p:sldId id="398" r:id="rId23"/>
    <p:sldId id="381" r:id="rId24"/>
  </p:sldIdLst>
  <p:sldSz cx="9144000" cy="5143500" type="screen16x9"/>
  <p:notesSz cx="6858000" cy="9144000"/>
  <p:embeddedFontLst>
    <p:embeddedFont>
      <p:font typeface="Cambria Math" pitchFamily="18" charset="0"/>
      <p:regular r:id="rId26"/>
    </p:embeddedFont>
    <p:embeddedFont>
      <p:font typeface="Karla Regular" charset="0"/>
      <p:regular r:id="rId27"/>
      <p:bold r:id="rId28"/>
      <p:boldItalic r:id="rId29"/>
    </p:embeddedFont>
    <p:embeddedFont>
      <p:font typeface="Roboto Condensed Light" charset="0"/>
      <p:regular r:id="rId30"/>
      <p:italic r:id="rId31"/>
    </p:embeddedFont>
    <p:embeddedFont>
      <p:font typeface="Lucida Sans" charset="0"/>
      <p:regular r:id="rId32"/>
      <p:bold r:id="rId33"/>
      <p:italic r:id="rId34"/>
      <p:boldItalic r:id="rId35"/>
    </p:embeddedFont>
    <p:embeddedFont>
      <p:font typeface="Nunito" charset="0"/>
      <p:regular r:id="rId36"/>
      <p:bold r:id="rId37"/>
      <p:italic r:id="rId38"/>
      <p:boldItalic r:id="rId39"/>
    </p:embeddedFont>
    <p:embeddedFont>
      <p:font typeface="Lucida Sans Typewriter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E2A0"/>
    <a:srgbClr val="FC8CBC"/>
    <a:srgbClr val="EBF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CB34CF-8FD8-E8B2-3FFD-74B1D02AFD76}" v="375" dt="2022-10-27T18:36:19.122"/>
  </p1510:revLst>
</p1510:revInfo>
</file>

<file path=ppt/tableStyles.xml><?xml version="1.0" encoding="utf-8"?>
<a:tblStyleLst xmlns:a="http://schemas.openxmlformats.org/drawingml/2006/main" def="{D5FC7F6E-7D7C-429E-9E02-8E8779DB5895}">
  <a:tblStyle styleId="{D5FC7F6E-7D7C-429E-9E02-8E8779DB58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792" autoAdjust="0"/>
  </p:normalViewPr>
  <p:slideViewPr>
    <p:cSldViewPr snapToGrid="0">
      <p:cViewPr varScale="1">
        <p:scale>
          <a:sx n="107" d="100"/>
          <a:sy n="107" d="100"/>
        </p:scale>
        <p:origin x="-84" y="-3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9" d="100"/>
          <a:sy n="119" d="100"/>
        </p:scale>
        <p:origin x="-5106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6365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896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2483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013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2896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6012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6012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6012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2126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3" name="Google Shape;2333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623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8453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3" name="Google Shape;2333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44954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7344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078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095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3672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3" name="Google Shape;2333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5908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07697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3" name="Google Shape;2333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95908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081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 sz="1200">
                <a:solidFill>
                  <a:schemeClr val="accent4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322400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-1096660" y="3536723"/>
            <a:ext cx="1626244" cy="1381416"/>
            <a:chOff x="4611450" y="3151300"/>
            <a:chExt cx="667725" cy="567200"/>
          </a:xfrm>
        </p:grpSpPr>
        <p:sp>
          <p:nvSpPr>
            <p:cNvPr id="57" name="Google Shape;57;p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4"/>
          <p:cNvSpPr/>
          <p:nvPr/>
        </p:nvSpPr>
        <p:spPr>
          <a:xfrm>
            <a:off x="6019775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71;p4"/>
          <p:cNvGrpSpPr/>
          <p:nvPr/>
        </p:nvGrpSpPr>
        <p:grpSpPr>
          <a:xfrm>
            <a:off x="7677857" y="337714"/>
            <a:ext cx="1051274" cy="787312"/>
            <a:chOff x="3585475" y="1537675"/>
            <a:chExt cx="649175" cy="486175"/>
          </a:xfrm>
        </p:grpSpPr>
        <p:sp>
          <p:nvSpPr>
            <p:cNvPr id="72" name="Google Shape;72;p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4"/>
          <p:cNvSpPr/>
          <p:nvPr/>
        </p:nvSpPr>
        <p:spPr>
          <a:xfrm>
            <a:off x="-1428200" y="-1177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"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28" name="Google Shape;1428;p27"/>
          <p:cNvGrpSpPr/>
          <p:nvPr/>
        </p:nvGrpSpPr>
        <p:grpSpPr>
          <a:xfrm rot="10800000" flipH="1">
            <a:off x="8367160" y="669950"/>
            <a:ext cx="4287930" cy="3642388"/>
            <a:chOff x="4611450" y="3151300"/>
            <a:chExt cx="667725" cy="567200"/>
          </a:xfrm>
        </p:grpSpPr>
        <p:sp>
          <p:nvSpPr>
            <p:cNvPr id="1429" name="Google Shape;1429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27"/>
          <p:cNvGrpSpPr/>
          <p:nvPr/>
        </p:nvGrpSpPr>
        <p:grpSpPr>
          <a:xfrm rot="10800000" flipH="1">
            <a:off x="-3376540" y="669950"/>
            <a:ext cx="4287930" cy="3642388"/>
            <a:chOff x="4611450" y="3151300"/>
            <a:chExt cx="667725" cy="567200"/>
          </a:xfrm>
        </p:grpSpPr>
        <p:sp>
          <p:nvSpPr>
            <p:cNvPr id="1443" name="Google Shape;1443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27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9" name="Google Shape;1459;p27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1460" name="Google Shape;1460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27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1481" name="Google Shape;1481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5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1" name="Google Shape;661;p15"/>
          <p:cNvSpPr txBox="1">
            <a:spLocks noGrp="1"/>
          </p:cNvSpPr>
          <p:nvPr>
            <p:ph type="subTitle" idx="1"/>
          </p:nvPr>
        </p:nvSpPr>
        <p:spPr>
          <a:xfrm>
            <a:off x="2024825" y="3191100"/>
            <a:ext cx="50943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2" name="Google Shape;662;p15"/>
          <p:cNvGrpSpPr/>
          <p:nvPr/>
        </p:nvGrpSpPr>
        <p:grpSpPr>
          <a:xfrm>
            <a:off x="8058435" y="-451282"/>
            <a:ext cx="4287930" cy="3642388"/>
            <a:chOff x="4611450" y="3151300"/>
            <a:chExt cx="667725" cy="567200"/>
          </a:xfrm>
        </p:grpSpPr>
        <p:sp>
          <p:nvSpPr>
            <p:cNvPr id="663" name="Google Shape;663;p1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15"/>
          <p:cNvGrpSpPr/>
          <p:nvPr/>
        </p:nvGrpSpPr>
        <p:grpSpPr>
          <a:xfrm>
            <a:off x="-3567940" y="1886243"/>
            <a:ext cx="4287930" cy="3642388"/>
            <a:chOff x="4611450" y="3151300"/>
            <a:chExt cx="667725" cy="567200"/>
          </a:xfrm>
        </p:grpSpPr>
        <p:sp>
          <p:nvSpPr>
            <p:cNvPr id="677" name="Google Shape;677;p1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1" name="Google Shape;691;p15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5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3" name="Google Shape;693;p15"/>
          <p:cNvGrpSpPr/>
          <p:nvPr/>
        </p:nvGrpSpPr>
        <p:grpSpPr>
          <a:xfrm>
            <a:off x="-642305" y="394664"/>
            <a:ext cx="1051274" cy="787312"/>
            <a:chOff x="3585475" y="1537675"/>
            <a:chExt cx="649175" cy="486175"/>
          </a:xfrm>
        </p:grpSpPr>
        <p:sp>
          <p:nvSpPr>
            <p:cNvPr id="694" name="Google Shape;694;p1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4" name="Google Shape;714;p15"/>
          <p:cNvGrpSpPr/>
          <p:nvPr/>
        </p:nvGrpSpPr>
        <p:grpSpPr>
          <a:xfrm>
            <a:off x="7599532" y="4730176"/>
            <a:ext cx="1051274" cy="787312"/>
            <a:chOff x="3585475" y="1537675"/>
            <a:chExt cx="649175" cy="486175"/>
          </a:xfrm>
        </p:grpSpPr>
        <p:sp>
          <p:nvSpPr>
            <p:cNvPr id="715" name="Google Shape;715;p1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7273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4"/>
          <p:cNvSpPr txBox="1">
            <a:spLocks noGrp="1"/>
          </p:cNvSpPr>
          <p:nvPr>
            <p:ph type="title"/>
          </p:nvPr>
        </p:nvSpPr>
        <p:spPr>
          <a:xfrm>
            <a:off x="2391900" y="3022051"/>
            <a:ext cx="4360200" cy="576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0" name="Google Shape;600;p14"/>
          <p:cNvSpPr txBox="1">
            <a:spLocks noGrp="1"/>
          </p:cNvSpPr>
          <p:nvPr>
            <p:ph type="subTitle" idx="1"/>
          </p:nvPr>
        </p:nvSpPr>
        <p:spPr>
          <a:xfrm>
            <a:off x="1956450" y="1589538"/>
            <a:ext cx="5231100" cy="12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01" name="Google Shape;601;p14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602" name="Google Shape;602;p1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7" name="Google Shape;637;p14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638" name="Google Shape;638;p1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73630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3" r:id="rId4"/>
    <p:sldLayoutId id="2147483681" r:id="rId5"/>
    <p:sldLayoutId id="2147483682" r:id="rId6"/>
    <p:sldLayoutId id="2147483683" r:id="rId7"/>
    <p:sldLayoutId id="2147483688" r:id="rId8"/>
    <p:sldLayoutId id="214748368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0.png"/><Relationship Id="rId4" Type="http://schemas.openxmlformats.org/officeDocument/2006/relationships/image" Target="../media/image2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7" Type="http://schemas.openxmlformats.org/officeDocument/2006/relationships/image" Target="../media/image3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45.pn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11" Type="http://schemas.openxmlformats.org/officeDocument/2006/relationships/image" Target="../media/image47.png"/><Relationship Id="rId5" Type="http://schemas.openxmlformats.org/officeDocument/2006/relationships/image" Target="../media/image39.png"/><Relationship Id="rId10" Type="http://schemas.openxmlformats.org/officeDocument/2006/relationships/image" Target="../media/image46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0.png"/><Relationship Id="rId5" Type="http://schemas.openxmlformats.org/officeDocument/2006/relationships/image" Target="../media/image390.png"/><Relationship Id="rId4" Type="http://schemas.openxmlformats.org/officeDocument/2006/relationships/image" Target="../media/image4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0.png"/><Relationship Id="rId5" Type="http://schemas.openxmlformats.org/officeDocument/2006/relationships/image" Target="../media/image480.png"/><Relationship Id="rId4" Type="http://schemas.openxmlformats.org/officeDocument/2006/relationships/image" Target="../media/image4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Recap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9" name="Google Shape;2239;p4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" sz="1800" dirty="0"/>
                  <a:t>Cardinality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𝕄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𝔻</m:t>
                        </m:r>
                      </m:e>
                    </m:d>
                  </m:oMath>
                </a14:m>
                <a:endParaRPr lang="en-US" sz="1800" b="0" dirty="0"/>
              </a:p>
              <a:p>
                <a:pPr>
                  <a:lnSpc>
                    <a:spcPct val="150000"/>
                  </a:lnSpc>
                </a:pPr>
                <a:r>
                  <a:rPr lang="en" sz="1800" dirty="0"/>
                  <a:t>There exist undecidable problems</a:t>
                </a:r>
              </a:p>
              <a:p>
                <a:pPr>
                  <a:lnSpc>
                    <a:spcPct val="150000"/>
                  </a:lnSpc>
                </a:pPr>
                <a:r>
                  <a:rPr lang="en" sz="1800" dirty="0"/>
                  <a:t>The Halting Problem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" sz="1800" dirty="0"/>
                  <a:t>The Halting problem is undecidable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" sz="1800" dirty="0"/>
                  <a:t>The Halting problem is acceptable</a:t>
                </a:r>
              </a:p>
            </p:txBody>
          </p:sp>
        </mc:Choice>
        <mc:Fallback xmlns="">
          <p:sp>
            <p:nvSpPr>
              <p:cNvPr id="2239" name="Google Shape;2239;p4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A556D2D5-0F58-4BB1-C74D-8A396633FBF5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1050884" y="1654750"/>
            <a:ext cx="4320021" cy="1750371"/>
            <a:chOff x="-98408" y="966128"/>
            <a:chExt cx="5637254" cy="2284082"/>
          </a:xfrm>
        </p:grpSpPr>
        <p:sp>
          <p:nvSpPr>
            <p:cNvPr id="12" name="Rectangle 11">
              <a:extLst>
                <a:ext uri="{FF2B5EF4-FFF2-40B4-BE49-F238E27FC236}">
                  <a16:creationId xmlns="" xmlns:a16="http://schemas.microsoft.com/office/drawing/2014/main" id="{3F98668F-D965-FA51-138C-3440B923884B}"/>
                </a:ext>
              </a:extLst>
            </p:cNvPr>
            <p:cNvSpPr/>
            <p:nvPr/>
          </p:nvSpPr>
          <p:spPr>
            <a:xfrm>
              <a:off x="147197" y="966128"/>
              <a:ext cx="4696929" cy="228408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8476B57C-34CA-A225-21A3-2891ECDE26B1}"/>
                </a:ext>
              </a:extLst>
            </p:cNvPr>
            <p:cNvSpPr/>
            <p:nvPr/>
          </p:nvSpPr>
          <p:spPr>
            <a:xfrm>
              <a:off x="523524" y="1477915"/>
              <a:ext cx="1371600" cy="13716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9255CBBC-59CB-6DCA-F1A5-D19C5C01F0CD}"/>
                </a:ext>
              </a:extLst>
            </p:cNvPr>
            <p:cNvSpPr/>
            <p:nvPr/>
          </p:nvSpPr>
          <p:spPr>
            <a:xfrm>
              <a:off x="3320898" y="1477917"/>
              <a:ext cx="1371600" cy="1371599"/>
            </a:xfrm>
            <a:prstGeom prst="rect">
              <a:avLst/>
            </a:prstGeom>
            <a:solidFill>
              <a:srgbClr val="FC8CBC"/>
            </a:solidFill>
            <a:ln>
              <a:solidFill>
                <a:srgbClr val="7030A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="" xmlns:a16="http://schemas.microsoft.com/office/drawing/2014/main" id="{7B1C716C-CF79-45C9-BB32-DE9CD100ED79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rot="16200000">
              <a:off x="212559" y="1852749"/>
              <a:ext cx="0" cy="6219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="" xmlns:a16="http://schemas.microsoft.com/office/drawing/2014/main" id="{7D25F41A-5ADD-4F70-36C4-70E70C52DFB1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 rot="16200000" flipH="1">
              <a:off x="2608011" y="1450828"/>
              <a:ext cx="1" cy="14257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FF101BA3-5D27-6BE3-24FC-FEEF58E4AB86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rot="16200000" flipH="1">
              <a:off x="4862900" y="1993313"/>
              <a:ext cx="505544" cy="8463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Arrow Connector 30">
            <a:extLst>
              <a:ext uri="{FF2B5EF4-FFF2-40B4-BE49-F238E27FC236}">
                <a16:creationId xmlns="" xmlns:a16="http://schemas.microsoft.com/office/drawing/2014/main" id="{9286232E-B9CF-5D3A-964E-79D22F5E8B2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066558" y="4041361"/>
            <a:ext cx="363460" cy="6485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Reductions</a:t>
            </a:r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080750" y="3623440"/>
            <a:ext cx="2034524" cy="3716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Analiza</a:t>
            </a:r>
            <a:r>
              <a:rPr lang="en-US" sz="1200" dirty="0"/>
              <a:t> </a:t>
            </a:r>
            <a:r>
              <a:rPr lang="en-US" sz="1200" dirty="0" err="1"/>
              <a:t>Algoritmilor</a:t>
            </a:r>
            <a:endParaRPr sz="12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721125" y="4336700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2210779" y="313057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39" name="Google Shape;2239;p4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/>
                  <a:t>Reducing a problem to another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Mapping reducibility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Proving (un)decidability of new problems: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600" dirty="0"/>
                  <a:t>ALL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1600" dirty="0"/>
                  <a:t>ANY</a:t>
                </a:r>
              </a:p>
              <a:p>
                <a:pPr>
                  <a:lnSpc>
                    <a:spcPct val="150000"/>
                  </a:lnSpc>
                </a:pPr>
                <a:r>
                  <a:rPr lang="en" sz="1800" dirty="0"/>
                  <a:t>Complement of a problem</a:t>
                </a:r>
              </a:p>
              <a:p>
                <a:pPr>
                  <a:lnSpc>
                    <a:spcPct val="150000"/>
                  </a:lnSpc>
                </a:pPr>
                <a:r>
                  <a:rPr lang="en" sz="1800" dirty="0"/>
                  <a:t>coRE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ALL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𝑅𝐸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𝑐𝑜𝑅𝐸</m:t>
                    </m:r>
                  </m:oMath>
                </a14:m>
                <a:endParaRPr lang="en" sz="1800" dirty="0"/>
              </a:p>
            </p:txBody>
          </p:sp>
        </mc:Choice>
        <mc:Fallback xmlns="">
          <p:sp>
            <p:nvSpPr>
              <p:cNvPr id="2239" name="Google Shape;2239;p4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String prefix</a:t>
            </a:r>
            <a:endParaRPr lang="en-US" dirty="0"/>
          </a:p>
        </p:txBody>
      </p:sp>
      <p:sp>
        <p:nvSpPr>
          <p:cNvPr id="2" name="Google Shape;2336;p45">
            <a:extLst>
              <a:ext uri="{FF2B5EF4-FFF2-40B4-BE49-F238E27FC236}">
                <a16:creationId xmlns="" xmlns:a16="http://schemas.microsoft.com/office/drawing/2014/main" id="{11700B67-97F3-60D4-FC46-45F9A4969C8C}"/>
              </a:ext>
            </a:extLst>
          </p:cNvPr>
          <p:cNvSpPr txBox="1">
            <a:spLocks/>
          </p:cNvSpPr>
          <p:nvPr/>
        </p:nvSpPr>
        <p:spPr>
          <a:xfrm>
            <a:off x="1656478" y="1586475"/>
            <a:ext cx="583104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dirty="0"/>
              <a:t>“Does string s begin with string p?”</a:t>
            </a:r>
          </a:p>
        </p:txBody>
      </p:sp>
      <p:sp>
        <p:nvSpPr>
          <p:cNvPr id="3" name="Google Shape;2336;p45">
            <a:extLst>
              <a:ext uri="{FF2B5EF4-FFF2-40B4-BE49-F238E27FC236}">
                <a16:creationId xmlns="" xmlns:a16="http://schemas.microsoft.com/office/drawing/2014/main" id="{47CD8905-2BC2-B2C0-0F8F-97E80D1FD12F}"/>
              </a:ext>
            </a:extLst>
          </p:cNvPr>
          <p:cNvSpPr txBox="1">
            <a:spLocks/>
          </p:cNvSpPr>
          <p:nvPr/>
        </p:nvSpPr>
        <p:spPr>
          <a:xfrm>
            <a:off x="1159305" y="3470240"/>
            <a:ext cx="181874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/>
              <a:t>p = 010</a:t>
            </a:r>
          </a:p>
        </p:txBody>
      </p:sp>
      <p:sp>
        <p:nvSpPr>
          <p:cNvPr id="4" name="Google Shape;2336;p45">
            <a:extLst>
              <a:ext uri="{FF2B5EF4-FFF2-40B4-BE49-F238E27FC236}">
                <a16:creationId xmlns="" xmlns:a16="http://schemas.microsoft.com/office/drawing/2014/main" id="{7ECF673A-2251-4816-713E-F095632CD91C}"/>
              </a:ext>
            </a:extLst>
          </p:cNvPr>
          <p:cNvSpPr txBox="1">
            <a:spLocks/>
          </p:cNvSpPr>
          <p:nvPr/>
        </p:nvSpPr>
        <p:spPr>
          <a:xfrm>
            <a:off x="1159305" y="2897540"/>
            <a:ext cx="181874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/>
              <a:t>s = 01011011</a:t>
            </a:r>
          </a:p>
        </p:txBody>
      </p:sp>
      <p:sp>
        <p:nvSpPr>
          <p:cNvPr id="6" name="Google Shape;2336;p45">
            <a:extLst>
              <a:ext uri="{FF2B5EF4-FFF2-40B4-BE49-F238E27FC236}">
                <a16:creationId xmlns="" xmlns:a16="http://schemas.microsoft.com/office/drawing/2014/main" id="{5334726E-E155-9847-3633-CA51156F16CC}"/>
              </a:ext>
            </a:extLst>
          </p:cNvPr>
          <p:cNvSpPr txBox="1">
            <a:spLocks/>
          </p:cNvSpPr>
          <p:nvPr/>
        </p:nvSpPr>
        <p:spPr>
          <a:xfrm>
            <a:off x="1574033" y="2897540"/>
            <a:ext cx="75693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>
                <a:solidFill>
                  <a:srgbClr val="FF0000"/>
                </a:solidFill>
              </a:rPr>
              <a:t>010</a:t>
            </a:r>
          </a:p>
        </p:txBody>
      </p:sp>
      <p:sp>
        <p:nvSpPr>
          <p:cNvPr id="8" name="Google Shape;2336;p45">
            <a:extLst>
              <a:ext uri="{FF2B5EF4-FFF2-40B4-BE49-F238E27FC236}">
                <a16:creationId xmlns="" xmlns:a16="http://schemas.microsoft.com/office/drawing/2014/main" id="{32035EA2-223C-3DFD-6E42-C17A6F15AF09}"/>
              </a:ext>
            </a:extLst>
          </p:cNvPr>
          <p:cNvSpPr txBox="1">
            <a:spLocks/>
          </p:cNvSpPr>
          <p:nvPr/>
        </p:nvSpPr>
        <p:spPr>
          <a:xfrm>
            <a:off x="5501456" y="3470240"/>
            <a:ext cx="181874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/>
              <a:t>p = 0100</a:t>
            </a:r>
          </a:p>
        </p:txBody>
      </p:sp>
      <p:sp>
        <p:nvSpPr>
          <p:cNvPr id="12" name="Google Shape;2336;p45">
            <a:extLst>
              <a:ext uri="{FF2B5EF4-FFF2-40B4-BE49-F238E27FC236}">
                <a16:creationId xmlns="" xmlns:a16="http://schemas.microsoft.com/office/drawing/2014/main" id="{F3DEA030-C877-8535-F95C-6D12AB755979}"/>
              </a:ext>
            </a:extLst>
          </p:cNvPr>
          <p:cNvSpPr txBox="1">
            <a:spLocks/>
          </p:cNvSpPr>
          <p:nvPr/>
        </p:nvSpPr>
        <p:spPr>
          <a:xfrm>
            <a:off x="5501456" y="2897540"/>
            <a:ext cx="181874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/>
              <a:t>s = 1001101</a:t>
            </a:r>
          </a:p>
        </p:txBody>
      </p:sp>
      <p:pic>
        <p:nvPicPr>
          <p:cNvPr id="18" name="Graphic 17" descr="Checkmark">
            <a:extLst>
              <a:ext uri="{FF2B5EF4-FFF2-40B4-BE49-F238E27FC236}">
                <a16:creationId xmlns="" xmlns:a16="http://schemas.microsoft.com/office/drawing/2014/main" id="{9D53C7F9-3445-BEAC-1053-D0A9BAD63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5345" y="2897540"/>
            <a:ext cx="914400" cy="914400"/>
          </a:xfrm>
          <a:prstGeom prst="rect">
            <a:avLst/>
          </a:prstGeom>
        </p:spPr>
      </p:pic>
      <p:pic>
        <p:nvPicPr>
          <p:cNvPr id="22" name="Graphic 21" descr="Close">
            <a:extLst>
              <a:ext uri="{FF2B5EF4-FFF2-40B4-BE49-F238E27FC236}">
                <a16:creationId xmlns="" xmlns:a16="http://schemas.microsoft.com/office/drawing/2014/main" id="{5FE29086-81A7-15E9-44F1-858F4D2AFF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0151" y="3013040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Google Shape;2336;p45">
                <a:extLst>
                  <a:ext uri="{FF2B5EF4-FFF2-40B4-BE49-F238E27FC236}">
                    <a16:creationId xmlns="" xmlns:a16="http://schemas.microsoft.com/office/drawing/2014/main" id="{E44738D5-BD03-7E24-D2A8-AAC9A1C009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6478" y="4263955"/>
                <a:ext cx="5831044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PREFIX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3600" i="1" dirty="0"/>
              </a:p>
            </p:txBody>
          </p:sp>
        </mc:Choice>
        <mc:Fallback xmlns="">
          <p:sp>
            <p:nvSpPr>
              <p:cNvPr id="24" name="Google Shape;2336;p45">
                <a:extLst>
                  <a:ext uri="{FF2B5EF4-FFF2-40B4-BE49-F238E27FC236}">
                    <a16:creationId xmlns:a16="http://schemas.microsoft.com/office/drawing/2014/main" id="{E44738D5-BD03-7E24-D2A8-AAC9A1C00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478" y="4263955"/>
                <a:ext cx="5831044" cy="5727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93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8" grpId="0"/>
      <p:bldP spid="1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Substring</a:t>
            </a:r>
            <a:endParaRPr lang="en-US" dirty="0"/>
          </a:p>
        </p:txBody>
      </p:sp>
      <p:sp>
        <p:nvSpPr>
          <p:cNvPr id="2" name="Google Shape;2336;p45">
            <a:extLst>
              <a:ext uri="{FF2B5EF4-FFF2-40B4-BE49-F238E27FC236}">
                <a16:creationId xmlns="" xmlns:a16="http://schemas.microsoft.com/office/drawing/2014/main" id="{11700B67-97F3-60D4-FC46-45F9A4969C8C}"/>
              </a:ext>
            </a:extLst>
          </p:cNvPr>
          <p:cNvSpPr txBox="1">
            <a:spLocks/>
          </p:cNvSpPr>
          <p:nvPr/>
        </p:nvSpPr>
        <p:spPr>
          <a:xfrm>
            <a:off x="1656478" y="1586475"/>
            <a:ext cx="583104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dirty="0"/>
              <a:t>“Does string s contain string p?”</a:t>
            </a:r>
          </a:p>
        </p:txBody>
      </p:sp>
      <p:sp>
        <p:nvSpPr>
          <p:cNvPr id="3" name="Google Shape;2336;p45">
            <a:extLst>
              <a:ext uri="{FF2B5EF4-FFF2-40B4-BE49-F238E27FC236}">
                <a16:creationId xmlns="" xmlns:a16="http://schemas.microsoft.com/office/drawing/2014/main" id="{47CD8905-2BC2-B2C0-0F8F-97E80D1FD12F}"/>
              </a:ext>
            </a:extLst>
          </p:cNvPr>
          <p:cNvSpPr txBox="1">
            <a:spLocks/>
          </p:cNvSpPr>
          <p:nvPr/>
        </p:nvSpPr>
        <p:spPr>
          <a:xfrm>
            <a:off x="1159305" y="3470240"/>
            <a:ext cx="181874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/>
              <a:t>p = 110</a:t>
            </a:r>
          </a:p>
        </p:txBody>
      </p:sp>
      <p:sp>
        <p:nvSpPr>
          <p:cNvPr id="4" name="Google Shape;2336;p45">
            <a:extLst>
              <a:ext uri="{FF2B5EF4-FFF2-40B4-BE49-F238E27FC236}">
                <a16:creationId xmlns="" xmlns:a16="http://schemas.microsoft.com/office/drawing/2014/main" id="{7ECF673A-2251-4816-713E-F095632CD91C}"/>
              </a:ext>
            </a:extLst>
          </p:cNvPr>
          <p:cNvSpPr txBox="1">
            <a:spLocks/>
          </p:cNvSpPr>
          <p:nvPr/>
        </p:nvSpPr>
        <p:spPr>
          <a:xfrm>
            <a:off x="1159304" y="2897540"/>
            <a:ext cx="264819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/>
              <a:t>s = 010111011</a:t>
            </a:r>
          </a:p>
        </p:txBody>
      </p:sp>
      <p:sp>
        <p:nvSpPr>
          <p:cNvPr id="6" name="Google Shape;2336;p45">
            <a:extLst>
              <a:ext uri="{FF2B5EF4-FFF2-40B4-BE49-F238E27FC236}">
                <a16:creationId xmlns="" xmlns:a16="http://schemas.microsoft.com/office/drawing/2014/main" id="{5334726E-E155-9847-3633-CA51156F16CC}"/>
              </a:ext>
            </a:extLst>
          </p:cNvPr>
          <p:cNvSpPr txBox="1">
            <a:spLocks/>
          </p:cNvSpPr>
          <p:nvPr/>
        </p:nvSpPr>
        <p:spPr>
          <a:xfrm>
            <a:off x="2143659" y="2897540"/>
            <a:ext cx="75693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8" name="Google Shape;2336;p45">
            <a:extLst>
              <a:ext uri="{FF2B5EF4-FFF2-40B4-BE49-F238E27FC236}">
                <a16:creationId xmlns="" xmlns:a16="http://schemas.microsoft.com/office/drawing/2014/main" id="{32035EA2-223C-3DFD-6E42-C17A6F15AF09}"/>
              </a:ext>
            </a:extLst>
          </p:cNvPr>
          <p:cNvSpPr txBox="1">
            <a:spLocks/>
          </p:cNvSpPr>
          <p:nvPr/>
        </p:nvSpPr>
        <p:spPr>
          <a:xfrm>
            <a:off x="5501456" y="3470240"/>
            <a:ext cx="181874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/>
              <a:t>p = 0110</a:t>
            </a:r>
          </a:p>
        </p:txBody>
      </p:sp>
      <p:sp>
        <p:nvSpPr>
          <p:cNvPr id="12" name="Google Shape;2336;p45">
            <a:extLst>
              <a:ext uri="{FF2B5EF4-FFF2-40B4-BE49-F238E27FC236}">
                <a16:creationId xmlns="" xmlns:a16="http://schemas.microsoft.com/office/drawing/2014/main" id="{F3DEA030-C877-8535-F95C-6D12AB755979}"/>
              </a:ext>
            </a:extLst>
          </p:cNvPr>
          <p:cNvSpPr txBox="1">
            <a:spLocks/>
          </p:cNvSpPr>
          <p:nvPr/>
        </p:nvSpPr>
        <p:spPr>
          <a:xfrm>
            <a:off x="5501456" y="2897540"/>
            <a:ext cx="181874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/>
              <a:t>s = 1110101</a:t>
            </a:r>
          </a:p>
        </p:txBody>
      </p:sp>
      <p:pic>
        <p:nvPicPr>
          <p:cNvPr id="18" name="Graphic 17" descr="Checkmark">
            <a:extLst>
              <a:ext uri="{FF2B5EF4-FFF2-40B4-BE49-F238E27FC236}">
                <a16:creationId xmlns="" xmlns:a16="http://schemas.microsoft.com/office/drawing/2014/main" id="{9D53C7F9-3445-BEAC-1053-D0A9BAD63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5345" y="2897540"/>
            <a:ext cx="914400" cy="914400"/>
          </a:xfrm>
          <a:prstGeom prst="rect">
            <a:avLst/>
          </a:prstGeom>
        </p:spPr>
      </p:pic>
      <p:pic>
        <p:nvPicPr>
          <p:cNvPr id="22" name="Graphic 21" descr="Close">
            <a:extLst>
              <a:ext uri="{FF2B5EF4-FFF2-40B4-BE49-F238E27FC236}">
                <a16:creationId xmlns="" xmlns:a16="http://schemas.microsoft.com/office/drawing/2014/main" id="{5FE29086-81A7-15E9-44F1-858F4D2AFF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0151" y="3013040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2336;p45">
                <a:extLst>
                  <a:ext uri="{FF2B5EF4-FFF2-40B4-BE49-F238E27FC236}">
                    <a16:creationId xmlns="" xmlns:a16="http://schemas.microsoft.com/office/drawing/2014/main" id="{5D8C2ABA-DA6D-A7F8-BB84-4097CE772B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56478" y="4263955"/>
                <a:ext cx="5831044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SUBSTRING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3600" i="1" dirty="0"/>
              </a:p>
            </p:txBody>
          </p:sp>
        </mc:Choice>
        <mc:Fallback xmlns="">
          <p:sp>
            <p:nvSpPr>
              <p:cNvPr id="7" name="Google Shape;2336;p45">
                <a:extLst>
                  <a:ext uri="{FF2B5EF4-FFF2-40B4-BE49-F238E27FC236}">
                    <a16:creationId xmlns:a16="http://schemas.microsoft.com/office/drawing/2014/main" id="{5D8C2ABA-DA6D-A7F8-BB84-4097CE772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478" y="4263955"/>
                <a:ext cx="5831044" cy="5727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54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8" grpId="0"/>
      <p:bldP spid="12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Reducing SUBSTRING to PREFIX</a:t>
            </a:r>
            <a:endParaRPr lang="en-US" dirty="0"/>
          </a:p>
        </p:txBody>
      </p:sp>
      <p:sp>
        <p:nvSpPr>
          <p:cNvPr id="2" name="Google Shape;2336;p45">
            <a:extLst>
              <a:ext uri="{FF2B5EF4-FFF2-40B4-BE49-F238E27FC236}">
                <a16:creationId xmlns="" xmlns:a16="http://schemas.microsoft.com/office/drawing/2014/main" id="{7A5E62A9-90BD-1B51-3B3B-5761155C1706}"/>
              </a:ext>
            </a:extLst>
          </p:cNvPr>
          <p:cNvSpPr txBox="1">
            <a:spLocks/>
          </p:cNvSpPr>
          <p:nvPr/>
        </p:nvSpPr>
        <p:spPr>
          <a:xfrm>
            <a:off x="1316702" y="2216286"/>
            <a:ext cx="181874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/>
              <a:t>p = 110</a:t>
            </a:r>
          </a:p>
        </p:txBody>
      </p:sp>
      <p:sp>
        <p:nvSpPr>
          <p:cNvPr id="3" name="Google Shape;2336;p45">
            <a:extLst>
              <a:ext uri="{FF2B5EF4-FFF2-40B4-BE49-F238E27FC236}">
                <a16:creationId xmlns="" xmlns:a16="http://schemas.microsoft.com/office/drawing/2014/main" id="{0AAAB4B6-7E46-EDB3-9D10-6352C1D76F5D}"/>
              </a:ext>
            </a:extLst>
          </p:cNvPr>
          <p:cNvSpPr txBox="1">
            <a:spLocks/>
          </p:cNvSpPr>
          <p:nvPr/>
        </p:nvSpPr>
        <p:spPr>
          <a:xfrm>
            <a:off x="1316701" y="1643586"/>
            <a:ext cx="264819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/>
              <a:t>s = 010111011</a:t>
            </a:r>
          </a:p>
        </p:txBody>
      </p:sp>
      <p:sp>
        <p:nvSpPr>
          <p:cNvPr id="4" name="Google Shape;2336;p45">
            <a:extLst>
              <a:ext uri="{FF2B5EF4-FFF2-40B4-BE49-F238E27FC236}">
                <a16:creationId xmlns="" xmlns:a16="http://schemas.microsoft.com/office/drawing/2014/main" id="{BF1AE731-740E-057E-7814-9DB19CB11C3A}"/>
              </a:ext>
            </a:extLst>
          </p:cNvPr>
          <p:cNvSpPr txBox="1">
            <a:spLocks/>
          </p:cNvSpPr>
          <p:nvPr/>
        </p:nvSpPr>
        <p:spPr>
          <a:xfrm>
            <a:off x="1731428" y="1640572"/>
            <a:ext cx="1603883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>
                <a:solidFill>
                  <a:srgbClr val="FF0000"/>
                </a:solidFill>
              </a:rPr>
              <a:t>010111011</a:t>
            </a:r>
          </a:p>
        </p:txBody>
      </p:sp>
      <p:sp>
        <p:nvSpPr>
          <p:cNvPr id="6" name="Google Shape;2336;p45">
            <a:extLst>
              <a:ext uri="{FF2B5EF4-FFF2-40B4-BE49-F238E27FC236}">
                <a16:creationId xmlns="" xmlns:a16="http://schemas.microsoft.com/office/drawing/2014/main" id="{C18CA06F-F332-ED01-4B2D-533DB27B7BC3}"/>
              </a:ext>
            </a:extLst>
          </p:cNvPr>
          <p:cNvSpPr txBox="1">
            <a:spLocks/>
          </p:cNvSpPr>
          <p:nvPr/>
        </p:nvSpPr>
        <p:spPr>
          <a:xfrm>
            <a:off x="1656478" y="3408820"/>
            <a:ext cx="583104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dirty="0"/>
              <a:t>“Does string 010111011 begin with string 110?”</a:t>
            </a:r>
          </a:p>
        </p:txBody>
      </p:sp>
      <p:sp>
        <p:nvSpPr>
          <p:cNvPr id="8" name="Google Shape;2336;p45">
            <a:extLst>
              <a:ext uri="{FF2B5EF4-FFF2-40B4-BE49-F238E27FC236}">
                <a16:creationId xmlns="" xmlns:a16="http://schemas.microsoft.com/office/drawing/2014/main" id="{FE7E0E07-D1A1-A01E-86BF-6301A0E7462B}"/>
              </a:ext>
            </a:extLst>
          </p:cNvPr>
          <p:cNvSpPr txBox="1">
            <a:spLocks/>
          </p:cNvSpPr>
          <p:nvPr/>
        </p:nvSpPr>
        <p:spPr>
          <a:xfrm>
            <a:off x="1873867" y="1640572"/>
            <a:ext cx="1603883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>
                <a:solidFill>
                  <a:srgbClr val="FF0000"/>
                </a:solidFill>
              </a:rPr>
              <a:t>10111011</a:t>
            </a:r>
          </a:p>
        </p:txBody>
      </p:sp>
      <p:sp>
        <p:nvSpPr>
          <p:cNvPr id="9" name="Google Shape;2336;p45">
            <a:extLst>
              <a:ext uri="{FF2B5EF4-FFF2-40B4-BE49-F238E27FC236}">
                <a16:creationId xmlns="" xmlns:a16="http://schemas.microsoft.com/office/drawing/2014/main" id="{08FE0AE5-B711-A032-14C8-9839C5A1B759}"/>
              </a:ext>
            </a:extLst>
          </p:cNvPr>
          <p:cNvSpPr txBox="1">
            <a:spLocks/>
          </p:cNvSpPr>
          <p:nvPr/>
        </p:nvSpPr>
        <p:spPr>
          <a:xfrm>
            <a:off x="1656478" y="3408820"/>
            <a:ext cx="583104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dirty="0"/>
              <a:t>“Does string 10111011 begin with string 110?”</a:t>
            </a:r>
          </a:p>
        </p:txBody>
      </p:sp>
      <p:sp>
        <p:nvSpPr>
          <p:cNvPr id="10" name="Google Shape;2336;p45">
            <a:extLst>
              <a:ext uri="{FF2B5EF4-FFF2-40B4-BE49-F238E27FC236}">
                <a16:creationId xmlns="" xmlns:a16="http://schemas.microsoft.com/office/drawing/2014/main" id="{E9A7AFBF-DE94-82B3-AE03-E00002246473}"/>
              </a:ext>
            </a:extLst>
          </p:cNvPr>
          <p:cNvSpPr txBox="1">
            <a:spLocks/>
          </p:cNvSpPr>
          <p:nvPr/>
        </p:nvSpPr>
        <p:spPr>
          <a:xfrm>
            <a:off x="2016306" y="1640572"/>
            <a:ext cx="1603883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>
                <a:solidFill>
                  <a:srgbClr val="FF0000"/>
                </a:solidFill>
              </a:rPr>
              <a:t>0111011</a:t>
            </a:r>
          </a:p>
        </p:txBody>
      </p:sp>
      <p:sp>
        <p:nvSpPr>
          <p:cNvPr id="11" name="Google Shape;2336;p45">
            <a:extLst>
              <a:ext uri="{FF2B5EF4-FFF2-40B4-BE49-F238E27FC236}">
                <a16:creationId xmlns="" xmlns:a16="http://schemas.microsoft.com/office/drawing/2014/main" id="{D23425D8-6150-82EB-6E2C-A43F4FD0941C}"/>
              </a:ext>
            </a:extLst>
          </p:cNvPr>
          <p:cNvSpPr txBox="1">
            <a:spLocks/>
          </p:cNvSpPr>
          <p:nvPr/>
        </p:nvSpPr>
        <p:spPr>
          <a:xfrm>
            <a:off x="1656478" y="3408820"/>
            <a:ext cx="583104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dirty="0"/>
              <a:t>“Does string 0111011 begin with string 110?”</a:t>
            </a:r>
          </a:p>
        </p:txBody>
      </p:sp>
      <p:sp>
        <p:nvSpPr>
          <p:cNvPr id="12" name="Google Shape;2336;p45">
            <a:extLst>
              <a:ext uri="{FF2B5EF4-FFF2-40B4-BE49-F238E27FC236}">
                <a16:creationId xmlns="" xmlns:a16="http://schemas.microsoft.com/office/drawing/2014/main" id="{478FA87E-D6CB-6CD8-158F-75875E05AD03}"/>
              </a:ext>
            </a:extLst>
          </p:cNvPr>
          <p:cNvSpPr txBox="1">
            <a:spLocks/>
          </p:cNvSpPr>
          <p:nvPr/>
        </p:nvSpPr>
        <p:spPr>
          <a:xfrm>
            <a:off x="2158745" y="1646600"/>
            <a:ext cx="1603883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>
                <a:solidFill>
                  <a:srgbClr val="FF0000"/>
                </a:solidFill>
              </a:rPr>
              <a:t>111011</a:t>
            </a:r>
          </a:p>
        </p:txBody>
      </p:sp>
      <p:sp>
        <p:nvSpPr>
          <p:cNvPr id="13" name="Google Shape;2336;p45">
            <a:extLst>
              <a:ext uri="{FF2B5EF4-FFF2-40B4-BE49-F238E27FC236}">
                <a16:creationId xmlns="" xmlns:a16="http://schemas.microsoft.com/office/drawing/2014/main" id="{7188F652-1268-8B62-1BF6-A1D8E3D13BFC}"/>
              </a:ext>
            </a:extLst>
          </p:cNvPr>
          <p:cNvSpPr txBox="1">
            <a:spLocks/>
          </p:cNvSpPr>
          <p:nvPr/>
        </p:nvSpPr>
        <p:spPr>
          <a:xfrm>
            <a:off x="1656478" y="3411834"/>
            <a:ext cx="583104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dirty="0"/>
              <a:t>“Does string 111011 begin with string 110?”</a:t>
            </a:r>
          </a:p>
        </p:txBody>
      </p:sp>
      <p:sp>
        <p:nvSpPr>
          <p:cNvPr id="14" name="Google Shape;2336;p45">
            <a:extLst>
              <a:ext uri="{FF2B5EF4-FFF2-40B4-BE49-F238E27FC236}">
                <a16:creationId xmlns="" xmlns:a16="http://schemas.microsoft.com/office/drawing/2014/main" id="{CD09004B-5621-85B0-D329-DC5E7810ACCE}"/>
              </a:ext>
            </a:extLst>
          </p:cNvPr>
          <p:cNvSpPr txBox="1">
            <a:spLocks/>
          </p:cNvSpPr>
          <p:nvPr/>
        </p:nvSpPr>
        <p:spPr>
          <a:xfrm>
            <a:off x="2301184" y="1649614"/>
            <a:ext cx="1603883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i="1" dirty="0">
                <a:solidFill>
                  <a:srgbClr val="FF0000"/>
                </a:solidFill>
              </a:rPr>
              <a:t>11011</a:t>
            </a:r>
          </a:p>
        </p:txBody>
      </p:sp>
      <p:sp>
        <p:nvSpPr>
          <p:cNvPr id="15" name="Google Shape;2336;p45">
            <a:extLst>
              <a:ext uri="{FF2B5EF4-FFF2-40B4-BE49-F238E27FC236}">
                <a16:creationId xmlns="" xmlns:a16="http://schemas.microsoft.com/office/drawing/2014/main" id="{7B00E76D-489E-E136-8CEF-36410E2F15DD}"/>
              </a:ext>
            </a:extLst>
          </p:cNvPr>
          <p:cNvSpPr txBox="1">
            <a:spLocks/>
          </p:cNvSpPr>
          <p:nvPr/>
        </p:nvSpPr>
        <p:spPr>
          <a:xfrm>
            <a:off x="1656478" y="3411834"/>
            <a:ext cx="5831044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i="1" dirty="0"/>
              <a:t>“Does string 11011 begin with string 110?”</a:t>
            </a:r>
          </a:p>
        </p:txBody>
      </p:sp>
    </p:spTree>
    <p:extLst>
      <p:ext uri="{BB962C8B-B14F-4D97-AF65-F5344CB8AC3E}">
        <p14:creationId xmlns:p14="http://schemas.microsoft.com/office/powerpoint/2010/main" val="333036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4" grpId="1"/>
      <p:bldP spid="6" grpId="0"/>
      <p:bldP spid="6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loud 50">
            <a:extLst>
              <a:ext uri="{FF2B5EF4-FFF2-40B4-BE49-F238E27FC236}">
                <a16:creationId xmlns="" xmlns:a16="http://schemas.microsoft.com/office/drawing/2014/main" id="{E9E77169-8342-8CDE-7EBD-98A822930B1F}"/>
              </a:ext>
            </a:extLst>
          </p:cNvPr>
          <p:cNvSpPr/>
          <p:nvPr/>
        </p:nvSpPr>
        <p:spPr>
          <a:xfrm>
            <a:off x="5101170" y="1074963"/>
            <a:ext cx="2765685" cy="3023593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Mapping reductions</a:t>
            </a:r>
            <a:endParaRPr lang="en-US" dirty="0"/>
          </a:p>
        </p:txBody>
      </p:sp>
      <p:sp>
        <p:nvSpPr>
          <p:cNvPr id="5" name="Cloud 4">
            <a:extLst>
              <a:ext uri="{FF2B5EF4-FFF2-40B4-BE49-F238E27FC236}">
                <a16:creationId xmlns="" xmlns:a16="http://schemas.microsoft.com/office/drawing/2014/main" id="{9C0744AB-6884-37CC-839E-48CF65D6DAE7}"/>
              </a:ext>
            </a:extLst>
          </p:cNvPr>
          <p:cNvSpPr/>
          <p:nvPr/>
        </p:nvSpPr>
        <p:spPr>
          <a:xfrm>
            <a:off x="1277147" y="1059953"/>
            <a:ext cx="2765685" cy="3023593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82746235-84A4-75A1-299B-3A6885A1245F}"/>
              </a:ext>
            </a:extLst>
          </p:cNvPr>
          <p:cNvCxnSpPr>
            <a:cxnSpLocks/>
            <a:stCxn id="32" idx="1"/>
            <a:endCxn id="13" idx="3"/>
          </p:cNvCxnSpPr>
          <p:nvPr/>
        </p:nvCxnSpPr>
        <p:spPr>
          <a:xfrm flipH="1" flipV="1">
            <a:off x="3837482" y="1540306"/>
            <a:ext cx="1582574" cy="95053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F11D0DC-EFF1-8100-52C7-F56CE30C7EEB}"/>
              </a:ext>
            </a:extLst>
          </p:cNvPr>
          <p:cNvSpPr txBox="1"/>
          <p:nvPr/>
        </p:nvSpPr>
        <p:spPr>
          <a:xfrm>
            <a:off x="1708114" y="1644139"/>
            <a:ext cx="840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10001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CF3AC54-EAE0-9513-9877-FF5E16206D29}"/>
              </a:ext>
            </a:extLst>
          </p:cNvPr>
          <p:cNvSpPr txBox="1"/>
          <p:nvPr/>
        </p:nvSpPr>
        <p:spPr>
          <a:xfrm>
            <a:off x="2944146" y="1905550"/>
            <a:ext cx="349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A069D50-E4B5-0BB3-D42B-A5516CBC9286}"/>
              </a:ext>
            </a:extLst>
          </p:cNvPr>
          <p:cNvSpPr txBox="1"/>
          <p:nvPr/>
        </p:nvSpPr>
        <p:spPr>
          <a:xfrm>
            <a:off x="2381804" y="3304620"/>
            <a:ext cx="83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1110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F61070B-5510-AE67-DCA6-FDF152FDC064}"/>
              </a:ext>
            </a:extLst>
          </p:cNvPr>
          <p:cNvSpPr txBox="1"/>
          <p:nvPr/>
        </p:nvSpPr>
        <p:spPr>
          <a:xfrm>
            <a:off x="2557602" y="2746639"/>
            <a:ext cx="634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010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8A49D44-85FD-42FD-7570-18C83043F7AC}"/>
              </a:ext>
            </a:extLst>
          </p:cNvPr>
          <p:cNvSpPr txBox="1"/>
          <p:nvPr/>
        </p:nvSpPr>
        <p:spPr>
          <a:xfrm>
            <a:off x="1493637" y="3075301"/>
            <a:ext cx="634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79D893A-861D-54AD-F3DE-A33E24CB70DE}"/>
              </a:ext>
            </a:extLst>
          </p:cNvPr>
          <p:cNvSpPr txBox="1"/>
          <p:nvPr/>
        </p:nvSpPr>
        <p:spPr>
          <a:xfrm>
            <a:off x="2608289" y="1355640"/>
            <a:ext cx="1229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11100110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7FB94030-3252-0927-48DA-9E0D5786091E}"/>
              </a:ext>
            </a:extLst>
          </p:cNvPr>
          <p:cNvSpPr txBox="1"/>
          <p:nvPr/>
        </p:nvSpPr>
        <p:spPr>
          <a:xfrm>
            <a:off x="3410072" y="2145705"/>
            <a:ext cx="50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ACCC2A0-E3A1-BE07-F87E-09E55DDD8257}"/>
              </a:ext>
            </a:extLst>
          </p:cNvPr>
          <p:cNvSpPr txBox="1"/>
          <p:nvPr/>
        </p:nvSpPr>
        <p:spPr>
          <a:xfrm>
            <a:off x="2008784" y="2228325"/>
            <a:ext cx="599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336;p45">
                <a:extLst>
                  <a:ext uri="{FF2B5EF4-FFF2-40B4-BE49-F238E27FC236}">
                    <a16:creationId xmlns="" xmlns:a16="http://schemas.microsoft.com/office/drawing/2014/main" id="{2BCA54C5-4FEF-60AF-8848-861C0FFF3E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2741" y="4062559"/>
                <a:ext cx="1934496" cy="98856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𝑇𝑅𝑈𝐸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𝐹𝐴𝐿𝑆𝐸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21" name="Google Shape;2336;p45">
                <a:extLst>
                  <a:ext uri="{FF2B5EF4-FFF2-40B4-BE49-F238E27FC236}">
                    <a16:creationId xmlns:a16="http://schemas.microsoft.com/office/drawing/2014/main" id="{2BCA54C5-4FEF-60AF-8848-861C0FFF3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741" y="4062559"/>
                <a:ext cx="1934496" cy="9885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85D5E910-1D9A-FD8A-7ED2-557DF24D0553}"/>
              </a:ext>
            </a:extLst>
          </p:cNvPr>
          <p:cNvSpPr/>
          <p:nvPr/>
        </p:nvSpPr>
        <p:spPr>
          <a:xfrm>
            <a:off x="2128221" y="4252046"/>
            <a:ext cx="228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781E3C1A-D59F-EFD0-39AB-9CCE3B2556E1}"/>
              </a:ext>
            </a:extLst>
          </p:cNvPr>
          <p:cNvSpPr/>
          <p:nvPr/>
        </p:nvSpPr>
        <p:spPr>
          <a:xfrm>
            <a:off x="2074265" y="4706644"/>
            <a:ext cx="228600" cy="2286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Google Shape;2336;p45">
                <a:extLst>
                  <a:ext uri="{FF2B5EF4-FFF2-40B4-BE49-F238E27FC236}">
                    <a16:creationId xmlns="" xmlns:a16="http://schemas.microsoft.com/office/drawing/2014/main" id="{F264E94E-22A5-E1C3-C31E-385E6DDA49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44170" y="3986365"/>
                <a:ext cx="1934496" cy="98856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𝑇𝑅𝑈𝐸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𝐹𝐴𝐿𝑆𝐸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25" name="Google Shape;2336;p45">
                <a:extLst>
                  <a:ext uri="{FF2B5EF4-FFF2-40B4-BE49-F238E27FC236}">
                    <a16:creationId xmlns:a16="http://schemas.microsoft.com/office/drawing/2014/main" id="{F264E94E-22A5-E1C3-C31E-385E6DDA4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170" y="3986365"/>
                <a:ext cx="1934496" cy="9885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BCCC11DC-C631-E71E-F30D-FEB6A25D41F8}"/>
              </a:ext>
            </a:extLst>
          </p:cNvPr>
          <p:cNvSpPr/>
          <p:nvPr/>
        </p:nvSpPr>
        <p:spPr>
          <a:xfrm>
            <a:off x="6185061" y="4179064"/>
            <a:ext cx="228600" cy="2286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7AD2104A-2558-2BC0-1466-2B61881ABC64}"/>
              </a:ext>
            </a:extLst>
          </p:cNvPr>
          <p:cNvSpPr/>
          <p:nvPr/>
        </p:nvSpPr>
        <p:spPr>
          <a:xfrm>
            <a:off x="6139098" y="4634192"/>
            <a:ext cx="228600" cy="2286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72EE877D-71DB-928E-F21A-D4653BBB351E}"/>
              </a:ext>
            </a:extLst>
          </p:cNvPr>
          <p:cNvSpPr txBox="1"/>
          <p:nvPr/>
        </p:nvSpPr>
        <p:spPr>
          <a:xfrm>
            <a:off x="6366447" y="1422244"/>
            <a:ext cx="94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10110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2393779-F15F-7088-52FB-BF3BDAB72C8A}"/>
              </a:ext>
            </a:extLst>
          </p:cNvPr>
          <p:cNvSpPr txBox="1"/>
          <p:nvPr/>
        </p:nvSpPr>
        <p:spPr>
          <a:xfrm>
            <a:off x="5893635" y="3299236"/>
            <a:ext cx="94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110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id="{303B57E2-0781-1BC7-9A0F-11D8F35210AC}"/>
                  </a:ext>
                </a:extLst>
              </p:cNvPr>
              <p:cNvSpPr txBox="1"/>
              <p:nvPr/>
            </p:nvSpPr>
            <p:spPr>
              <a:xfrm>
                <a:off x="5420056" y="2306170"/>
                <a:ext cx="4273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80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03B57E2-0781-1BC7-9A0F-11D8F3521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056" y="2306170"/>
                <a:ext cx="42735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76EF21CE-2DB2-CB40-159C-87323940D7CF}"/>
              </a:ext>
            </a:extLst>
          </p:cNvPr>
          <p:cNvSpPr txBox="1"/>
          <p:nvPr/>
        </p:nvSpPr>
        <p:spPr>
          <a:xfrm>
            <a:off x="6218164" y="2882172"/>
            <a:ext cx="94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1111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72A064BA-25E3-E639-40BA-32E181CDC11C}"/>
              </a:ext>
            </a:extLst>
          </p:cNvPr>
          <p:cNvSpPr txBox="1"/>
          <p:nvPr/>
        </p:nvSpPr>
        <p:spPr>
          <a:xfrm>
            <a:off x="5794762" y="1994928"/>
            <a:ext cx="94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E6F1DD9A-5722-453C-E871-13EC3197EC1B}"/>
              </a:ext>
            </a:extLst>
          </p:cNvPr>
          <p:cNvSpPr txBox="1"/>
          <p:nvPr/>
        </p:nvSpPr>
        <p:spPr>
          <a:xfrm>
            <a:off x="6665535" y="2385395"/>
            <a:ext cx="540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0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="" xmlns:a16="http://schemas.microsoft.com/office/drawing/2014/main" id="{1364B930-133C-FDD0-E3CB-CD8E0FAC522F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2557602" y="1606910"/>
            <a:ext cx="3808845" cy="221895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="" xmlns:a16="http://schemas.microsoft.com/office/drawing/2014/main" id="{1E6CE784-F06E-5F15-346A-324BBB6830B4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3919302" y="1606910"/>
            <a:ext cx="2447145" cy="723461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="" xmlns:a16="http://schemas.microsoft.com/office/drawing/2014/main" id="{941BA553-CA4D-EC2B-ED27-95CA4D78E6C4}"/>
              </a:ext>
            </a:extLst>
          </p:cNvPr>
          <p:cNvCxnSpPr>
            <a:cxnSpLocks/>
            <a:stCxn id="48" idx="1"/>
            <a:endCxn id="3" idx="3"/>
          </p:cNvCxnSpPr>
          <p:nvPr/>
        </p:nvCxnSpPr>
        <p:spPr>
          <a:xfrm flipH="1" flipV="1">
            <a:off x="3293918" y="2090216"/>
            <a:ext cx="2500844" cy="89378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0" name="Straight Connector 2369">
            <a:extLst>
              <a:ext uri="{FF2B5EF4-FFF2-40B4-BE49-F238E27FC236}">
                <a16:creationId xmlns="" xmlns:a16="http://schemas.microsoft.com/office/drawing/2014/main" id="{8C10E929-0879-B188-704E-E81BA53374AB}"/>
              </a:ext>
            </a:extLst>
          </p:cNvPr>
          <p:cNvCxnSpPr>
            <a:cxnSpLocks/>
            <a:stCxn id="47" idx="1"/>
            <a:endCxn id="18" idx="3"/>
          </p:cNvCxnSpPr>
          <p:nvPr/>
        </p:nvCxnSpPr>
        <p:spPr>
          <a:xfrm flipH="1" flipV="1">
            <a:off x="2608289" y="2412991"/>
            <a:ext cx="3609875" cy="653847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73" name="Straight Connector 2372">
            <a:extLst>
              <a:ext uri="{FF2B5EF4-FFF2-40B4-BE49-F238E27FC236}">
                <a16:creationId xmlns="" xmlns:a16="http://schemas.microsoft.com/office/drawing/2014/main" id="{20489C82-3210-EFBC-F6E8-7E37DF3A1B3D}"/>
              </a:ext>
            </a:extLst>
          </p:cNvPr>
          <p:cNvCxnSpPr>
            <a:cxnSpLocks/>
            <a:stCxn id="47" idx="1"/>
            <a:endCxn id="4" idx="3"/>
          </p:cNvCxnSpPr>
          <p:nvPr/>
        </p:nvCxnSpPr>
        <p:spPr>
          <a:xfrm flipH="1">
            <a:off x="3215007" y="3066838"/>
            <a:ext cx="3003157" cy="422448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1" name="Straight Connector 2380">
            <a:extLst>
              <a:ext uri="{FF2B5EF4-FFF2-40B4-BE49-F238E27FC236}">
                <a16:creationId xmlns="" xmlns:a16="http://schemas.microsoft.com/office/drawing/2014/main" id="{D62653E2-69BE-265A-ACEE-B032E262B8B9}"/>
              </a:ext>
            </a:extLst>
          </p:cNvPr>
          <p:cNvCxnSpPr>
            <a:cxnSpLocks/>
            <a:stCxn id="49" idx="1"/>
            <a:endCxn id="12" idx="3"/>
          </p:cNvCxnSpPr>
          <p:nvPr/>
        </p:nvCxnSpPr>
        <p:spPr>
          <a:xfrm flipH="1">
            <a:off x="2128221" y="2570061"/>
            <a:ext cx="4537314" cy="689906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4" name="Straight Connector 2383">
            <a:extLst>
              <a:ext uri="{FF2B5EF4-FFF2-40B4-BE49-F238E27FC236}">
                <a16:creationId xmlns="" xmlns:a16="http://schemas.microsoft.com/office/drawing/2014/main" id="{69F9AFCD-A0B9-041F-5EA3-657301026783}"/>
              </a:ext>
            </a:extLst>
          </p:cNvPr>
          <p:cNvCxnSpPr>
            <a:cxnSpLocks/>
            <a:stCxn id="31" idx="1"/>
            <a:endCxn id="8" idx="3"/>
          </p:cNvCxnSpPr>
          <p:nvPr/>
        </p:nvCxnSpPr>
        <p:spPr>
          <a:xfrm flipH="1" flipV="1">
            <a:off x="3192186" y="2931305"/>
            <a:ext cx="2701449" cy="552597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29">
            <a:extLst>
              <a:ext uri="{FF2B5EF4-FFF2-40B4-BE49-F238E27FC236}">
                <a16:creationId xmlns="" xmlns:a16="http://schemas.microsoft.com/office/drawing/2014/main" id="{72EE877D-71DB-928E-F21A-D4653BBB351E}"/>
              </a:ext>
            </a:extLst>
          </p:cNvPr>
          <p:cNvSpPr txBox="1"/>
          <p:nvPr/>
        </p:nvSpPr>
        <p:spPr>
          <a:xfrm>
            <a:off x="6918730" y="1981398"/>
            <a:ext cx="94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solidFill>
                  <a:schemeClr val="bg2"/>
                </a:solidFill>
              </a:rPr>
              <a:t>111</a:t>
            </a:r>
            <a:endParaRPr lang="en-US" sz="1800" dirty="0">
              <a:solidFill>
                <a:schemeClr val="bg2"/>
              </a:solidFill>
            </a:endParaRPr>
          </a:p>
        </p:txBody>
      </p:sp>
      <p:sp>
        <p:nvSpPr>
          <p:cNvPr id="34" name="TextBox 29">
            <a:extLst>
              <a:ext uri="{FF2B5EF4-FFF2-40B4-BE49-F238E27FC236}">
                <a16:creationId xmlns="" xmlns:a16="http://schemas.microsoft.com/office/drawing/2014/main" id="{72EE877D-71DB-928E-F21A-D4653BBB351E}"/>
              </a:ext>
            </a:extLst>
          </p:cNvPr>
          <p:cNvSpPr txBox="1"/>
          <p:nvPr/>
        </p:nvSpPr>
        <p:spPr>
          <a:xfrm>
            <a:off x="7086781" y="3207603"/>
            <a:ext cx="38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1">
                <a:extLst>
                  <a:ext uri="{FF2B5EF4-FFF2-40B4-BE49-F238E27FC236}">
                    <a16:creationId xmlns="" xmlns:a16="http://schemas.microsoft.com/office/drawing/2014/main" id="{8F11D0DC-EFF1-8100-52C7-F56CE30C7EEB}"/>
                  </a:ext>
                </a:extLst>
              </p:cNvPr>
              <p:cNvSpPr txBox="1"/>
              <p:nvPr/>
            </p:nvSpPr>
            <p:spPr>
              <a:xfrm>
                <a:off x="1123055" y="839801"/>
                <a:ext cx="8402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0, 1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}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1">
                <a:extLst>
                  <a:ext uri="{FF2B5EF4-FFF2-40B4-BE49-F238E27FC236}">
                    <a16:creationId xmlns:a16="http://schemas.microsoft.com/office/drawing/2014/main" xmlns="" id="{8F11D0DC-EFF1-8100-52C7-F56CE30C7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055" y="839801"/>
                <a:ext cx="840214" cy="523220"/>
              </a:xfrm>
              <a:prstGeom prst="rect">
                <a:avLst/>
              </a:prstGeom>
              <a:blipFill rotWithShape="1">
                <a:blip r:embed="rId6"/>
                <a:stretch>
                  <a:fillRect r="-1956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1">
                <a:extLst>
                  <a:ext uri="{FF2B5EF4-FFF2-40B4-BE49-F238E27FC236}">
                    <a16:creationId xmlns="" xmlns:a16="http://schemas.microsoft.com/office/drawing/2014/main" id="{8F11D0DC-EFF1-8100-52C7-F56CE30C7EEB}"/>
                  </a:ext>
                </a:extLst>
              </p:cNvPr>
              <p:cNvSpPr txBox="1"/>
              <p:nvPr/>
            </p:nvSpPr>
            <p:spPr>
              <a:xfrm>
                <a:off x="7522974" y="899024"/>
                <a:ext cx="8402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{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0, 1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}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1">
                <a:extLst>
                  <a:ext uri="{FF2B5EF4-FFF2-40B4-BE49-F238E27FC236}">
                    <a16:creationId xmlns:a16="http://schemas.microsoft.com/office/drawing/2014/main" xmlns="" id="{8F11D0DC-EFF1-8100-52C7-F56CE30C7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974" y="899024"/>
                <a:ext cx="840214" cy="523220"/>
              </a:xfrm>
              <a:prstGeom prst="rect">
                <a:avLst/>
              </a:prstGeom>
              <a:blipFill rotWithShape="1">
                <a:blip r:embed="rId7"/>
                <a:stretch>
                  <a:fillRect r="-1956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95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" grpId="0" animBg="1"/>
      <p:bldP spid="2" grpId="0"/>
      <p:bldP spid="3" grpId="0"/>
      <p:bldP spid="4" grpId="0"/>
      <p:bldP spid="8" grpId="0"/>
      <p:bldP spid="12" grpId="0"/>
      <p:bldP spid="13" grpId="0"/>
      <p:bldP spid="14" grpId="0"/>
      <p:bldP spid="18" grpId="0"/>
      <p:bldP spid="21" grpId="0"/>
      <p:bldP spid="22" grpId="0" animBg="1"/>
      <p:bldP spid="24" grpId="0" animBg="1"/>
      <p:bldP spid="25" grpId="0"/>
      <p:bldP spid="27" grpId="0" animBg="1"/>
      <p:bldP spid="28" grpId="0" animBg="1"/>
      <p:bldP spid="30" grpId="0"/>
      <p:bldP spid="31" grpId="0"/>
      <p:bldP spid="32" grpId="0"/>
      <p:bldP spid="47" grpId="0"/>
      <p:bldP spid="48" grpId="0"/>
      <p:bldP spid="49" grpId="0"/>
      <p:bldP spid="33" grpId="0"/>
      <p:bldP spid="34" grpId="0"/>
      <p:bldP spid="3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="" xmlns:a16="http://schemas.microsoft.com/office/drawing/2014/main" id="{D8AB379D-9508-9DB8-E2C1-46268C48EDAB}"/>
              </a:ext>
            </a:extLst>
          </p:cNvPr>
          <p:cNvSpPr/>
          <p:nvPr/>
        </p:nvSpPr>
        <p:spPr>
          <a:xfrm>
            <a:off x="1686393" y="2325914"/>
            <a:ext cx="5677359" cy="25983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Mapping reductions (2)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336;p45">
                <a:extLst>
                  <a:ext uri="{FF2B5EF4-FFF2-40B4-BE49-F238E27FC236}">
                    <a16:creationId xmlns="" xmlns:a16="http://schemas.microsoft.com/office/drawing/2014/main" id="{2BCA54C5-4FEF-60AF-8848-861C0FFF3E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9311" y="1177539"/>
                <a:ext cx="7045377" cy="98856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≝∃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𝑐𝑜𝑚𝑝𝑢𝑡𝑎𝑏𝑙𝑒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21" name="Google Shape;2336;p45">
                <a:extLst>
                  <a:ext uri="{FF2B5EF4-FFF2-40B4-BE49-F238E27FC236}">
                    <a16:creationId xmlns:a16="http://schemas.microsoft.com/office/drawing/2014/main" id="{2BCA54C5-4FEF-60AF-8848-861C0FFF3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311" y="1177539"/>
                <a:ext cx="7045377" cy="9885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="" xmlns:a16="http://schemas.microsoft.com/office/drawing/2014/main" id="{0892B2A2-B88C-B414-B0CA-9358D6EC8F19}"/>
                  </a:ext>
                </a:extLst>
              </p:cNvPr>
              <p:cNvSpPr/>
              <p:nvPr/>
            </p:nvSpPr>
            <p:spPr>
              <a:xfrm>
                <a:off x="2061149" y="3177125"/>
                <a:ext cx="1371600" cy="13716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892B2A2-B88C-B414-B0CA-9358D6EC8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149" y="3177125"/>
                <a:ext cx="1371600" cy="1371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="" xmlns:a16="http://schemas.microsoft.com/office/drawing/2014/main" id="{CDA0EB1A-810D-87B8-888F-60853616C33D}"/>
                  </a:ext>
                </a:extLst>
              </p:cNvPr>
              <p:cNvSpPr/>
              <p:nvPr/>
            </p:nvSpPr>
            <p:spPr>
              <a:xfrm>
                <a:off x="5523876" y="3177125"/>
                <a:ext cx="1371600" cy="1371600"/>
              </a:xfrm>
              <a:prstGeom prst="rect">
                <a:avLst/>
              </a:prstGeom>
              <a:solidFill>
                <a:srgbClr val="FC8CBC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DA0EB1A-810D-87B8-888F-60853616C3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876" y="3177125"/>
                <a:ext cx="1371600" cy="1371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id="{8874D027-B5F1-FB22-9B89-7274FC20EAE9}"/>
                  </a:ext>
                </a:extLst>
              </p:cNvPr>
              <p:cNvSpPr txBox="1"/>
              <p:nvPr/>
            </p:nvSpPr>
            <p:spPr>
              <a:xfrm>
                <a:off x="4096063" y="3325878"/>
                <a:ext cx="764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74D027-B5F1-FB22-9B89-7274FC20E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063" y="3325878"/>
                <a:ext cx="764498" cy="461665"/>
              </a:xfrm>
              <a:prstGeom prst="rect">
                <a:avLst/>
              </a:prstGeom>
              <a:blipFill>
                <a:blip r:embed="rId6"/>
                <a:stretch>
                  <a:fillRect l="-800" r="-11200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="" xmlns:a16="http://schemas.microsoft.com/office/drawing/2014/main" id="{D4C3C731-9150-74D8-255E-EC85F6D001C4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720000" y="3862925"/>
            <a:ext cx="134114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="" xmlns:a16="http://schemas.microsoft.com/office/drawing/2014/main" id="{149FCF5E-76CD-D580-BCAF-59CCDDCF1AC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432749" y="3862925"/>
            <a:ext cx="20911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="" xmlns:a16="http://schemas.microsoft.com/office/drawing/2014/main" id="{4F2DD97C-3221-E2F0-12F4-FEA1CCD12A1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895476" y="3862925"/>
            <a:ext cx="11992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D9D19926-A3C3-B805-1883-399DE69A9970}"/>
                  </a:ext>
                </a:extLst>
              </p:cNvPr>
              <p:cNvSpPr txBox="1"/>
              <p:nvPr/>
            </p:nvSpPr>
            <p:spPr>
              <a:xfrm>
                <a:off x="6951689" y="3332225"/>
                <a:ext cx="20349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𝐹𝐴𝐿𝑆𝐸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𝑇𝑅𝑈𝐸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9D19926-A3C3-B805-1883-399DE69A9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689" y="3332225"/>
                <a:ext cx="2034914" cy="461665"/>
              </a:xfrm>
              <a:prstGeom prst="rect">
                <a:avLst/>
              </a:prstGeom>
              <a:blipFill>
                <a:blip r:embed="rId7"/>
                <a:stretch>
                  <a:fillRect l="-299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="" xmlns:a16="http://schemas.microsoft.com/office/drawing/2014/main" id="{CB9E6C31-785F-6AEE-4DDC-2AB1802371CB}"/>
                  </a:ext>
                </a:extLst>
              </p:cNvPr>
              <p:cNvSpPr txBox="1"/>
              <p:nvPr/>
            </p:nvSpPr>
            <p:spPr>
              <a:xfrm>
                <a:off x="1015585" y="3401260"/>
                <a:ext cx="764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9E6C31-785F-6AEE-4DDC-2AB180237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585" y="3401260"/>
                <a:ext cx="764498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="" xmlns:a16="http://schemas.microsoft.com/office/drawing/2014/main" id="{434526A1-913A-CFB5-2325-98615E93E100}"/>
                  </a:ext>
                </a:extLst>
              </p:cNvPr>
              <p:cNvSpPr txBox="1"/>
              <p:nvPr/>
            </p:nvSpPr>
            <p:spPr>
              <a:xfrm>
                <a:off x="1921062" y="2382121"/>
                <a:ext cx="764498" cy="690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3600" b="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34526A1-913A-CFB5-2325-98615E93E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062" y="2382121"/>
                <a:ext cx="764498" cy="69070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69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21" grpId="0"/>
      <p:bldP spid="6" grpId="0" animBg="1"/>
      <p:bldP spid="7" grpId="0" animBg="1"/>
      <p:bldP spid="20" grpId="0"/>
      <p:bldP spid="40" grpId="0"/>
      <p:bldP spid="41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“Hardness”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336;p45">
                <a:extLst>
                  <a:ext uri="{FF2B5EF4-FFF2-40B4-BE49-F238E27FC236}">
                    <a16:creationId xmlns="" xmlns:a16="http://schemas.microsoft.com/office/drawing/2014/main" id="{2BCA54C5-4FEF-60AF-8848-861C0FFF3E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9311" y="1177539"/>
                <a:ext cx="7045377" cy="108996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000" b="0" i="1" dirty="0" smtClean="0"/>
              </a:p>
              <a:p>
                <a:pPr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i="1" dirty="0"/>
                  <a:t>i</a:t>
                </a:r>
                <a:r>
                  <a:rPr lang="en-US" sz="2000" b="0" i="1" dirty="0" smtClean="0"/>
                  <a:t>s either “easier” or “as hard as”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21" name="Google Shape;2336;p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BCA54C5-4FEF-60AF-8848-861C0FFF3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311" y="1177539"/>
                <a:ext cx="7045377" cy="1089962"/>
              </a:xfrm>
              <a:prstGeom prst="rect">
                <a:avLst/>
              </a:prstGeom>
              <a:blipFill rotWithShape="1">
                <a:blip r:embed="rId3"/>
                <a:stretch>
                  <a:fillRect b="-1173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are 1"/>
          <p:cNvGrpSpPr>
            <a:grpSpLocks noChangeAspect="1"/>
          </p:cNvGrpSpPr>
          <p:nvPr/>
        </p:nvGrpSpPr>
        <p:grpSpPr>
          <a:xfrm>
            <a:off x="1434644" y="2538082"/>
            <a:ext cx="2779873" cy="2432388"/>
            <a:chOff x="2759382" y="1594132"/>
            <a:chExt cx="3754705" cy="3285366"/>
          </a:xfrm>
        </p:grpSpPr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xmlns="" id="{BF97ACFE-115A-83DF-03D8-7ABCF2880C3C}"/>
                </a:ext>
              </a:extLst>
            </p:cNvPr>
            <p:cNvSpPr/>
            <p:nvPr/>
          </p:nvSpPr>
          <p:spPr>
            <a:xfrm>
              <a:off x="2759382" y="1594132"/>
              <a:ext cx="3754705" cy="32853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D765B367-F71F-E264-7AD9-A7E94B27188D}"/>
                </a:ext>
              </a:extLst>
            </p:cNvPr>
            <p:cNvSpPr>
              <a:spLocks/>
            </p:cNvSpPr>
            <p:nvPr/>
          </p:nvSpPr>
          <p:spPr>
            <a:xfrm>
              <a:off x="3337965" y="1955275"/>
              <a:ext cx="2743200" cy="27432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5D82B93D-C6F9-5781-A437-8376E3D26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05266" y="2959338"/>
              <a:ext cx="1423859" cy="142385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bg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R</a:t>
              </a:r>
              <a:endParaRPr lang="en-US" sz="4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8">
                <a:extLst>
                  <a:ext uri="{FF2B5EF4-FFF2-40B4-BE49-F238E27FC236}">
                    <a16:creationId xmlns:a16="http://schemas.microsoft.com/office/drawing/2014/main" xmlns="" id="{0C896B72-1405-A02C-8502-C12C4351689C}"/>
                  </a:ext>
                </a:extLst>
              </p:cNvPr>
              <p:cNvSpPr txBox="1"/>
              <p:nvPr/>
            </p:nvSpPr>
            <p:spPr>
              <a:xfrm>
                <a:off x="1434644" y="2538082"/>
                <a:ext cx="8381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𝔻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C896B72-1405-A02C-8502-C12C43516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644" y="2538082"/>
                <a:ext cx="838143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8">
            <a:extLst>
              <a:ext uri="{FF2B5EF4-FFF2-40B4-BE49-F238E27FC236}">
                <a16:creationId xmlns:a16="http://schemas.microsoft.com/office/drawing/2014/main" xmlns="" id="{0C896B72-1405-A02C-8502-C12C4351689C}"/>
              </a:ext>
            </a:extLst>
          </p:cNvPr>
          <p:cNvSpPr txBox="1"/>
          <p:nvPr/>
        </p:nvSpPr>
        <p:spPr>
          <a:xfrm>
            <a:off x="2161952" y="2945910"/>
            <a:ext cx="1113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RE</a:t>
            </a:r>
            <a:endParaRPr lang="en-US" sz="4400" dirty="0"/>
          </a:p>
        </p:txBody>
      </p:sp>
      <p:sp>
        <p:nvSpPr>
          <p:cNvPr id="3" name="Trapez 2"/>
          <p:cNvSpPr/>
          <p:nvPr/>
        </p:nvSpPr>
        <p:spPr>
          <a:xfrm>
            <a:off x="5848017" y="2593637"/>
            <a:ext cx="1485240" cy="708264"/>
          </a:xfrm>
          <a:prstGeom prst="trapezoid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Trapez 21"/>
          <p:cNvSpPr/>
          <p:nvPr/>
        </p:nvSpPr>
        <p:spPr>
          <a:xfrm>
            <a:off x="5665225" y="3324631"/>
            <a:ext cx="1850824" cy="708264"/>
          </a:xfrm>
          <a:prstGeom prst="trapezoid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5" name="Trapez 24"/>
          <p:cNvSpPr/>
          <p:nvPr/>
        </p:nvSpPr>
        <p:spPr>
          <a:xfrm>
            <a:off x="5486617" y="4056064"/>
            <a:ext cx="2208039" cy="708264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xmlns="" id="{0C896B72-1405-A02C-8502-C12C4351689C}"/>
              </a:ext>
            </a:extLst>
          </p:cNvPr>
          <p:cNvSpPr txBox="1"/>
          <p:nvPr/>
        </p:nvSpPr>
        <p:spPr>
          <a:xfrm>
            <a:off x="6033719" y="2636153"/>
            <a:ext cx="1113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R</a:t>
            </a:r>
            <a:endParaRPr lang="en-US" sz="4000" dirty="0"/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xmlns="" id="{0C896B72-1405-A02C-8502-C12C4351689C}"/>
              </a:ext>
            </a:extLst>
          </p:cNvPr>
          <p:cNvSpPr txBox="1"/>
          <p:nvPr/>
        </p:nvSpPr>
        <p:spPr>
          <a:xfrm>
            <a:off x="5760805" y="3388423"/>
            <a:ext cx="1659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RE \ R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8">
                <a:extLst>
                  <a:ext uri="{FF2B5EF4-FFF2-40B4-BE49-F238E27FC236}">
                    <a16:creationId xmlns:a16="http://schemas.microsoft.com/office/drawing/2014/main" xmlns="" id="{0C896B72-1405-A02C-8502-C12C4351689C}"/>
                  </a:ext>
                </a:extLst>
              </p:cNvPr>
              <p:cNvSpPr txBox="1"/>
              <p:nvPr/>
            </p:nvSpPr>
            <p:spPr>
              <a:xfrm>
                <a:off x="5787675" y="4117808"/>
                <a:ext cx="165966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</a:rPr>
                      <m:t>𝔻</m:t>
                    </m:r>
                    <m:r>
                      <a:rPr lang="en-US" sz="3200" b="0" i="1" smtClean="0">
                        <a:latin typeface="Cambria Math"/>
                      </a:rPr>
                      <m:t>∖</m:t>
                    </m:r>
                  </m:oMath>
                </a14:m>
                <a:r>
                  <a:rPr lang="en-US" sz="3200" dirty="0" smtClean="0"/>
                  <a:t> RE</a:t>
                </a:r>
                <a:endParaRPr lang="en-US" sz="3200" dirty="0"/>
              </a:p>
            </p:txBody>
          </p:sp>
        </mc:Choice>
        <mc:Fallback xmlns="">
          <p:sp>
            <p:nvSpPr>
              <p:cNvPr id="28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C896B72-1405-A02C-8502-C12C43516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675" y="4117808"/>
                <a:ext cx="1659662" cy="584775"/>
              </a:xfrm>
              <a:prstGeom prst="rect">
                <a:avLst/>
              </a:prstGeom>
              <a:blipFill rotWithShape="1">
                <a:blip r:embed="rId5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are 7"/>
          <p:cNvGrpSpPr/>
          <p:nvPr/>
        </p:nvGrpSpPr>
        <p:grpSpPr>
          <a:xfrm>
            <a:off x="4881915" y="2690046"/>
            <a:ext cx="783310" cy="523220"/>
            <a:chOff x="4881915" y="2690046"/>
            <a:chExt cx="783310" cy="523220"/>
          </a:xfrm>
        </p:grpSpPr>
        <p:sp>
          <p:nvSpPr>
            <p:cNvPr id="4" name="Săgeată la dreapta 3"/>
            <p:cNvSpPr/>
            <p:nvPr/>
          </p:nvSpPr>
          <p:spPr>
            <a:xfrm>
              <a:off x="5344349" y="2805462"/>
              <a:ext cx="320876" cy="2923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Dreptunghi 4"/>
                <p:cNvSpPr/>
                <p:nvPr/>
              </p:nvSpPr>
              <p:spPr>
                <a:xfrm>
                  <a:off x="4881915" y="2690046"/>
                  <a:ext cx="49173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ro-RO" sz="1600" dirty="0"/>
                </a:p>
              </p:txBody>
            </p:sp>
          </mc:Choice>
          <mc:Fallback xmlns="">
            <p:sp>
              <p:nvSpPr>
                <p:cNvPr id="5" name="Dreptunghi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1915" y="2690046"/>
                  <a:ext cx="491737" cy="52322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o-RO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Acoladă dreapta 8"/>
          <p:cNvSpPr/>
          <p:nvPr/>
        </p:nvSpPr>
        <p:spPr>
          <a:xfrm>
            <a:off x="7793320" y="2593637"/>
            <a:ext cx="441566" cy="2170691"/>
          </a:xfrm>
          <a:prstGeom prst="rightBrac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reptunghi 31"/>
              <p:cNvSpPr/>
              <p:nvPr/>
            </p:nvSpPr>
            <p:spPr>
              <a:xfrm>
                <a:off x="8284927" y="3419200"/>
                <a:ext cx="5098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𝑔</m:t>
                      </m:r>
                    </m:oMath>
                  </m:oMathPara>
                </a14:m>
                <a:endParaRPr lang="ro-RO" sz="1600" dirty="0"/>
              </a:p>
            </p:txBody>
          </p:sp>
        </mc:Choice>
        <mc:Fallback xmlns="">
          <p:sp>
            <p:nvSpPr>
              <p:cNvPr id="32" name="Dreptunghi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927" y="3419200"/>
                <a:ext cx="509820" cy="5232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coladă dreapta 34"/>
          <p:cNvSpPr/>
          <p:nvPr/>
        </p:nvSpPr>
        <p:spPr>
          <a:xfrm>
            <a:off x="7793320" y="3301901"/>
            <a:ext cx="441566" cy="1464254"/>
          </a:xfrm>
          <a:prstGeom prst="rightBrac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Dreptunghi 36"/>
              <p:cNvSpPr/>
              <p:nvPr/>
            </p:nvSpPr>
            <p:spPr>
              <a:xfrm>
                <a:off x="8284927" y="3772418"/>
                <a:ext cx="5098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𝑔</m:t>
                      </m:r>
                    </m:oMath>
                  </m:oMathPara>
                </a14:m>
                <a:endParaRPr lang="ro-RO" sz="1600" dirty="0"/>
              </a:p>
            </p:txBody>
          </p:sp>
        </mc:Choice>
        <mc:Fallback xmlns="">
          <p:sp>
            <p:nvSpPr>
              <p:cNvPr id="37" name="Dreptunghi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927" y="3772418"/>
                <a:ext cx="509819" cy="52322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coladă dreapta 37"/>
          <p:cNvSpPr/>
          <p:nvPr/>
        </p:nvSpPr>
        <p:spPr>
          <a:xfrm>
            <a:off x="7793320" y="4075931"/>
            <a:ext cx="441566" cy="690224"/>
          </a:xfrm>
          <a:prstGeom prst="rightBrac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Dreptunghi 38"/>
              <p:cNvSpPr/>
              <p:nvPr/>
            </p:nvSpPr>
            <p:spPr>
              <a:xfrm>
                <a:off x="8284927" y="4159433"/>
                <a:ext cx="5098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𝑔</m:t>
                      </m:r>
                    </m:oMath>
                  </m:oMathPara>
                </a14:m>
                <a:endParaRPr lang="ro-RO" sz="1600" dirty="0"/>
              </a:p>
            </p:txBody>
          </p:sp>
        </mc:Choice>
        <mc:Fallback xmlns="">
          <p:sp>
            <p:nvSpPr>
              <p:cNvPr id="39" name="Dreptunghi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927" y="4159433"/>
                <a:ext cx="509819" cy="52322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42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5679E-6 L -0.01268 0.11728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2" y="58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68 0.11728 L -0.0323 0.27469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0" y="7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/>
      <p:bldP spid="18" grpId="0"/>
      <p:bldP spid="3" grpId="0" animBg="1"/>
      <p:bldP spid="22" grpId="0" animBg="1"/>
      <p:bldP spid="25" grpId="0" animBg="1"/>
      <p:bldP spid="26" grpId="0"/>
      <p:bldP spid="27" grpId="0"/>
      <p:bldP spid="28" grpId="0"/>
      <p:bldP spid="9" grpId="0" animBg="1"/>
      <p:bldP spid="9" grpId="1" animBg="1"/>
      <p:bldP spid="32" grpId="0"/>
      <p:bldP spid="32" grpId="1"/>
      <p:bldP spid="35" grpId="0" animBg="1"/>
      <p:bldP spid="35" grpId="1" animBg="1"/>
      <p:bldP spid="37" grpId="0"/>
      <p:bldP spid="37" grpId="1"/>
      <p:bldP spid="38" grpId="0" animBg="1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“Hardness”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336;p45">
                <a:extLst>
                  <a:ext uri="{FF2B5EF4-FFF2-40B4-BE49-F238E27FC236}">
                    <a16:creationId xmlns="" xmlns:a16="http://schemas.microsoft.com/office/drawing/2014/main" id="{2BCA54C5-4FEF-60AF-8848-861C0FFF3E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9311" y="1177539"/>
                <a:ext cx="7045377" cy="108996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000" b="0" i="1" dirty="0" smtClean="0"/>
              </a:p>
              <a:p>
                <a:pPr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i="1" dirty="0"/>
                  <a:t>i</a:t>
                </a:r>
                <a:r>
                  <a:rPr lang="en-US" sz="2000" b="0" i="1" dirty="0" smtClean="0"/>
                  <a:t>s either “easier” or “as hard as”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21" name="Google Shape;2336;p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BCA54C5-4FEF-60AF-8848-861C0FFF3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311" y="1177539"/>
                <a:ext cx="7045377" cy="1089962"/>
              </a:xfrm>
              <a:prstGeom prst="rect">
                <a:avLst/>
              </a:prstGeom>
              <a:blipFill rotWithShape="1">
                <a:blip r:embed="rId3"/>
                <a:stretch>
                  <a:fillRect b="-1173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rapez 2"/>
          <p:cNvSpPr/>
          <p:nvPr/>
        </p:nvSpPr>
        <p:spPr>
          <a:xfrm>
            <a:off x="5848017" y="2593637"/>
            <a:ext cx="1485240" cy="708264"/>
          </a:xfrm>
          <a:prstGeom prst="trapezoid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Trapez 21"/>
          <p:cNvSpPr/>
          <p:nvPr/>
        </p:nvSpPr>
        <p:spPr>
          <a:xfrm>
            <a:off x="5665225" y="3324631"/>
            <a:ext cx="1850824" cy="708264"/>
          </a:xfrm>
          <a:prstGeom prst="trapezoid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5" name="Trapez 24"/>
          <p:cNvSpPr/>
          <p:nvPr/>
        </p:nvSpPr>
        <p:spPr>
          <a:xfrm>
            <a:off x="5486617" y="4056064"/>
            <a:ext cx="2208039" cy="708264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xmlns="" id="{0C896B72-1405-A02C-8502-C12C4351689C}"/>
              </a:ext>
            </a:extLst>
          </p:cNvPr>
          <p:cNvSpPr txBox="1"/>
          <p:nvPr/>
        </p:nvSpPr>
        <p:spPr>
          <a:xfrm>
            <a:off x="6033719" y="2636153"/>
            <a:ext cx="1113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R</a:t>
            </a:r>
            <a:endParaRPr lang="en-US" sz="4000" dirty="0"/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xmlns="" id="{0C896B72-1405-A02C-8502-C12C4351689C}"/>
              </a:ext>
            </a:extLst>
          </p:cNvPr>
          <p:cNvSpPr txBox="1"/>
          <p:nvPr/>
        </p:nvSpPr>
        <p:spPr>
          <a:xfrm>
            <a:off x="5760805" y="3388423"/>
            <a:ext cx="1659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RE \ R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8">
                <a:extLst>
                  <a:ext uri="{FF2B5EF4-FFF2-40B4-BE49-F238E27FC236}">
                    <a16:creationId xmlns:a16="http://schemas.microsoft.com/office/drawing/2014/main" xmlns="" id="{0C896B72-1405-A02C-8502-C12C4351689C}"/>
                  </a:ext>
                </a:extLst>
              </p:cNvPr>
              <p:cNvSpPr txBox="1"/>
              <p:nvPr/>
            </p:nvSpPr>
            <p:spPr>
              <a:xfrm>
                <a:off x="5787675" y="4117808"/>
                <a:ext cx="165966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</a:rPr>
                      <m:t>𝔻</m:t>
                    </m:r>
                    <m:r>
                      <a:rPr lang="en-US" sz="3200" b="0" i="1" smtClean="0">
                        <a:latin typeface="Cambria Math"/>
                      </a:rPr>
                      <m:t>∖</m:t>
                    </m:r>
                  </m:oMath>
                </a14:m>
                <a:r>
                  <a:rPr lang="en-US" sz="3200" dirty="0" smtClean="0"/>
                  <a:t> RE</a:t>
                </a:r>
                <a:endParaRPr lang="en-US" sz="3200" dirty="0"/>
              </a:p>
            </p:txBody>
          </p:sp>
        </mc:Choice>
        <mc:Fallback xmlns="">
          <p:sp>
            <p:nvSpPr>
              <p:cNvPr id="28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C896B72-1405-A02C-8502-C12C43516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675" y="4117808"/>
                <a:ext cx="1659662" cy="584775"/>
              </a:xfrm>
              <a:prstGeom prst="rect">
                <a:avLst/>
              </a:prstGeom>
              <a:blipFill rotWithShape="1">
                <a:blip r:embed="rId4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are 7"/>
          <p:cNvGrpSpPr/>
          <p:nvPr/>
        </p:nvGrpSpPr>
        <p:grpSpPr>
          <a:xfrm flipH="1">
            <a:off x="7447337" y="2666930"/>
            <a:ext cx="783310" cy="523220"/>
            <a:chOff x="4881915" y="2690046"/>
            <a:chExt cx="783310" cy="523220"/>
          </a:xfrm>
        </p:grpSpPr>
        <p:sp>
          <p:nvSpPr>
            <p:cNvPr id="4" name="Săgeată la dreapta 3"/>
            <p:cNvSpPr/>
            <p:nvPr/>
          </p:nvSpPr>
          <p:spPr>
            <a:xfrm>
              <a:off x="5344349" y="2805462"/>
              <a:ext cx="320876" cy="2923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Dreptunghi 4"/>
                <p:cNvSpPr/>
                <p:nvPr/>
              </p:nvSpPr>
              <p:spPr>
                <a:xfrm>
                  <a:off x="4881915" y="2690046"/>
                  <a:ext cx="50981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/>
                          </a:rPr>
                          <m:t>𝑔</m:t>
                        </m:r>
                      </m:oMath>
                    </m:oMathPara>
                  </a14:m>
                  <a:endParaRPr lang="ro-RO" sz="1600" dirty="0"/>
                </a:p>
              </p:txBody>
            </p:sp>
          </mc:Choice>
          <mc:Fallback xmlns="">
            <p:sp>
              <p:nvSpPr>
                <p:cNvPr id="5" name="Dreptunghi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1915" y="2690046"/>
                  <a:ext cx="509819" cy="52322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o-RO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Acoladă dreapta 8"/>
          <p:cNvSpPr/>
          <p:nvPr/>
        </p:nvSpPr>
        <p:spPr>
          <a:xfrm flipH="1">
            <a:off x="4969843" y="2593416"/>
            <a:ext cx="441566" cy="2170691"/>
          </a:xfrm>
          <a:prstGeom prst="rightBrac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Dreptunghi 31"/>
              <p:cNvSpPr/>
              <p:nvPr/>
            </p:nvSpPr>
            <p:spPr>
              <a:xfrm>
                <a:off x="4517540" y="3419200"/>
                <a:ext cx="491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ro-RO" sz="1600" dirty="0"/>
              </a:p>
            </p:txBody>
          </p:sp>
        </mc:Choice>
        <mc:Fallback xmlns="">
          <p:sp>
            <p:nvSpPr>
              <p:cNvPr id="32" name="Dreptunghi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540" y="3419200"/>
                <a:ext cx="491737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coladă dreapta 34"/>
          <p:cNvSpPr/>
          <p:nvPr/>
        </p:nvSpPr>
        <p:spPr>
          <a:xfrm flipH="1">
            <a:off x="4969843" y="2591810"/>
            <a:ext cx="441566" cy="1441085"/>
          </a:xfrm>
          <a:prstGeom prst="rightBrac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Dreptunghi 36"/>
              <p:cNvSpPr/>
              <p:nvPr/>
            </p:nvSpPr>
            <p:spPr>
              <a:xfrm>
                <a:off x="4571999" y="3050742"/>
                <a:ext cx="491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ro-RO" sz="1600" dirty="0"/>
              </a:p>
            </p:txBody>
          </p:sp>
        </mc:Choice>
        <mc:Fallback xmlns="">
          <p:sp>
            <p:nvSpPr>
              <p:cNvPr id="37" name="Dreptunghi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3050742"/>
                <a:ext cx="491737" cy="52322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coladă dreapta 37"/>
          <p:cNvSpPr/>
          <p:nvPr/>
        </p:nvSpPr>
        <p:spPr>
          <a:xfrm flipH="1">
            <a:off x="4969843" y="2583428"/>
            <a:ext cx="441566" cy="690224"/>
          </a:xfrm>
          <a:prstGeom prst="rightBrac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Dreptunghi 38"/>
              <p:cNvSpPr/>
              <p:nvPr/>
            </p:nvSpPr>
            <p:spPr>
              <a:xfrm>
                <a:off x="4571999" y="2666930"/>
                <a:ext cx="491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ro-RO" sz="1600" dirty="0"/>
              </a:p>
            </p:txBody>
          </p:sp>
        </mc:Choice>
        <mc:Fallback xmlns="">
          <p:sp>
            <p:nvSpPr>
              <p:cNvPr id="39" name="Dreptunghi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9" y="2666930"/>
                <a:ext cx="491737" cy="52322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upare 32"/>
          <p:cNvGrpSpPr>
            <a:grpSpLocks noChangeAspect="1"/>
          </p:cNvGrpSpPr>
          <p:nvPr/>
        </p:nvGrpSpPr>
        <p:grpSpPr>
          <a:xfrm>
            <a:off x="1434644" y="2538082"/>
            <a:ext cx="2779873" cy="2432388"/>
            <a:chOff x="2759382" y="1594132"/>
            <a:chExt cx="3754705" cy="3285366"/>
          </a:xfrm>
        </p:grpSpPr>
        <p:sp>
          <p:nvSpPr>
            <p:cNvPr id="34" name="Rectangle 16">
              <a:extLst>
                <a:ext uri="{FF2B5EF4-FFF2-40B4-BE49-F238E27FC236}">
                  <a16:creationId xmlns:a16="http://schemas.microsoft.com/office/drawing/2014/main" xmlns="" id="{BF97ACFE-115A-83DF-03D8-7ABCF2880C3C}"/>
                </a:ext>
              </a:extLst>
            </p:cNvPr>
            <p:cNvSpPr/>
            <p:nvPr/>
          </p:nvSpPr>
          <p:spPr>
            <a:xfrm>
              <a:off x="2759382" y="1594132"/>
              <a:ext cx="3754705" cy="32853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D765B367-F71F-E264-7AD9-A7E94B27188D}"/>
                </a:ext>
              </a:extLst>
            </p:cNvPr>
            <p:cNvSpPr>
              <a:spLocks/>
            </p:cNvSpPr>
            <p:nvPr/>
          </p:nvSpPr>
          <p:spPr>
            <a:xfrm>
              <a:off x="3337965" y="1955275"/>
              <a:ext cx="2743200" cy="2743200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xmlns="" id="{5D82B93D-C6F9-5781-A437-8376E3D26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05266" y="2959338"/>
              <a:ext cx="1423859" cy="142385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bg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R</a:t>
              </a:r>
              <a:endParaRPr lang="en-US" sz="4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8">
                <a:extLst>
                  <a:ext uri="{FF2B5EF4-FFF2-40B4-BE49-F238E27FC236}">
                    <a16:creationId xmlns:a16="http://schemas.microsoft.com/office/drawing/2014/main" xmlns="" id="{0C896B72-1405-A02C-8502-C12C4351689C}"/>
                  </a:ext>
                </a:extLst>
              </p:cNvPr>
              <p:cNvSpPr txBox="1"/>
              <p:nvPr/>
            </p:nvSpPr>
            <p:spPr>
              <a:xfrm>
                <a:off x="1434644" y="2538082"/>
                <a:ext cx="83814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𝔻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1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C896B72-1405-A02C-8502-C12C43516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644" y="2538082"/>
                <a:ext cx="838143" cy="5847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8">
            <a:extLst>
              <a:ext uri="{FF2B5EF4-FFF2-40B4-BE49-F238E27FC236}">
                <a16:creationId xmlns:a16="http://schemas.microsoft.com/office/drawing/2014/main" xmlns="" id="{0C896B72-1405-A02C-8502-C12C4351689C}"/>
              </a:ext>
            </a:extLst>
          </p:cNvPr>
          <p:cNvSpPr txBox="1"/>
          <p:nvPr/>
        </p:nvSpPr>
        <p:spPr>
          <a:xfrm>
            <a:off x="2161952" y="2945910"/>
            <a:ext cx="11138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RE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7685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44444E-6 L 0.01858 0.13056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0" y="65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58 0.13056 L 0.03646 0.27593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5" y="72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2" grpId="0"/>
      <p:bldP spid="35" grpId="0" animBg="1"/>
      <p:bldP spid="35" grpId="1" animBg="1"/>
      <p:bldP spid="37" grpId="0"/>
      <p:bldP spid="37" grpId="1"/>
      <p:bldP spid="38" grpId="0" animBg="1"/>
      <p:bldP spid="38" grpId="1" animBg="1"/>
      <p:bldP spid="39" grpId="0"/>
      <p:bldP spid="3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97;p49">
                <a:extLst>
                  <a:ext uri="{FF2B5EF4-FFF2-40B4-BE49-F238E27FC236}">
                    <a16:creationId xmlns="" xmlns:a16="http://schemas.microsoft.com/office/drawing/2014/main" id="{EAADE4B6-CB7F-E974-35A7-50161688EF5B}"/>
                  </a:ext>
                </a:extLst>
              </p:cNvPr>
              <p:cNvSpPr txBox="1"/>
              <p:nvPr/>
            </p:nvSpPr>
            <p:spPr>
              <a:xfrm>
                <a:off x="720000" y="1850760"/>
                <a:ext cx="3225688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:r>
                  <a:rPr lang="en-US" sz="2800" b="0" dirty="0">
                    <a:solidFill>
                      <a:srgbClr val="191919"/>
                    </a:solidFill>
                    <a:ea typeface="Karla Regular"/>
                    <a:cs typeface="Karla Regular"/>
                    <a:sym typeface="Karla Regular"/>
                  </a:rPr>
                  <a:t>ALL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𝑒𝑛𝑐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191919"/>
                                </a:solidFill>
                                <a:latin typeface="Cambria Math"/>
                                <a:ea typeface="Karla Regular"/>
                                <a:cs typeface="Karla Regular"/>
                                <a:sym typeface="Karla Regular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𝑀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=</m:t>
                    </m:r>
                  </m:oMath>
                </a14:m>
                <a:endParaRPr sz="36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id="{EAADE4B6-CB7F-E974-35A7-50161688E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850760"/>
                <a:ext cx="3225688" cy="828941"/>
              </a:xfrm>
              <a:prstGeom prst="rect">
                <a:avLst/>
              </a:prstGeom>
              <a:blipFill>
                <a:blip r:embed="rId3"/>
                <a:stretch>
                  <a:fillRect l="-37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Left Brace 2">
            <a:extLst>
              <a:ext uri="{FF2B5EF4-FFF2-40B4-BE49-F238E27FC236}">
                <a16:creationId xmlns="" xmlns:a16="http://schemas.microsoft.com/office/drawing/2014/main" id="{BC0834FF-4A40-5433-DF6C-F21B0F821F6A}"/>
              </a:ext>
            </a:extLst>
          </p:cNvPr>
          <p:cNvSpPr/>
          <p:nvPr/>
        </p:nvSpPr>
        <p:spPr>
          <a:xfrm>
            <a:off x="3496579" y="1709948"/>
            <a:ext cx="449109" cy="111056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97;p49">
                <a:extLst>
                  <a:ext uri="{FF2B5EF4-FFF2-40B4-BE49-F238E27FC236}">
                    <a16:creationId xmlns="" xmlns:a16="http://schemas.microsoft.com/office/drawing/2014/main" id="{DB2E5D70-2D02-64D4-F04D-BFF194E5F144}"/>
                  </a:ext>
                </a:extLst>
              </p:cNvPr>
              <p:cNvSpPr txBox="1"/>
              <p:nvPr/>
            </p:nvSpPr>
            <p:spPr>
              <a:xfrm>
                <a:off x="3945687" y="1539791"/>
                <a:ext cx="4553736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 ∀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𝑤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h𝑎𝑙𝑡𝑠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id="{DB2E5D70-2D02-64D4-F04D-BFF194E5F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687" y="1539791"/>
                <a:ext cx="4553736" cy="828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D15F37B6-B791-56AA-7CA7-623DE4849F04}"/>
                  </a:ext>
                </a:extLst>
              </p:cNvPr>
              <p:cNvSpPr txBox="1"/>
              <p:nvPr/>
            </p:nvSpPr>
            <p:spPr>
              <a:xfrm>
                <a:off x="3945688" y="2265230"/>
                <a:ext cx="390363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 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𝑜𝑡h𝑒𝑟𝑤𝑖𝑠𝑒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D15F37B6-B791-56AA-7CA7-623DE4849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688" y="2265230"/>
                <a:ext cx="3903632" cy="8289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9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86;p49">
                <a:extLst>
                  <a:ext uri="{FF2B5EF4-FFF2-40B4-BE49-F238E27FC236}">
                    <a16:creationId xmlns="" xmlns:a16="http://schemas.microsoft.com/office/drawing/2014/main" id="{ABF2A2FC-40EC-B6F6-500C-D79497FF0BC9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HALT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ALL</a:t>
                </a:r>
              </a:p>
            </p:txBody>
          </p:sp>
        </mc:Choice>
        <mc:Fallback xmlns="">
          <p:sp>
            <p:nvSpPr>
              <p:cNvPr id="4" name="Google Shape;2386;p49">
                <a:extLst>
                  <a:ext uri="{FF2B5EF4-FFF2-40B4-BE49-F238E27FC236}">
                    <a16:creationId xmlns:a16="http://schemas.microsoft.com/office/drawing/2014/main" id="{ABF2A2FC-40EC-B6F6-500C-D79497FF0BC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t="-3191" b="-27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id="{B1F30093-BF64-99B6-DD3D-230C6443CB57}"/>
                  </a:ext>
                </a:extLst>
              </p:cNvPr>
              <p:cNvSpPr/>
              <p:nvPr/>
            </p:nvSpPr>
            <p:spPr>
              <a:xfrm>
                <a:off x="3975212" y="1404969"/>
                <a:ext cx="1371600" cy="13716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1F30093-BF64-99B6-DD3D-230C6443C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212" y="1404969"/>
                <a:ext cx="1371600" cy="1371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66E2C75B-7A13-F73F-BF7A-87E09086C458}"/>
                  </a:ext>
                </a:extLst>
              </p:cNvPr>
              <p:cNvSpPr txBox="1"/>
              <p:nvPr/>
            </p:nvSpPr>
            <p:spPr>
              <a:xfrm>
                <a:off x="5790962" y="1584378"/>
                <a:ext cx="764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2C75B-7A13-F73F-BF7A-87E09086C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962" y="1584378"/>
                <a:ext cx="764498" cy="461665"/>
              </a:xfrm>
              <a:prstGeom prst="rect">
                <a:avLst/>
              </a:prstGeom>
              <a:blipFill>
                <a:blip r:embed="rId5"/>
                <a:stretch>
                  <a:fillRect r="-7120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A80696C8-EE0E-B82B-0987-B19969DA2FAA}"/>
              </a:ext>
            </a:extLst>
          </p:cNvPr>
          <p:cNvCxnSpPr>
            <a:cxnSpLocks/>
          </p:cNvCxnSpPr>
          <p:nvPr/>
        </p:nvCxnSpPr>
        <p:spPr>
          <a:xfrm>
            <a:off x="1715511" y="2090769"/>
            <a:ext cx="225970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2ED97B7B-F311-776C-FB14-F15F3142C273}"/>
              </a:ext>
            </a:extLst>
          </p:cNvPr>
          <p:cNvCxnSpPr>
            <a:cxnSpLocks/>
          </p:cNvCxnSpPr>
          <p:nvPr/>
        </p:nvCxnSpPr>
        <p:spPr>
          <a:xfrm>
            <a:off x="5346812" y="2090769"/>
            <a:ext cx="20493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54E77FB8-611B-EB55-246E-8390F02A40A7}"/>
                  </a:ext>
                </a:extLst>
              </p:cNvPr>
              <p:cNvSpPr txBox="1"/>
              <p:nvPr/>
            </p:nvSpPr>
            <p:spPr>
              <a:xfrm>
                <a:off x="1878232" y="1584377"/>
                <a:ext cx="9671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E77FB8-611B-EB55-246E-8390F02A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232" y="1584377"/>
                <a:ext cx="967130" cy="461665"/>
              </a:xfrm>
              <a:prstGeom prst="rect">
                <a:avLst/>
              </a:prstGeom>
              <a:blipFill>
                <a:blip r:embed="rId6"/>
                <a:stretch>
                  <a:fillRect r="-8930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2397;p49">
                <a:extLst>
                  <a:ext uri="{FF2B5EF4-FFF2-40B4-BE49-F238E27FC236}">
                    <a16:creationId xmlns="" xmlns:a16="http://schemas.microsoft.com/office/drawing/2014/main" id="{C1E2089B-3C75-3956-8176-9161D7A860FD}"/>
                  </a:ext>
                </a:extLst>
              </p:cNvPr>
              <p:cNvSpPr txBox="1"/>
              <p:nvPr/>
            </p:nvSpPr>
            <p:spPr>
              <a:xfrm>
                <a:off x="5453936" y="2435431"/>
                <a:ext cx="4305154" cy="22726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[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𝑣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]:</m:t>
                      </m:r>
                    </m:oMath>
                  </m:oMathPara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erase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𝑣</m:t>
                    </m:r>
                    <m:r>
                      <a:rPr lang="en-US" sz="24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write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𝑤</m:t>
                    </m:r>
                    <m:r>
                      <a:rPr lang="en-US" sz="24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simulate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M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𝑤</m:t>
                        </m:r>
                      </m:e>
                    </m:d>
                  </m:oMath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0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1E2089B-3C75-3956-8176-9161D7A86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936" y="2435431"/>
                <a:ext cx="4305154" cy="2272652"/>
              </a:xfrm>
              <a:prstGeom prst="rect">
                <a:avLst/>
              </a:prstGeom>
              <a:blipFill rotWithShape="1">
                <a:blip r:embed="rId7"/>
                <a:stretch>
                  <a:fillRect l="-1983" b="-34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02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2397;p49">
                <a:extLst>
                  <a:ext uri="{FF2B5EF4-FFF2-40B4-BE49-F238E27FC236}">
                    <a16:creationId xmlns="" xmlns:a16="http://schemas.microsoft.com/office/drawing/2014/main" id="{3DBC51AD-FB7F-3B43-3E90-6E82DC388C37}"/>
                  </a:ext>
                </a:extLst>
              </p:cNvPr>
              <p:cNvSpPr txBox="1"/>
              <p:nvPr/>
            </p:nvSpPr>
            <p:spPr>
              <a:xfrm>
                <a:off x="720000" y="1850760"/>
                <a:ext cx="3225688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:r>
                  <a:rPr lang="en-US" sz="2800" dirty="0">
                    <a:solidFill>
                      <a:srgbClr val="191919"/>
                    </a:solidFill>
                    <a:latin typeface="Karla Regular"/>
                    <a:ea typeface="Karla Regular"/>
                    <a:cs typeface="Karla Regular"/>
                    <a:sym typeface="Karla Regular"/>
                  </a:rPr>
                  <a:t>ANY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𝑒𝑛𝑐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191919"/>
                                </a:solidFill>
                                <a:latin typeface="Cambria Math"/>
                                <a:ea typeface="Karla Regular"/>
                                <a:cs typeface="Karla Regular"/>
                                <a:sym typeface="Karla Regular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Karla Regular"/>
                                <a:cs typeface="Karla Regular"/>
                                <a:sym typeface="Karla Regular"/>
                              </a:rPr>
                              <m:t>𝑀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=</m:t>
                    </m:r>
                  </m:oMath>
                </a14:m>
                <a:endParaRPr sz="36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3" name="Google Shape;2397;p49">
                <a:extLst>
                  <a:ext uri="{FF2B5EF4-FFF2-40B4-BE49-F238E27FC236}">
                    <a16:creationId xmlns:a16="http://schemas.microsoft.com/office/drawing/2014/main" id="{3DBC51AD-FB7F-3B43-3E90-6E82DC388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850760"/>
                <a:ext cx="3225688" cy="828941"/>
              </a:xfrm>
              <a:prstGeom prst="rect">
                <a:avLst/>
              </a:prstGeom>
              <a:blipFill>
                <a:blip r:embed="rId3"/>
                <a:stretch>
                  <a:fillRect l="-37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="" xmlns:a16="http://schemas.microsoft.com/office/drawing/2014/main" id="{C5A3516D-243C-DC12-1E63-EA83A49069F5}"/>
              </a:ext>
            </a:extLst>
          </p:cNvPr>
          <p:cNvSpPr/>
          <p:nvPr/>
        </p:nvSpPr>
        <p:spPr>
          <a:xfrm>
            <a:off x="3496579" y="1709948"/>
            <a:ext cx="449109" cy="111056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E7C712F1-5944-EC71-CDF8-91EDBECB32E6}"/>
                  </a:ext>
                </a:extLst>
              </p:cNvPr>
              <p:cNvSpPr txBox="1"/>
              <p:nvPr/>
            </p:nvSpPr>
            <p:spPr>
              <a:xfrm>
                <a:off x="3945687" y="1539791"/>
                <a:ext cx="4553736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 ∃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𝑤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h𝑎𝑙𝑡𝑠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E7C712F1-5944-EC71-CDF8-91EDBECB3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687" y="1539791"/>
                <a:ext cx="4553736" cy="828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97;p49">
                <a:extLst>
                  <a:ext uri="{FF2B5EF4-FFF2-40B4-BE49-F238E27FC236}">
                    <a16:creationId xmlns="" xmlns:a16="http://schemas.microsoft.com/office/drawing/2014/main" id="{869E1C33-304B-9E3A-2460-C5E06EFBC4E3}"/>
                  </a:ext>
                </a:extLst>
              </p:cNvPr>
              <p:cNvSpPr txBox="1"/>
              <p:nvPr/>
            </p:nvSpPr>
            <p:spPr>
              <a:xfrm>
                <a:off x="3945688" y="2265230"/>
                <a:ext cx="390363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 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𝑜𝑡h𝑒𝑟𝑤𝑖𝑠𝑒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6" name="Google Shape;2397;p49">
                <a:extLst>
                  <a:ext uri="{FF2B5EF4-FFF2-40B4-BE49-F238E27FC236}">
                    <a16:creationId xmlns:a16="http://schemas.microsoft.com/office/drawing/2014/main" id="{869E1C33-304B-9E3A-2460-C5E06EFBC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688" y="2265230"/>
                <a:ext cx="3903632" cy="8289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960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86;p49">
                <a:extLst>
                  <a:ext uri="{FF2B5EF4-FFF2-40B4-BE49-F238E27FC236}">
                    <a16:creationId xmlns="" xmlns:a16="http://schemas.microsoft.com/office/drawing/2014/main" id="{ABF2A2FC-40EC-B6F6-500C-D79497FF0BC9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HALT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≤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ANY</a:t>
                </a:r>
              </a:p>
            </p:txBody>
          </p:sp>
        </mc:Choice>
        <mc:Fallback xmlns="">
          <p:sp>
            <p:nvSpPr>
              <p:cNvPr id="4" name="Google Shape;2386;p49">
                <a:extLst>
                  <a:ext uri="{FF2B5EF4-FFF2-40B4-BE49-F238E27FC236}">
                    <a16:creationId xmlns:a16="http://schemas.microsoft.com/office/drawing/2014/main" id="{ABF2A2FC-40EC-B6F6-500C-D79497FF0BC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t="-3191" b="-27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id="{B1F30093-BF64-99B6-DD3D-230C6443CB57}"/>
                  </a:ext>
                </a:extLst>
              </p:cNvPr>
              <p:cNvSpPr/>
              <p:nvPr/>
            </p:nvSpPr>
            <p:spPr>
              <a:xfrm>
                <a:off x="3975212" y="1404969"/>
                <a:ext cx="1371600" cy="13716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1F30093-BF64-99B6-DD3D-230C6443C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212" y="1404969"/>
                <a:ext cx="1371600" cy="1371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66E2C75B-7A13-F73F-BF7A-87E09086C458}"/>
                  </a:ext>
                </a:extLst>
              </p:cNvPr>
              <p:cNvSpPr txBox="1"/>
              <p:nvPr/>
            </p:nvSpPr>
            <p:spPr>
              <a:xfrm>
                <a:off x="5790962" y="1584378"/>
                <a:ext cx="764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E2C75B-7A13-F73F-BF7A-87E09086C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962" y="1584378"/>
                <a:ext cx="764498" cy="461665"/>
              </a:xfrm>
              <a:prstGeom prst="rect">
                <a:avLst/>
              </a:prstGeom>
              <a:blipFill>
                <a:blip r:embed="rId5"/>
                <a:stretch>
                  <a:fillRect r="-7120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A80696C8-EE0E-B82B-0987-B19969DA2FAA}"/>
              </a:ext>
            </a:extLst>
          </p:cNvPr>
          <p:cNvCxnSpPr>
            <a:cxnSpLocks/>
          </p:cNvCxnSpPr>
          <p:nvPr/>
        </p:nvCxnSpPr>
        <p:spPr>
          <a:xfrm>
            <a:off x="1715511" y="2090769"/>
            <a:ext cx="225970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2ED97B7B-F311-776C-FB14-F15F3142C273}"/>
              </a:ext>
            </a:extLst>
          </p:cNvPr>
          <p:cNvCxnSpPr>
            <a:cxnSpLocks/>
          </p:cNvCxnSpPr>
          <p:nvPr/>
        </p:nvCxnSpPr>
        <p:spPr>
          <a:xfrm>
            <a:off x="5346812" y="2090769"/>
            <a:ext cx="20493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54E77FB8-611B-EB55-246E-8390F02A40A7}"/>
                  </a:ext>
                </a:extLst>
              </p:cNvPr>
              <p:cNvSpPr txBox="1"/>
              <p:nvPr/>
            </p:nvSpPr>
            <p:spPr>
              <a:xfrm>
                <a:off x="1878232" y="1584377"/>
                <a:ext cx="9671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E77FB8-611B-EB55-246E-8390F02A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232" y="1584377"/>
                <a:ext cx="967130" cy="461665"/>
              </a:xfrm>
              <a:prstGeom prst="rect">
                <a:avLst/>
              </a:prstGeom>
              <a:blipFill>
                <a:blip r:embed="rId6"/>
                <a:stretch>
                  <a:fillRect r="-8930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2397;p49">
                <a:extLst>
                  <a:ext uri="{FF2B5EF4-FFF2-40B4-BE49-F238E27FC236}">
                    <a16:creationId xmlns="" xmlns:a16="http://schemas.microsoft.com/office/drawing/2014/main" id="{C1E2089B-3C75-3956-8176-9161D7A860FD}"/>
                  </a:ext>
                </a:extLst>
              </p:cNvPr>
              <p:cNvSpPr txBox="1"/>
              <p:nvPr/>
            </p:nvSpPr>
            <p:spPr>
              <a:xfrm>
                <a:off x="5453936" y="2435431"/>
                <a:ext cx="4305154" cy="22726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[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𝑣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]:</m:t>
                      </m:r>
                    </m:oMath>
                  </m:oMathPara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=1001</m:t>
                    </m:r>
                    <m:r>
                      <a:rPr lang="en-US" sz="24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:</m:t>
                    </m:r>
                  </m:oMath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   simulate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M</m:t>
                    </m:r>
                    <m:r>
                      <a:rPr lang="en-US" sz="24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[</m:t>
                    </m:r>
                    <m:r>
                      <a:rPr lang="en-US" sz="24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𝑤</m:t>
                    </m:r>
                    <m:r>
                      <a:rPr lang="en-US" sz="24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]</m:t>
                    </m:r>
                  </m:oMath>
                </a14:m>
                <a:endParaRPr lang="en-US" sz="24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else:</a:t>
                </a: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   loop</a:t>
                </a:r>
                <a:endParaRPr sz="24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0" name="Google Shape;2397;p49">
                <a:extLst>
                  <a:ext uri="{FF2B5EF4-FFF2-40B4-BE49-F238E27FC236}">
                    <a16:creationId xmlns:a16="http://schemas.microsoft.com/office/drawing/2014/main" id="{C1E2089B-3C75-3956-8176-9161D7A86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936" y="2435431"/>
                <a:ext cx="4305154" cy="2272652"/>
              </a:xfrm>
              <a:prstGeom prst="rect">
                <a:avLst/>
              </a:prstGeom>
              <a:blipFill>
                <a:blip r:embed="rId7"/>
                <a:stretch>
                  <a:fillRect l="-1983" t="-2419" b="-155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Complement of a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97;p49">
                <a:extLst>
                  <a:ext uri="{FF2B5EF4-FFF2-40B4-BE49-F238E27FC236}">
                    <a16:creationId xmlns="" xmlns:a16="http://schemas.microsoft.com/office/drawing/2014/main" id="{17E28D2F-F9CC-84F0-38D4-2AABB9D5C82B}"/>
                  </a:ext>
                </a:extLst>
              </p:cNvPr>
              <p:cNvSpPr txBox="1"/>
              <p:nvPr/>
            </p:nvSpPr>
            <p:spPr>
              <a:xfrm>
                <a:off x="1226224" y="1296507"/>
                <a:ext cx="2302018" cy="3462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𝜖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1800" dirty="0">
                  <a:solidFill>
                    <a:schemeClr val="tx2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ar-AE" sz="1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ar-AE" sz="1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ar-AE" sz="18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1800" b="0" i="1" dirty="0">
                  <a:solidFill>
                    <a:srgbClr val="191919"/>
                  </a:solidFill>
                  <a:latin typeface="Cambria Math" panose="02040503050406030204" pitchFamily="18" charset="0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000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00</m:t>
                          </m:r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1800" i="1" dirty="0">
                  <a:solidFill>
                    <a:srgbClr val="191919"/>
                  </a:solidFill>
                  <a:latin typeface="Cambria Math" panose="02040503050406030204" pitchFamily="18" charset="0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</m:t>
                          </m:r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𝑓</m:t>
                      </m:r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01</m:t>
                          </m:r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r>
                  <a:rPr lang="en-US" sz="1800" dirty="0">
                    <a:solidFill>
                      <a:srgbClr val="191919"/>
                    </a:solidFill>
                    <a:latin typeface="Karla Regular"/>
                    <a:ea typeface="Karla Regular"/>
                    <a:cs typeface="Karla Regular"/>
                    <a:sym typeface="Karla Regular"/>
                  </a:rPr>
                  <a:t>…</a:t>
                </a:r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id="{17E28D2F-F9CC-84F0-38D4-2AABB9D5C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224" y="1296507"/>
                <a:ext cx="2302018" cy="3462870"/>
              </a:xfrm>
              <a:prstGeom prst="rect">
                <a:avLst/>
              </a:prstGeom>
              <a:blipFill>
                <a:blip r:embed="rId3"/>
                <a:stretch>
                  <a:fillRect l="-2116" b="-17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2397;p49">
                <a:extLst>
                  <a:ext uri="{FF2B5EF4-FFF2-40B4-BE49-F238E27FC236}">
                    <a16:creationId xmlns="" xmlns:a16="http://schemas.microsoft.com/office/drawing/2014/main" id="{173CA054-8C4D-4FE9-C649-428ADA931552}"/>
                  </a:ext>
                </a:extLst>
              </p:cNvPr>
              <p:cNvSpPr txBox="1"/>
              <p:nvPr/>
            </p:nvSpPr>
            <p:spPr>
              <a:xfrm>
                <a:off x="5298552" y="1296507"/>
                <a:ext cx="2302018" cy="34628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𝜖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1800" b="0" i="1" dirty="0">
                  <a:solidFill>
                    <a:srgbClr val="191919"/>
                  </a:solidFill>
                  <a:latin typeface="Cambria Math" panose="02040503050406030204" pitchFamily="18" charset="0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000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00</m:t>
                          </m:r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1800" i="1" dirty="0">
                  <a:solidFill>
                    <a:srgbClr val="191919"/>
                  </a:solidFill>
                  <a:latin typeface="Cambria Math" panose="02040503050406030204" pitchFamily="18" charset="0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</m:t>
                          </m:r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10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acc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ar-AE" sz="1800" i="1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01</m:t>
                          </m:r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ar-AE" sz="18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r>
                  <a:rPr lang="en-US" sz="1800" dirty="0">
                    <a:solidFill>
                      <a:srgbClr val="191919"/>
                    </a:solidFill>
                    <a:latin typeface="Karla Regular"/>
                    <a:ea typeface="Karla Regular"/>
                    <a:cs typeface="Karla Regular"/>
                    <a:sym typeface="Karla Regular"/>
                  </a:rPr>
                  <a:t>…</a:t>
                </a:r>
                <a:endParaRPr lang="ar-AE" sz="1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3" name="Google Shape;2397;p49">
                <a:extLst>
                  <a:ext uri="{FF2B5EF4-FFF2-40B4-BE49-F238E27FC236}">
                    <a16:creationId xmlns:a16="http://schemas.microsoft.com/office/drawing/2014/main" id="{173CA054-8C4D-4FE9-C649-428ADA931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552" y="1296507"/>
                <a:ext cx="2302018" cy="3462870"/>
              </a:xfrm>
              <a:prstGeom prst="rect">
                <a:avLst/>
              </a:prstGeom>
              <a:blipFill>
                <a:blip r:embed="rId4"/>
                <a:stretch>
                  <a:fillRect l="-2116" b="-38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031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97;p49">
                <a:extLst>
                  <a:ext uri="{FF2B5EF4-FFF2-40B4-BE49-F238E27FC236}">
                    <a16:creationId xmlns="" xmlns:a16="http://schemas.microsoft.com/office/drawing/2014/main" id="{6EF79995-2C28-6A14-FE38-B34683B68EF9}"/>
                  </a:ext>
                </a:extLst>
              </p:cNvPr>
              <p:cNvSpPr txBox="1"/>
              <p:nvPr/>
            </p:nvSpPr>
            <p:spPr>
              <a:xfrm>
                <a:off x="81777" y="1255392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𝛴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𝐵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id="{6EF79995-2C28-6A14-FE38-B34683B68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7" y="1255392"/>
                <a:ext cx="5293112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2397;p49">
                <a:extLst>
                  <a:ext uri="{FF2B5EF4-FFF2-40B4-BE49-F238E27FC236}">
                    <a16:creationId xmlns="" xmlns:a16="http://schemas.microsoft.com/office/drawing/2014/main" id="{93F232F7-BF1C-7CCA-32EB-B21A1E656FFE}"/>
                  </a:ext>
                </a:extLst>
              </p:cNvPr>
              <p:cNvSpPr txBox="1"/>
              <p:nvPr/>
            </p:nvSpPr>
            <p:spPr>
              <a:xfrm>
                <a:off x="5083732" y="1245891"/>
                <a:ext cx="2536155" cy="496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3" name="Google Shape;2397;p49">
                <a:extLst>
                  <a:ext uri="{FF2B5EF4-FFF2-40B4-BE49-F238E27FC236}">
                    <a16:creationId xmlns:a16="http://schemas.microsoft.com/office/drawing/2014/main" id="{93F232F7-BF1C-7CCA-32EB-B21A1E656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732" y="1245891"/>
                <a:ext cx="2536155" cy="496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97;p49">
                <a:extLst>
                  <a:ext uri="{FF2B5EF4-FFF2-40B4-BE49-F238E27FC236}">
                    <a16:creationId xmlns="" xmlns:a16="http://schemas.microsoft.com/office/drawing/2014/main" id="{92C2B8EE-921D-DFD9-2D52-60C93365CE07}"/>
                  </a:ext>
                </a:extLst>
              </p:cNvPr>
              <p:cNvSpPr txBox="1"/>
              <p:nvPr/>
            </p:nvSpPr>
            <p:spPr>
              <a:xfrm>
                <a:off x="1925444" y="2249103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3600" b="0" i="1" smtClean="0">
                              <a:solidFill>
                                <a:schemeClr val="bg2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ar-AE" sz="36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→⊥</m:t>
                      </m:r>
                      <m:r>
                        <a:rPr lang="ar-AE" sz="36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?</m:t>
                      </m:r>
                    </m:oMath>
                  </m:oMathPara>
                </a14:m>
                <a:endParaRPr lang="ar-AE" sz="3600" dirty="0">
                  <a:solidFill>
                    <a:schemeClr val="bg2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id="{92C2B8EE-921D-DFD9-2D52-60C93365C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444" y="2249103"/>
                <a:ext cx="5293112" cy="828941"/>
              </a:xfrm>
              <a:prstGeom prst="rect">
                <a:avLst/>
              </a:prstGeom>
              <a:blipFill>
                <a:blip r:embed="rId5"/>
                <a:stretch>
                  <a:fillRect t="-5882" b="-102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A23E7AE1-0371-BC45-40DD-915908AEA876}"/>
                  </a:ext>
                </a:extLst>
              </p:cNvPr>
              <p:cNvSpPr txBox="1"/>
              <p:nvPr/>
            </p:nvSpPr>
            <p:spPr>
              <a:xfrm>
                <a:off x="539646" y="3730595"/>
                <a:ext cx="340604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HALT</m:t>
                          </m:r>
                        </m:e>
                      </m:acc>
                      <m:d>
                        <m:dPr>
                          <m:ctrlP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𝑒𝑛𝑐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191919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𝑀</m:t>
                              </m:r>
                              <m:r>
                                <a:rPr lang="en-US" sz="28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, </m:t>
                              </m:r>
                              <m:r>
                                <a:rPr lang="en-US" sz="28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𝑤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</m:oMath>
                  </m:oMathPara>
                </a14:m>
                <a:endParaRPr sz="36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A23E7AE1-0371-BC45-40DD-915908AEA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46" y="3730595"/>
                <a:ext cx="3406042" cy="8289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="" xmlns:a16="http://schemas.microsoft.com/office/drawing/2014/main" id="{24BC6EB7-5493-1028-92B5-A80C1B817442}"/>
              </a:ext>
            </a:extLst>
          </p:cNvPr>
          <p:cNvSpPr/>
          <p:nvPr/>
        </p:nvSpPr>
        <p:spPr>
          <a:xfrm>
            <a:off x="3945688" y="3486282"/>
            <a:ext cx="449109" cy="111056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2397;p49">
                <a:extLst>
                  <a:ext uri="{FF2B5EF4-FFF2-40B4-BE49-F238E27FC236}">
                    <a16:creationId xmlns="" xmlns:a16="http://schemas.microsoft.com/office/drawing/2014/main" id="{6FDBDC56-1C8A-8D38-D22A-4ECC48DBBE85}"/>
                  </a:ext>
                </a:extLst>
              </p:cNvPr>
              <p:cNvSpPr txBox="1"/>
              <p:nvPr/>
            </p:nvSpPr>
            <p:spPr>
              <a:xfrm>
                <a:off x="4394797" y="3316125"/>
                <a:ext cx="390363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→⊥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7" name="Google Shape;2397;p49">
                <a:extLst>
                  <a:ext uri="{FF2B5EF4-FFF2-40B4-BE49-F238E27FC236}">
                    <a16:creationId xmlns:a16="http://schemas.microsoft.com/office/drawing/2014/main" id="{6FDBDC56-1C8A-8D38-D22A-4ECC48DBB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97" y="3316125"/>
                <a:ext cx="3903632" cy="8289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2397;p49">
                <a:extLst>
                  <a:ext uri="{FF2B5EF4-FFF2-40B4-BE49-F238E27FC236}">
                    <a16:creationId xmlns="" xmlns:a16="http://schemas.microsoft.com/office/drawing/2014/main" id="{D8C93DD5-37FF-88EB-2CD8-288F38C53EAC}"/>
                  </a:ext>
                </a:extLst>
              </p:cNvPr>
              <p:cNvSpPr txBox="1"/>
              <p:nvPr/>
            </p:nvSpPr>
            <p:spPr>
              <a:xfrm>
                <a:off x="4394797" y="4041564"/>
                <a:ext cx="390363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 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𝑜𝑡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h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𝑒𝑟𝑤𝑖𝑠𝑒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9" name="Google Shape;2397;p49">
                <a:extLst>
                  <a:ext uri="{FF2B5EF4-FFF2-40B4-BE49-F238E27FC236}">
                    <a16:creationId xmlns:a16="http://schemas.microsoft.com/office/drawing/2014/main" id="{D8C93DD5-37FF-88EB-2CD8-288F38C53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97" y="4041564"/>
                <a:ext cx="3903632" cy="8289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2386;p49">
                <a:extLst>
                  <a:ext uri="{FF2B5EF4-FFF2-40B4-BE49-F238E27FC236}">
                    <a16:creationId xmlns="" xmlns:a16="http://schemas.microsoft.com/office/drawing/2014/main" id="{2B8F2624-5311-96EE-A2FC-CC454AF9C542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HALT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Google Shape;2386;p49">
                <a:extLst>
                  <a:ext uri="{FF2B5EF4-FFF2-40B4-BE49-F238E27FC236}">
                    <a16:creationId xmlns:a16="http://schemas.microsoft.com/office/drawing/2014/main" id="{2B8F2624-5311-96EE-A2FC-CC454AF9C54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82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6" name="Google Shape;2386;p49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86" name="Google Shape;2386;p4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Google Shape;2397;p49">
                <a:extLst>
                  <a:ext uri="{FF2B5EF4-FFF2-40B4-BE49-F238E27FC236}">
                    <a16:creationId xmlns="" xmlns:a16="http://schemas.microsoft.com/office/drawing/2014/main" id="{7E7A7D86-A225-4245-FA6E-A2D65DF149D7}"/>
                  </a:ext>
                </a:extLst>
              </p:cNvPr>
              <p:cNvSpPr txBox="1"/>
              <p:nvPr/>
            </p:nvSpPr>
            <p:spPr>
              <a:xfrm>
                <a:off x="4159642" y="1215027"/>
                <a:ext cx="4445233" cy="34249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𝐷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𝑓</m:t>
                              </m:r>
                            </m:e>
                          </m:acc>
                        </m:sub>
                      </m:sSub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[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𝑣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]:</m:t>
                      </m:r>
                    </m:oMath>
                  </m:oMathPara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simulate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𝑓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  <m:t>𝑣</m:t>
                        </m:r>
                      </m:e>
                    </m:d>
                  </m:oMath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𝑓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→</m:t>
                    </m:r>
                    <m:r>
                      <a:rPr lang="en-US" sz="24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𝑇𝑅𝑈𝐸</m:t>
                    </m:r>
                  </m:oMath>
                </a14:m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:</a:t>
                </a: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   transition to N</a:t>
                </a: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Else:</a:t>
                </a: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   transition to Y</a:t>
                </a:r>
                <a:endParaRPr sz="24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>
          <p:sp>
            <p:nvSpPr>
              <p:cNvPr id="12" name="Google Shape;2397;p4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E7A7D86-A225-4245-FA6E-A2D65DF14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642" y="1215027"/>
                <a:ext cx="4445233" cy="3424989"/>
              </a:xfrm>
              <a:prstGeom prst="rect">
                <a:avLst/>
              </a:prstGeom>
              <a:blipFill rotWithShape="1">
                <a:blip r:embed="rId4"/>
                <a:stretch>
                  <a:fillRect l="-1781" b="-35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4">
                <a:extLst>
                  <a:ext uri="{FF2B5EF4-FFF2-40B4-BE49-F238E27FC236}">
                    <a16:creationId xmlns="" xmlns:a16="http://schemas.microsoft.com/office/drawing/2014/main" id="{B1F30093-BF64-99B6-DD3D-230C6443CB57}"/>
                  </a:ext>
                </a:extLst>
              </p:cNvPr>
              <p:cNvSpPr/>
              <p:nvPr/>
            </p:nvSpPr>
            <p:spPr>
              <a:xfrm>
                <a:off x="1533249" y="2075353"/>
                <a:ext cx="1371600" cy="1371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F30093-BF64-99B6-DD3D-230C6443C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249" y="2075353"/>
                <a:ext cx="1371600" cy="13716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A80696C8-EE0E-B82B-0987-B19969DA2FA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219049" y="1415646"/>
            <a:ext cx="0" cy="659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8">
                <a:extLst>
                  <a:ext uri="{FF2B5EF4-FFF2-40B4-BE49-F238E27FC236}">
                    <a16:creationId xmlns="" xmlns:a16="http://schemas.microsoft.com/office/drawing/2014/main" id="{54E77FB8-611B-EB55-246E-8390F02A40A7}"/>
                  </a:ext>
                </a:extLst>
              </p:cNvPr>
              <p:cNvSpPr txBox="1"/>
              <p:nvPr/>
            </p:nvSpPr>
            <p:spPr>
              <a:xfrm>
                <a:off x="2301037" y="1514666"/>
                <a:ext cx="426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𝑤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E77FB8-611B-EB55-246E-8390F02A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037" y="1514666"/>
                <a:ext cx="426268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6">
            <a:extLst>
              <a:ext uri="{FF2B5EF4-FFF2-40B4-BE49-F238E27FC236}">
                <a16:creationId xmlns="" xmlns:a16="http://schemas.microsoft.com/office/drawing/2014/main" id="{A80696C8-EE0E-B82B-0987-B19969DA2FAA}"/>
              </a:ext>
            </a:extLst>
          </p:cNvPr>
          <p:cNvCxnSpPr>
            <a:cxnSpLocks/>
          </p:cNvCxnSpPr>
          <p:nvPr/>
        </p:nvCxnSpPr>
        <p:spPr>
          <a:xfrm flipH="1">
            <a:off x="1754763" y="3446953"/>
            <a:ext cx="464286" cy="60089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">
            <a:extLst>
              <a:ext uri="{FF2B5EF4-FFF2-40B4-BE49-F238E27FC236}">
                <a16:creationId xmlns="" xmlns:a16="http://schemas.microsoft.com/office/drawing/2014/main" id="{A80696C8-EE0E-B82B-0987-B19969DA2FAA}"/>
              </a:ext>
            </a:extLst>
          </p:cNvPr>
          <p:cNvCxnSpPr>
            <a:cxnSpLocks/>
          </p:cNvCxnSpPr>
          <p:nvPr/>
        </p:nvCxnSpPr>
        <p:spPr>
          <a:xfrm>
            <a:off x="2213725" y="3446072"/>
            <a:ext cx="464286" cy="60089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8">
                <a:extLst>
                  <a:ext uri="{FF2B5EF4-FFF2-40B4-BE49-F238E27FC236}">
                    <a16:creationId xmlns="" xmlns:a16="http://schemas.microsoft.com/office/drawing/2014/main" id="{54E77FB8-611B-EB55-246E-8390F02A40A7}"/>
                  </a:ext>
                </a:extLst>
              </p:cNvPr>
              <p:cNvSpPr txBox="1"/>
              <p:nvPr/>
            </p:nvSpPr>
            <p:spPr>
              <a:xfrm>
                <a:off x="1106981" y="3979138"/>
                <a:ext cx="9649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E77FB8-611B-EB55-246E-8390F02A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981" y="3979138"/>
                <a:ext cx="964916" cy="461665"/>
              </a:xfrm>
              <a:prstGeom prst="rect">
                <a:avLst/>
              </a:prstGeom>
              <a:blipFill rotWithShape="1">
                <a:blip r:embed="rId7"/>
                <a:stretch>
                  <a:fillRect l="-1899" r="-63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8">
                <a:extLst>
                  <a:ext uri="{FF2B5EF4-FFF2-40B4-BE49-F238E27FC236}">
                    <a16:creationId xmlns="" xmlns:a16="http://schemas.microsoft.com/office/drawing/2014/main" id="{54E77FB8-611B-EB55-246E-8390F02A40A7}"/>
                  </a:ext>
                </a:extLst>
              </p:cNvPr>
              <p:cNvSpPr txBox="1"/>
              <p:nvPr/>
            </p:nvSpPr>
            <p:spPr>
              <a:xfrm>
                <a:off x="2478580" y="3979138"/>
                <a:ext cx="10204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E77FB8-611B-EB55-246E-8390F02A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580" y="3979138"/>
                <a:ext cx="1020413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1796" r="-718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4">
                <a:extLst>
                  <a:ext uri="{FF2B5EF4-FFF2-40B4-BE49-F238E27FC236}">
                    <a16:creationId xmlns="" xmlns:a16="http://schemas.microsoft.com/office/drawing/2014/main" id="{B1F30093-BF64-99B6-DD3D-230C6443CB57}"/>
                  </a:ext>
                </a:extLst>
              </p:cNvPr>
              <p:cNvSpPr/>
              <p:nvPr/>
            </p:nvSpPr>
            <p:spPr>
              <a:xfrm>
                <a:off x="1533249" y="2074472"/>
                <a:ext cx="1371600" cy="1371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F30093-BF64-99B6-DD3D-230C6443C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249" y="2074472"/>
                <a:ext cx="1371600" cy="13716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6">
            <a:extLst>
              <a:ext uri="{FF2B5EF4-FFF2-40B4-BE49-F238E27FC236}">
                <a16:creationId xmlns="" xmlns:a16="http://schemas.microsoft.com/office/drawing/2014/main" id="{A80696C8-EE0E-B82B-0987-B19969DA2FAA}"/>
              </a:ext>
            </a:extLst>
          </p:cNvPr>
          <p:cNvCxnSpPr>
            <a:cxnSpLocks/>
          </p:cNvCxnSpPr>
          <p:nvPr/>
        </p:nvCxnSpPr>
        <p:spPr>
          <a:xfrm flipH="1">
            <a:off x="1749439" y="3446953"/>
            <a:ext cx="464286" cy="60089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6">
            <a:extLst>
              <a:ext uri="{FF2B5EF4-FFF2-40B4-BE49-F238E27FC236}">
                <a16:creationId xmlns="" xmlns:a16="http://schemas.microsoft.com/office/drawing/2014/main" id="{A80696C8-EE0E-B82B-0987-B19969DA2FAA}"/>
              </a:ext>
            </a:extLst>
          </p:cNvPr>
          <p:cNvCxnSpPr>
            <a:cxnSpLocks/>
          </p:cNvCxnSpPr>
          <p:nvPr/>
        </p:nvCxnSpPr>
        <p:spPr>
          <a:xfrm>
            <a:off x="2213725" y="3446071"/>
            <a:ext cx="464286" cy="60089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8">
                <a:extLst>
                  <a:ext uri="{FF2B5EF4-FFF2-40B4-BE49-F238E27FC236}">
                    <a16:creationId xmlns="" xmlns:a16="http://schemas.microsoft.com/office/drawing/2014/main" id="{54E77FB8-611B-EB55-246E-8390F02A40A7}"/>
                  </a:ext>
                </a:extLst>
              </p:cNvPr>
              <p:cNvSpPr txBox="1"/>
              <p:nvPr/>
            </p:nvSpPr>
            <p:spPr>
              <a:xfrm>
                <a:off x="2478580" y="3978257"/>
                <a:ext cx="9649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E77FB8-611B-EB55-246E-8390F02A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580" y="3978257"/>
                <a:ext cx="964916" cy="461665"/>
              </a:xfrm>
              <a:prstGeom prst="rect">
                <a:avLst/>
              </a:prstGeom>
              <a:blipFill rotWithShape="1">
                <a:blip r:embed="rId10"/>
                <a:stretch>
                  <a:fillRect l="-1899" r="-63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8">
                <a:extLst>
                  <a:ext uri="{FF2B5EF4-FFF2-40B4-BE49-F238E27FC236}">
                    <a16:creationId xmlns="" xmlns:a16="http://schemas.microsoft.com/office/drawing/2014/main" id="{54E77FB8-611B-EB55-246E-8390F02A40A7}"/>
                  </a:ext>
                </a:extLst>
              </p:cNvPr>
              <p:cNvSpPr txBox="1"/>
              <p:nvPr/>
            </p:nvSpPr>
            <p:spPr>
              <a:xfrm>
                <a:off x="1079232" y="3979138"/>
                <a:ext cx="10204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E77FB8-611B-EB55-246E-8390F02A4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32" y="3979138"/>
                <a:ext cx="1020413" cy="461665"/>
              </a:xfrm>
              <a:prstGeom prst="rect">
                <a:avLst/>
              </a:prstGeom>
              <a:blipFill rotWithShape="1">
                <a:blip r:embed="rId11"/>
                <a:stretch>
                  <a:fillRect l="-1198" r="-778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26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 animBg="1"/>
      <p:bldP spid="10" grpId="0"/>
      <p:bldP spid="14" grpId="0"/>
      <p:bldP spid="14" grpId="1"/>
      <p:bldP spid="15" grpId="0"/>
      <p:bldP spid="15" grpId="1"/>
      <p:bldP spid="18" grpId="0" animBg="1"/>
      <p:bldP spid="21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70FCCCBC-0223-8C5C-F801-8E362C35A081}"/>
              </a:ext>
            </a:extLst>
          </p:cNvPr>
          <p:cNvSpPr/>
          <p:nvPr/>
        </p:nvSpPr>
        <p:spPr>
          <a:xfrm>
            <a:off x="720000" y="1169579"/>
            <a:ext cx="7878568" cy="35288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DB9514AF-774B-CC1B-E1D2-8966B245DEF8}"/>
                  </a:ext>
                </a:extLst>
              </p:cNvPr>
              <p:cNvSpPr txBox="1"/>
              <p:nvPr/>
            </p:nvSpPr>
            <p:spPr>
              <a:xfrm>
                <a:off x="954668" y="1225786"/>
                <a:ext cx="1060907" cy="690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36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B9514AF-774B-CC1B-E1D2-8966B245D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668" y="1225786"/>
                <a:ext cx="1060907" cy="69070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B312B04-D861-076D-537C-1F2B8671700D}"/>
              </a:ext>
            </a:extLst>
          </p:cNvPr>
          <p:cNvSpPr/>
          <p:nvPr/>
        </p:nvSpPr>
        <p:spPr>
          <a:xfrm>
            <a:off x="906379" y="3217467"/>
            <a:ext cx="7517621" cy="13224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8276ED1A-F8E5-FEF9-B8F2-20FE26F77278}"/>
                  </a:ext>
                </a:extLst>
              </p:cNvPr>
              <p:cNvSpPr txBox="1"/>
              <p:nvPr/>
            </p:nvSpPr>
            <p:spPr>
              <a:xfrm>
                <a:off x="720000" y="3217467"/>
                <a:ext cx="1112751" cy="709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3600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US" sz="36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76ED1A-F8E5-FEF9-B8F2-20FE26F77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3217467"/>
                <a:ext cx="1112751" cy="7091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4CD126D-3B72-986E-AC80-DC3728868189}"/>
              </a:ext>
            </a:extLst>
          </p:cNvPr>
          <p:cNvSpPr/>
          <p:nvPr/>
        </p:nvSpPr>
        <p:spPr>
          <a:xfrm>
            <a:off x="906379" y="1464634"/>
            <a:ext cx="7517621" cy="1375786"/>
          </a:xfrm>
          <a:prstGeom prst="rect">
            <a:avLst/>
          </a:prstGeom>
          <a:solidFill>
            <a:srgbClr val="9EE2A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ECAC9581-9D89-3550-E99B-07CFC26025A3}"/>
                  </a:ext>
                </a:extLst>
              </p:cNvPr>
              <p:cNvSpPr txBox="1"/>
              <p:nvPr/>
            </p:nvSpPr>
            <p:spPr>
              <a:xfrm>
                <a:off x="731811" y="1423883"/>
                <a:ext cx="1112751" cy="690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36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AC9581-9D89-3550-E99B-07CFC2602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811" y="1423883"/>
                <a:ext cx="1112751" cy="6907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5C7AA7F2-A15A-D21E-253A-34C002056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244698"/>
              </p:ext>
            </p:extLst>
          </p:nvPr>
        </p:nvGraphicFramePr>
        <p:xfrm>
          <a:off x="-3759899" y="220482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="" xmlns:a16="http://schemas.microsoft.com/office/drawing/2014/main" id="{B9FC7E9E-02AE-66F7-2EAA-059B7699A821}"/>
              </a:ext>
            </a:extLst>
          </p:cNvPr>
          <p:cNvSpPr>
            <a:spLocks noChangeAspect="1"/>
          </p:cNvSpPr>
          <p:nvPr/>
        </p:nvSpPr>
        <p:spPr>
          <a:xfrm>
            <a:off x="3439513" y="1606131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</a:t>
            </a:r>
            <a:endParaRPr lang="en-US" sz="2000" b="1" baseline="-25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C7681F40-EE11-47E0-DB73-AB8071F28076}"/>
              </a:ext>
            </a:extLst>
          </p:cNvPr>
          <p:cNvGraphicFramePr>
            <a:graphicFrameLocks noGrp="1"/>
          </p:cNvGraphicFramePr>
          <p:nvPr/>
        </p:nvGraphicFramePr>
        <p:xfrm>
          <a:off x="-3839847" y="3992474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="" xmlns:a16="http://schemas.microsoft.com/office/drawing/2014/main" id="{1B1EB364-080B-37F1-F464-2E1E02782995}"/>
              </a:ext>
            </a:extLst>
          </p:cNvPr>
          <p:cNvSpPr>
            <a:spLocks noChangeAspect="1"/>
          </p:cNvSpPr>
          <p:nvPr/>
        </p:nvSpPr>
        <p:spPr>
          <a:xfrm>
            <a:off x="3439512" y="3402222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</a:t>
            </a:r>
            <a:endParaRPr lang="en-US" sz="2000" b="1" baseline="-2500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4A8D6C7-EE47-E30A-94FF-3C65BE9A0C54}"/>
              </a:ext>
            </a:extLst>
          </p:cNvPr>
          <p:cNvSpPr/>
          <p:nvPr/>
        </p:nvSpPr>
        <p:spPr>
          <a:xfrm>
            <a:off x="2610037" y="2167761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2386;p49">
                <a:extLst>
                  <a:ext uri="{FF2B5EF4-FFF2-40B4-BE49-F238E27FC236}">
                    <a16:creationId xmlns="" xmlns:a16="http://schemas.microsoft.com/office/drawing/2014/main" id="{283B9BD8-6486-87DB-EE8D-033430416955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Google Shape;2386;p49">
                <a:extLst>
                  <a:ext uri="{FF2B5EF4-FFF2-40B4-BE49-F238E27FC236}">
                    <a16:creationId xmlns:a16="http://schemas.microsoft.com/office/drawing/2014/main" id="{283B9BD8-6486-87DB-EE8D-0334304169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6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CA60E67B-DF34-7813-AC37-3A3D6B709095}"/>
              </a:ext>
            </a:extLst>
          </p:cNvPr>
          <p:cNvSpPr/>
          <p:nvPr/>
        </p:nvSpPr>
        <p:spPr>
          <a:xfrm>
            <a:off x="2521805" y="3956456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="" xmlns:a16="http://schemas.microsoft.com/office/drawing/2014/main" id="{F9E9D68D-43F7-15ED-6BA6-89D002817B28}"/>
              </a:ext>
            </a:extLst>
          </p:cNvPr>
          <p:cNvSpPr>
            <a:spLocks noChangeAspect="1"/>
          </p:cNvSpPr>
          <p:nvPr/>
        </p:nvSpPr>
        <p:spPr>
          <a:xfrm>
            <a:off x="3439512" y="1606131"/>
            <a:ext cx="119665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r_s</a:t>
            </a:r>
            <a:endParaRPr lang="en-US" sz="2000" b="1" baseline="-250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="" xmlns:a16="http://schemas.microsoft.com/office/drawing/2014/main" id="{0EFA6956-6923-797C-D4E3-7E010061C44E}"/>
              </a:ext>
            </a:extLst>
          </p:cNvPr>
          <p:cNvSpPr>
            <a:spLocks noChangeAspect="1"/>
          </p:cNvSpPr>
          <p:nvPr/>
        </p:nvSpPr>
        <p:spPr>
          <a:xfrm>
            <a:off x="3439512" y="3402222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Y</a:t>
            </a:r>
            <a:endParaRPr lang="en-US" sz="2000" b="1" baseline="-25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="" xmlns:a16="http://schemas.microsoft.com/office/drawing/2014/main" id="{667A7114-8B1E-6F8F-DB67-0682D4F60B43}"/>
              </a:ext>
            </a:extLst>
          </p:cNvPr>
          <p:cNvSpPr>
            <a:spLocks noChangeAspect="1"/>
          </p:cNvSpPr>
          <p:nvPr/>
        </p:nvSpPr>
        <p:spPr>
          <a:xfrm>
            <a:off x="3439512" y="1599181"/>
            <a:ext cx="119665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</a:t>
            </a:r>
            <a:endParaRPr lang="en-US" sz="2000" b="1" baseline="-25000" dirty="0"/>
          </a:p>
        </p:txBody>
      </p:sp>
    </p:spTree>
    <p:extLst>
      <p:ext uri="{BB962C8B-B14F-4D97-AF65-F5344CB8AC3E}">
        <p14:creationId xmlns:p14="http://schemas.microsoft.com/office/powerpoint/2010/main" val="264081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85185E-6 L 0.22812 -0.00308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76" y="-123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9.87654E-7 L 0.22812 -0.00309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06" y="-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path" presetSubtype="0" repeatCount="indefinite" accel="50000" decel="50000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22812 -0.00309 C 0.35416 -0.00309 0.45677 -0.00124 0.45677 0.00123 C 0.45677 0.0037 0.35416 0.00586 0.22812 0.00586 C 0.10208 0.00586 -0.00035 0.0037 -0.00035 0.00123 C -0.00035 -0.00124 0.10208 -0.00309 0.22812 -0.00309 Z " pathEditMode="relative" rAng="0" ptsTypes="AAAAA">
                                      <p:cBhvr>
                                        <p:cTn id="35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2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path" presetSubtype="0" repeatCount="indefinite" accel="50000" decel="50000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22812 -0.00309 C 0.35416 -0.00309 0.45677 -0.00124 0.45677 0.00123 C 0.45677 0.0037 0.35416 0.00586 0.22812 0.00586 C 0.10208 0.00586 -0.00035 0.0037 -0.00035 0.00123 C -0.00035 -0.00124 0.10208 -0.00309 0.22812 -0.00309 Z " pathEditMode="relative" rAng="0" ptsTypes="AAAAA">
                                      <p:cBhvr>
                                        <p:cTn id="37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path" presetSubtype="0" repeatCount="1000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813 -0.00309 C 0.35 -0.00309 0.44931 -0.00124 0.44931 0.00123 C 0.44931 0.0037 0.35 0.00586 0.22813 0.00586 C 0.10608 0.00586 0.00695 0.0037 0.00695 0.00123 C 0.00695 -0.00124 0.10608 -0.00309 0.22813 -0.00309 Z " pathEditMode="relative" rAng="0" ptsTypes="AAAAA">
                                      <p:cBhvr>
                                        <p:cTn id="67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2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path" presetSubtype="0" repeatCount="1000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812 -0.00308 C 0.3526 -0.00308 0.45416 -0.00494 0.45416 -0.00741 C 0.45416 -0.00987 0.3526 -0.01204 0.22812 -0.01204 C 0.10347 -0.01204 0.00208 -0.00987 0.00208 -0.00741 C 0.00208 -0.00494 0.10347 -0.00308 0.22812 -0.00308 Z " pathEditMode="relative" rAng="0" ptsTypes="AAAAA">
                                      <p:cBhvr>
                                        <p:cTn id="69" dur="5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8" grpId="0" animBg="1"/>
      <p:bldP spid="8" grpId="1" animBg="1"/>
      <p:bldP spid="9" grpId="0"/>
      <p:bldP spid="9" grpId="1"/>
      <p:bldP spid="6" grpId="0" animBg="1"/>
      <p:bldP spid="6" grpId="1" animBg="1"/>
      <p:bldP spid="7" grpId="0"/>
      <p:bldP spid="7" grpId="1"/>
      <p:bldP spid="3" grpId="0" animBg="1"/>
      <p:bldP spid="3" grpId="1" animBg="1"/>
      <p:bldP spid="5" grpId="0" animBg="1"/>
      <p:bldP spid="5" grpId="1" animBg="1"/>
      <p:bldP spid="11" grpId="0" animBg="1"/>
      <p:bldP spid="11" grpId="1" animBg="1"/>
      <p:bldP spid="11" grpId="2" animBg="1"/>
      <p:bldP spid="11" grpId="3" animBg="1"/>
      <p:bldP spid="16" grpId="0" animBg="1"/>
      <p:bldP spid="16" grpId="1" animBg="1"/>
      <p:bldP spid="16" grpId="2" animBg="1"/>
      <p:bldP spid="16" grpId="3" animBg="1"/>
      <p:bldP spid="19" grpId="0" animBg="1"/>
      <p:bldP spid="20" grpId="0" animBg="1"/>
      <p:bldP spid="20" grpId="1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="" xmlns:a16="http://schemas.microsoft.com/office/drawing/2014/main" id="{D765B367-F71F-E264-7AD9-A7E94B27188D}"/>
              </a:ext>
            </a:extLst>
          </p:cNvPr>
          <p:cNvSpPr>
            <a:spLocks/>
          </p:cNvSpPr>
          <p:nvPr/>
        </p:nvSpPr>
        <p:spPr>
          <a:xfrm>
            <a:off x="2136523" y="944603"/>
            <a:ext cx="3091536" cy="299182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C896B72-1405-A02C-8502-C12C4351689C}"/>
              </a:ext>
            </a:extLst>
          </p:cNvPr>
          <p:cNvSpPr txBox="1"/>
          <p:nvPr/>
        </p:nvSpPr>
        <p:spPr>
          <a:xfrm>
            <a:off x="2771940" y="1274784"/>
            <a:ext cx="1066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8AD64DEE-0A64-E36B-94CF-00FC35C2F594}"/>
              </a:ext>
            </a:extLst>
          </p:cNvPr>
          <p:cNvSpPr/>
          <p:nvPr/>
        </p:nvSpPr>
        <p:spPr>
          <a:xfrm>
            <a:off x="1373829" y="692135"/>
            <a:ext cx="6396342" cy="3512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F8FDB627-7615-B920-E98C-CB54E23D214E}"/>
              </a:ext>
            </a:extLst>
          </p:cNvPr>
          <p:cNvSpPr>
            <a:spLocks/>
          </p:cNvSpPr>
          <p:nvPr/>
        </p:nvSpPr>
        <p:spPr>
          <a:xfrm>
            <a:off x="4035080" y="944603"/>
            <a:ext cx="3091536" cy="2991827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B18B9F9-456C-15E5-DE87-7961AAAAE2A6}"/>
              </a:ext>
            </a:extLst>
          </p:cNvPr>
          <p:cNvSpPr txBox="1"/>
          <p:nvPr/>
        </p:nvSpPr>
        <p:spPr>
          <a:xfrm>
            <a:off x="5244328" y="1334745"/>
            <a:ext cx="1611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coRE</a:t>
            </a:r>
            <a:endParaRPr lang="en-US" sz="44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33137ED-A796-AEF9-E674-E91EF7FF9C46}"/>
              </a:ext>
            </a:extLst>
          </p:cNvPr>
          <p:cNvSpPr txBox="1"/>
          <p:nvPr/>
        </p:nvSpPr>
        <p:spPr>
          <a:xfrm>
            <a:off x="4287987" y="1508485"/>
            <a:ext cx="7188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1309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  <p:bldP spid="7" grpId="0" animBg="1"/>
      <p:bldP spid="8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2386;p49">
                <a:extLst>
                  <a:ext uri="{FF2B5EF4-FFF2-40B4-BE49-F238E27FC236}">
                    <a16:creationId xmlns="" xmlns:a16="http://schemas.microsoft.com/office/drawing/2014/main" id="{024D2669-D736-613F-9D0F-B955B99DEE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2800" b="0" i="0" u="none" strike="noStrike" cap="none">
                    <a:solidFill>
                      <a:schemeClr val="accent4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HALT</m:t>
                          </m:r>
                        </m:e>
                      </m:acc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ALL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Google Shape;2386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24D2669-D736-613F-9D0F-B955B99DE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="" xmlns:a16="http://schemas.microsoft.com/office/drawing/2014/main" id="{849B9E5C-B36C-F87B-63D1-1BBE97654A97}"/>
                  </a:ext>
                </a:extLst>
              </p:cNvPr>
              <p:cNvSpPr/>
              <p:nvPr/>
            </p:nvSpPr>
            <p:spPr>
              <a:xfrm>
                <a:off x="3975212" y="1404969"/>
                <a:ext cx="1371600" cy="13716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9B9E5C-B36C-F87B-63D1-1BBE97654A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212" y="1404969"/>
                <a:ext cx="1371600" cy="1371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F18BA85D-570A-98DD-B662-46544CF3506E}"/>
                  </a:ext>
                </a:extLst>
              </p:cNvPr>
              <p:cNvSpPr txBox="1"/>
              <p:nvPr/>
            </p:nvSpPr>
            <p:spPr>
              <a:xfrm>
                <a:off x="5790962" y="1584378"/>
                <a:ext cx="764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8BA85D-570A-98DD-B662-46544CF35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962" y="1584378"/>
                <a:ext cx="764498" cy="461665"/>
              </a:xfrm>
              <a:prstGeom prst="rect">
                <a:avLst/>
              </a:prstGeom>
              <a:blipFill>
                <a:blip r:embed="rId5"/>
                <a:stretch>
                  <a:fillRect r="-7120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E60131B0-6AC6-CFC2-1782-EADCE92DBECB}"/>
              </a:ext>
            </a:extLst>
          </p:cNvPr>
          <p:cNvCxnSpPr>
            <a:cxnSpLocks/>
          </p:cNvCxnSpPr>
          <p:nvPr/>
        </p:nvCxnSpPr>
        <p:spPr>
          <a:xfrm>
            <a:off x="1715511" y="2090769"/>
            <a:ext cx="225970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B448FCC2-1667-0579-EE7F-53F9384A91F4}"/>
              </a:ext>
            </a:extLst>
          </p:cNvPr>
          <p:cNvCxnSpPr>
            <a:cxnSpLocks/>
          </p:cNvCxnSpPr>
          <p:nvPr/>
        </p:nvCxnSpPr>
        <p:spPr>
          <a:xfrm>
            <a:off x="5346812" y="2090769"/>
            <a:ext cx="20493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B373E62D-F8B9-4F53-E7B4-8465C7BEC73C}"/>
                  </a:ext>
                </a:extLst>
              </p:cNvPr>
              <p:cNvSpPr txBox="1"/>
              <p:nvPr/>
            </p:nvSpPr>
            <p:spPr>
              <a:xfrm>
                <a:off x="1878232" y="1584377"/>
                <a:ext cx="9671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73E62D-F8B9-4F53-E7B4-8465C7BEC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232" y="1584377"/>
                <a:ext cx="967130" cy="461665"/>
              </a:xfrm>
              <a:prstGeom prst="rect">
                <a:avLst/>
              </a:prstGeom>
              <a:blipFill>
                <a:blip r:embed="rId6"/>
                <a:stretch>
                  <a:fillRect r="-8930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Google Shape;2397;p49">
                <a:extLst>
                  <a:ext uri="{FF2B5EF4-FFF2-40B4-BE49-F238E27FC236}">
                    <a16:creationId xmlns="" xmlns:a16="http://schemas.microsoft.com/office/drawing/2014/main" id="{EDD4E009-A3D5-7758-7459-4037153C5991}"/>
                  </a:ext>
                </a:extLst>
              </p:cNvPr>
              <p:cNvSpPr txBox="1"/>
              <p:nvPr/>
            </p:nvSpPr>
            <p:spPr>
              <a:xfrm>
                <a:off x="1660550" y="2731841"/>
                <a:ext cx="7234733" cy="19762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′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[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𝑣</m:t>
                      </m:r>
                      <m:r>
                        <a:rPr lang="en-US" sz="1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]:</m:t>
                      </m:r>
                    </m:oMath>
                  </m:oMathPara>
                </a14:m>
                <a:endParaRPr lang="en-US" sz="18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simulate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M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for |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𝑣</m:t>
                    </m:r>
                  </m:oMath>
                </a14:m>
                <a:r>
                  <a:rPr lang="en-US" sz="18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| steps</a:t>
                </a: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M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halted:</a:t>
                </a: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   loop</a:t>
                </a: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e</a:t>
                </a:r>
                <a:r>
                  <a:rPr lang="en-US" sz="1800" dirty="0" smtClean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lse</a:t>
                </a:r>
                <a:r>
                  <a:rPr lang="en-US" sz="18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:</a:t>
                </a: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    halt </a:t>
                </a:r>
                <a:endParaRPr sz="18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7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DD4E009-A3D5-7758-7459-4037153C5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550" y="2731841"/>
                <a:ext cx="7234733" cy="1976241"/>
              </a:xfrm>
              <a:prstGeom prst="rect">
                <a:avLst/>
              </a:prstGeom>
              <a:blipFill rotWithShape="1">
                <a:blip r:embed="rId7"/>
                <a:stretch>
                  <a:fillRect l="-505" t="-5556" b="-1728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095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86" name="Google Shape;2386;p49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ALL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86" name="Google Shape;2386;p4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2397;p49">
                <a:extLst>
                  <a:ext uri="{FF2B5EF4-FFF2-40B4-BE49-F238E27FC236}">
                    <a16:creationId xmlns="" xmlns:a16="http://schemas.microsoft.com/office/drawing/2014/main" id="{EAADE4B6-CB7F-E974-35A7-50161688EF5B}"/>
                  </a:ext>
                </a:extLst>
              </p:cNvPr>
              <p:cNvSpPr txBox="1"/>
              <p:nvPr/>
            </p:nvSpPr>
            <p:spPr>
              <a:xfrm>
                <a:off x="630357" y="2059192"/>
                <a:ext cx="3225688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ALL</m:t>
                          </m:r>
                        </m:e>
                      </m:acc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𝑒𝑛𝑐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191919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𝑀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</m:oMath>
                  </m:oMathPara>
                </a14:m>
                <a:endParaRPr sz="36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" name="Google Shape;2397;p49">
                <a:extLst>
                  <a:ext uri="{FF2B5EF4-FFF2-40B4-BE49-F238E27FC236}">
                    <a16:creationId xmlns:a16="http://schemas.microsoft.com/office/drawing/2014/main" id="{EAADE4B6-CB7F-E974-35A7-50161688E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57" y="2059192"/>
                <a:ext cx="3225688" cy="8289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Left Brace 2">
            <a:extLst>
              <a:ext uri="{FF2B5EF4-FFF2-40B4-BE49-F238E27FC236}">
                <a16:creationId xmlns="" xmlns:a16="http://schemas.microsoft.com/office/drawing/2014/main" id="{BC0834FF-4A40-5433-DF6C-F21B0F821F6A}"/>
              </a:ext>
            </a:extLst>
          </p:cNvPr>
          <p:cNvSpPr/>
          <p:nvPr/>
        </p:nvSpPr>
        <p:spPr>
          <a:xfrm>
            <a:off x="3631491" y="1814879"/>
            <a:ext cx="449109" cy="1110564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2397;p49">
                <a:extLst>
                  <a:ext uri="{FF2B5EF4-FFF2-40B4-BE49-F238E27FC236}">
                    <a16:creationId xmlns="" xmlns:a16="http://schemas.microsoft.com/office/drawing/2014/main" id="{DB2E5D70-2D02-64D4-F04D-BFF194E5F144}"/>
                  </a:ext>
                </a:extLst>
              </p:cNvPr>
              <p:cNvSpPr txBox="1"/>
              <p:nvPr/>
            </p:nvSpPr>
            <p:spPr>
              <a:xfrm>
                <a:off x="4080599" y="1644722"/>
                <a:ext cx="4553736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𝑇𝑅𝑈𝐸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 ∃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𝑤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→⊥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4" name="Google Shape;2397;p49">
                <a:extLst>
                  <a:ext uri="{FF2B5EF4-FFF2-40B4-BE49-F238E27FC236}">
                    <a16:creationId xmlns:a16="http://schemas.microsoft.com/office/drawing/2014/main" id="{DB2E5D70-2D02-64D4-F04D-BFF194E5F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599" y="1644722"/>
                <a:ext cx="4553736" cy="8289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D15F37B6-B791-56AA-7CA7-623DE4849F04}"/>
                  </a:ext>
                </a:extLst>
              </p:cNvPr>
              <p:cNvSpPr txBox="1"/>
              <p:nvPr/>
            </p:nvSpPr>
            <p:spPr>
              <a:xfrm>
                <a:off x="4080600" y="2370161"/>
                <a:ext cx="390363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𝐹𝐴𝐿𝑆𝐸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  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𝑜𝑡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h</m:t>
                      </m:r>
                      <m:r>
                        <a:rPr lang="en-US" sz="28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𝑒𝑟𝑤𝑖𝑠𝑒</m:t>
                      </m:r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D15F37B6-B791-56AA-7CA7-623DE4849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600" y="2370161"/>
                <a:ext cx="3903632" cy="8289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633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2386;p49">
                <a:extLst>
                  <a:ext uri="{FF2B5EF4-FFF2-40B4-BE49-F238E27FC236}">
                    <a16:creationId xmlns="" xmlns:a16="http://schemas.microsoft.com/office/drawing/2014/main" id="{024D2669-D736-613F-9D0F-B955B99DEE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2800" b="0" i="0" u="none" strike="noStrike" cap="none">
                    <a:solidFill>
                      <a:schemeClr val="accent4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1pPr>
                <a:lvl2pPr marR="0" lvl="1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2pPr>
                <a:lvl3pPr marR="0" lvl="2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3pPr>
                <a:lvl4pPr marR="0" lvl="3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4pPr>
                <a:lvl5pPr marR="0" lvl="4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5pPr>
                <a:lvl6pPr marR="0" lvl="5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6pPr>
                <a:lvl7pPr marR="0" lvl="6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7pPr>
                <a:lvl8pPr marR="0" lvl="7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8pPr>
                <a:lvl9pPr marR="0" lvl="8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Karla Regular"/>
                  <a:buNone/>
                  <a:defRPr sz="1800" b="0" i="0" u="none" strike="noStrike" cap="none">
                    <a:solidFill>
                      <a:schemeClr val="dk1"/>
                    </a:solidFill>
                    <a:latin typeface="Karla Regular"/>
                    <a:ea typeface="Karla Regular"/>
                    <a:cs typeface="Karla Regular"/>
                    <a:sym typeface="Karla Regular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HALT</m:t>
                          </m:r>
                        </m:e>
                      </m:acc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ALL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Google Shape;2386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24D2669-D736-613F-9D0F-B955B99DE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="" xmlns:a16="http://schemas.microsoft.com/office/drawing/2014/main" id="{849B9E5C-B36C-F87B-63D1-1BBE97654A97}"/>
                  </a:ext>
                </a:extLst>
              </p:cNvPr>
              <p:cNvSpPr/>
              <p:nvPr/>
            </p:nvSpPr>
            <p:spPr>
              <a:xfrm>
                <a:off x="3975212" y="1404969"/>
                <a:ext cx="1371600" cy="137160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9B9E5C-B36C-F87B-63D1-1BBE97654A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212" y="1404969"/>
                <a:ext cx="1371600" cy="1371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F18BA85D-570A-98DD-B662-46544CF3506E}"/>
                  </a:ext>
                </a:extLst>
              </p:cNvPr>
              <p:cNvSpPr txBox="1"/>
              <p:nvPr/>
            </p:nvSpPr>
            <p:spPr>
              <a:xfrm>
                <a:off x="5790962" y="1584378"/>
                <a:ext cx="7644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8BA85D-570A-98DD-B662-46544CF35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962" y="1584378"/>
                <a:ext cx="764498" cy="461665"/>
              </a:xfrm>
              <a:prstGeom prst="rect">
                <a:avLst/>
              </a:prstGeom>
              <a:blipFill>
                <a:blip r:embed="rId5"/>
                <a:stretch>
                  <a:fillRect r="-7120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E60131B0-6AC6-CFC2-1782-EADCE92DBECB}"/>
              </a:ext>
            </a:extLst>
          </p:cNvPr>
          <p:cNvCxnSpPr>
            <a:cxnSpLocks/>
          </p:cNvCxnSpPr>
          <p:nvPr/>
        </p:nvCxnSpPr>
        <p:spPr>
          <a:xfrm>
            <a:off x="1715511" y="2090769"/>
            <a:ext cx="225970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B448FCC2-1667-0579-EE7F-53F9384A91F4}"/>
              </a:ext>
            </a:extLst>
          </p:cNvPr>
          <p:cNvCxnSpPr>
            <a:cxnSpLocks/>
          </p:cNvCxnSpPr>
          <p:nvPr/>
        </p:nvCxnSpPr>
        <p:spPr>
          <a:xfrm>
            <a:off x="5346812" y="2090769"/>
            <a:ext cx="20493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B373E62D-F8B9-4F53-E7B4-8465C7BEC73C}"/>
                  </a:ext>
                </a:extLst>
              </p:cNvPr>
              <p:cNvSpPr txBox="1"/>
              <p:nvPr/>
            </p:nvSpPr>
            <p:spPr>
              <a:xfrm>
                <a:off x="1878232" y="1584377"/>
                <a:ext cx="9671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73E62D-F8B9-4F53-E7B4-8465C7BEC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232" y="1584377"/>
                <a:ext cx="967130" cy="461665"/>
              </a:xfrm>
              <a:prstGeom prst="rect">
                <a:avLst/>
              </a:prstGeom>
              <a:blipFill>
                <a:blip r:embed="rId6"/>
                <a:stretch>
                  <a:fillRect r="-8930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2397;p49">
                <a:extLst>
                  <a:ext uri="{FF2B5EF4-FFF2-40B4-BE49-F238E27FC236}">
                    <a16:creationId xmlns="" xmlns:a16="http://schemas.microsoft.com/office/drawing/2014/main" id="{C1E2089B-3C75-3956-8176-9161D7A860FD}"/>
                  </a:ext>
                </a:extLst>
              </p:cNvPr>
              <p:cNvSpPr txBox="1"/>
              <p:nvPr/>
            </p:nvSpPr>
            <p:spPr>
              <a:xfrm>
                <a:off x="2575976" y="2595349"/>
                <a:ext cx="4305154" cy="22726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[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𝑣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]:</m:t>
                      </m:r>
                    </m:oMath>
                  </m:oMathPara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erase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𝑣</m:t>
                    </m:r>
                    <m:r>
                      <a:rPr lang="en-US" sz="24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write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𝑤</m:t>
                    </m:r>
                    <m:r>
                      <a:rPr lang="en-US" sz="24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  <a:p>
                <a:pPr marL="457200" lvl="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2400" dirty="0">
                    <a:solidFill>
                      <a:srgbClr val="191919"/>
                    </a:solidFill>
                    <a:latin typeface="Lucida Sans Typewriter" panose="020B0509030504030204" pitchFamily="49" charset="0"/>
                    <a:ea typeface="Karla Regular"/>
                    <a:cs typeface="Karla Regular"/>
                    <a:sym typeface="Karla Regular"/>
                  </a:rPr>
                  <a:t>simulate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M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/>
                            <a:ea typeface="Karla Regular"/>
                            <a:cs typeface="Karla Regular"/>
                            <a:sym typeface="Karla Regular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Karla Regular"/>
                            <a:cs typeface="Karla Regular"/>
                            <a:sym typeface="Karla Regular"/>
                          </a:rPr>
                          <m:t>𝑤</m:t>
                        </m:r>
                      </m:e>
                    </m:d>
                  </m:oMath>
                </a14:m>
                <a:endParaRPr lang="en-US" sz="2400" b="0" dirty="0">
                  <a:solidFill>
                    <a:srgbClr val="191919"/>
                  </a:solidFill>
                  <a:latin typeface="Lucida Sans Typewriter" panose="020B0509030504030204" pitchFamily="49" charset="0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9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1E2089B-3C75-3956-8176-9161D7A86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976" y="2595349"/>
                <a:ext cx="4305154" cy="2272652"/>
              </a:xfrm>
              <a:prstGeom prst="rect">
                <a:avLst/>
              </a:prstGeom>
              <a:blipFill rotWithShape="1">
                <a:blip r:embed="rId7"/>
                <a:stretch>
                  <a:fillRect l="-1983" b="-34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14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6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="" xmlns:a16="http://schemas.microsoft.com/office/drawing/2014/main" id="{D765B367-F71F-E264-7AD9-A7E94B27188D}"/>
              </a:ext>
            </a:extLst>
          </p:cNvPr>
          <p:cNvSpPr>
            <a:spLocks/>
          </p:cNvSpPr>
          <p:nvPr/>
        </p:nvSpPr>
        <p:spPr>
          <a:xfrm>
            <a:off x="2136523" y="944603"/>
            <a:ext cx="3091536" cy="2991827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C896B72-1405-A02C-8502-C12C4351689C}"/>
              </a:ext>
            </a:extLst>
          </p:cNvPr>
          <p:cNvSpPr txBox="1"/>
          <p:nvPr/>
        </p:nvSpPr>
        <p:spPr>
          <a:xfrm>
            <a:off x="2771940" y="1274784"/>
            <a:ext cx="1066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8AD64DEE-0A64-E36B-94CF-00FC35C2F594}"/>
              </a:ext>
            </a:extLst>
          </p:cNvPr>
          <p:cNvSpPr/>
          <p:nvPr/>
        </p:nvSpPr>
        <p:spPr>
          <a:xfrm>
            <a:off x="1373829" y="692135"/>
            <a:ext cx="6396342" cy="3512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F8FDB627-7615-B920-E98C-CB54E23D214E}"/>
              </a:ext>
            </a:extLst>
          </p:cNvPr>
          <p:cNvSpPr>
            <a:spLocks/>
          </p:cNvSpPr>
          <p:nvPr/>
        </p:nvSpPr>
        <p:spPr>
          <a:xfrm>
            <a:off x="4035080" y="944603"/>
            <a:ext cx="3091536" cy="2991827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B18B9F9-456C-15E5-DE87-7961AAAAE2A6}"/>
              </a:ext>
            </a:extLst>
          </p:cNvPr>
          <p:cNvSpPr txBox="1"/>
          <p:nvPr/>
        </p:nvSpPr>
        <p:spPr>
          <a:xfrm>
            <a:off x="5244328" y="1334745"/>
            <a:ext cx="1611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coRE</a:t>
            </a:r>
            <a:endParaRPr lang="en-US" sz="4400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3C5C2A3-DFEC-D7F5-D018-D03A7EAE64DC}"/>
              </a:ext>
            </a:extLst>
          </p:cNvPr>
          <p:cNvSpPr txBox="1"/>
          <p:nvPr/>
        </p:nvSpPr>
        <p:spPr>
          <a:xfrm>
            <a:off x="4287987" y="1508485"/>
            <a:ext cx="7188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</a:t>
            </a:r>
          </a:p>
        </p:txBody>
      </p:sp>
      <p:sp>
        <p:nvSpPr>
          <p:cNvPr id="2" name="Multiplication Sign 1">
            <a:extLst>
              <a:ext uri="{FF2B5EF4-FFF2-40B4-BE49-F238E27FC236}">
                <a16:creationId xmlns="" xmlns:a16="http://schemas.microsoft.com/office/drawing/2014/main" id="{57B197F1-BB7A-7879-4881-05BC277C9A35}"/>
              </a:ext>
            </a:extLst>
          </p:cNvPr>
          <p:cNvSpPr/>
          <p:nvPr/>
        </p:nvSpPr>
        <p:spPr>
          <a:xfrm>
            <a:off x="4494130" y="3250294"/>
            <a:ext cx="283221" cy="25033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60F36DA7-27E1-6E14-E7A6-2D58D59EBE1E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249361" y="3371674"/>
            <a:ext cx="384529" cy="113119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50F6396-7B84-51B7-7171-4EBE245BBAE0}"/>
              </a:ext>
            </a:extLst>
          </p:cNvPr>
          <p:cNvSpPr txBox="1"/>
          <p:nvPr/>
        </p:nvSpPr>
        <p:spPr>
          <a:xfrm>
            <a:off x="3458449" y="4502873"/>
            <a:ext cx="1581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  <a:latin typeface="Lucida Sans" panose="020B0602030504020204" pitchFamily="34" charset="0"/>
              </a:rPr>
              <a:t>PREFIX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2F74B57-6756-4EA3-DF54-7FB186C7E722}"/>
              </a:ext>
            </a:extLst>
          </p:cNvPr>
          <p:cNvSpPr txBox="1"/>
          <p:nvPr/>
        </p:nvSpPr>
        <p:spPr>
          <a:xfrm>
            <a:off x="85004" y="2983284"/>
            <a:ext cx="1046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Lucida Sans" panose="020B0602030504020204" pitchFamily="34" charset="0"/>
              </a:rPr>
              <a:t>HALT</a:t>
            </a:r>
            <a:endParaRPr lang="en-US" sz="2800" b="1" dirty="0">
              <a:solidFill>
                <a:schemeClr val="accent1"/>
              </a:solidFill>
              <a:latin typeface="Lucida Sans" panose="020B0602030504020204" pitchFamily="34" charset="0"/>
            </a:endParaRPr>
          </a:p>
        </p:txBody>
      </p:sp>
      <p:sp>
        <p:nvSpPr>
          <p:cNvPr id="13" name="Multiplication Sign 12">
            <a:extLst>
              <a:ext uri="{FF2B5EF4-FFF2-40B4-BE49-F238E27FC236}">
                <a16:creationId xmlns="" xmlns:a16="http://schemas.microsoft.com/office/drawing/2014/main" id="{C3BBF7E4-BD28-7D3E-F1F1-5C991171A4D0}"/>
              </a:ext>
            </a:extLst>
          </p:cNvPr>
          <p:cNvSpPr/>
          <p:nvPr/>
        </p:nvSpPr>
        <p:spPr>
          <a:xfrm>
            <a:off x="2624055" y="2344125"/>
            <a:ext cx="283221" cy="250333"/>
          </a:xfrm>
          <a:prstGeom prst="mathMultiply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="" xmlns:a16="http://schemas.microsoft.com/office/drawing/2014/main" id="{3253E800-1E7D-E9E4-F34C-E110F26DB12A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1131757" y="2460064"/>
            <a:ext cx="1640183" cy="75405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id="{A0D160D9-1736-B007-507C-0A585B3C5FDB}"/>
                  </a:ext>
                </a:extLst>
              </p:cNvPr>
              <p:cNvSpPr txBox="1"/>
              <p:nvPr/>
            </p:nvSpPr>
            <p:spPr>
              <a:xfrm>
                <a:off x="7238019" y="4326572"/>
                <a:ext cx="1126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800" b="1" i="0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𝐇𝐀𝐋𝐓</m:t>
                          </m:r>
                        </m:e>
                      </m:acc>
                    </m:oMath>
                  </m:oMathPara>
                </a14:m>
                <a:endParaRPr lang="en-US" sz="2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D160D9-1736-B007-507C-0A585B3C5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019" y="4326572"/>
                <a:ext cx="112649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Multiplication Sign 20">
            <a:extLst>
              <a:ext uri="{FF2B5EF4-FFF2-40B4-BE49-F238E27FC236}">
                <a16:creationId xmlns="" xmlns:a16="http://schemas.microsoft.com/office/drawing/2014/main" id="{37517BA0-BCDF-230B-92B8-A397C2ABB9EE}"/>
              </a:ext>
            </a:extLst>
          </p:cNvPr>
          <p:cNvSpPr/>
          <p:nvPr/>
        </p:nvSpPr>
        <p:spPr>
          <a:xfrm>
            <a:off x="5990753" y="3039315"/>
            <a:ext cx="283221" cy="250333"/>
          </a:xfrm>
          <a:prstGeom prst="mathMultiply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B7AD90C3-AFCC-8015-85E7-6F5F6BB68D3F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6106446" y="3164481"/>
            <a:ext cx="1131573" cy="1423701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EA88A3D0-5F7F-5811-E059-E3809526922C}"/>
              </a:ext>
            </a:extLst>
          </p:cNvPr>
          <p:cNvSpPr txBox="1"/>
          <p:nvPr/>
        </p:nvSpPr>
        <p:spPr>
          <a:xfrm>
            <a:off x="680111" y="168915"/>
            <a:ext cx="1145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ALL</a:t>
            </a:r>
          </a:p>
        </p:txBody>
      </p:sp>
      <p:sp>
        <p:nvSpPr>
          <p:cNvPr id="26" name="Multiplication Sign 25">
            <a:extLst>
              <a:ext uri="{FF2B5EF4-FFF2-40B4-BE49-F238E27FC236}">
                <a16:creationId xmlns="" xmlns:a16="http://schemas.microsoft.com/office/drawing/2014/main" id="{B64867AD-B84F-49DF-3E9B-A1967457E1FA}"/>
              </a:ext>
            </a:extLst>
          </p:cNvPr>
          <p:cNvSpPr/>
          <p:nvPr/>
        </p:nvSpPr>
        <p:spPr>
          <a:xfrm>
            <a:off x="2017384" y="974799"/>
            <a:ext cx="283221" cy="250333"/>
          </a:xfrm>
          <a:prstGeom prst="mathMultiply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="" xmlns:a16="http://schemas.microsoft.com/office/drawing/2014/main" id="{969AC37F-1A00-A4B4-6415-B3095FEB7F94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1252793" y="692135"/>
            <a:ext cx="879695" cy="392867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42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12" grpId="0"/>
      <p:bldP spid="13" grpId="0" animBg="1"/>
      <p:bldP spid="20" grpId="0"/>
      <p:bldP spid="21" grpId="0" animBg="1"/>
      <p:bldP spid="25" grpId="0"/>
      <p:bldP spid="26" grpId="0" animBg="1"/>
    </p:bld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1773</TotalTime>
  <Words>948</Words>
  <Application>Microsoft Office PowerPoint</Application>
  <PresentationFormat>Expunere pe ecran (16:9)</PresentationFormat>
  <Paragraphs>237</Paragraphs>
  <Slides>23</Slides>
  <Notes>23</Notes>
  <HiddenSlides>3</HiddenSlides>
  <MMClips>0</MMClips>
  <ScaleCrop>false</ScaleCrop>
  <HeadingPairs>
    <vt:vector size="6" baseType="variant">
      <vt:variant>
        <vt:lpstr>Fonturi utilizate</vt:lpstr>
      </vt:variant>
      <vt:variant>
        <vt:i4>7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23</vt:i4>
      </vt:variant>
    </vt:vector>
  </HeadingPairs>
  <TitlesOfParts>
    <vt:vector size="31" baseType="lpstr">
      <vt:lpstr>Arial</vt:lpstr>
      <vt:lpstr>Cambria Math</vt:lpstr>
      <vt:lpstr>Karla Regular</vt:lpstr>
      <vt:lpstr>Roboto Condensed Light</vt:lpstr>
      <vt:lpstr>Lucida Sans</vt:lpstr>
      <vt:lpstr>Nunito</vt:lpstr>
      <vt:lpstr>Lucida Sans Typewriter</vt:lpstr>
      <vt:lpstr>Mathematics Subject for Middle School - 6th Grade: Algebra by Slidesgo</vt:lpstr>
      <vt:lpstr>Recap</vt:lpstr>
      <vt:lpstr>Reductions</vt:lpstr>
      <vt:lpstr>Contents</vt:lpstr>
      <vt:lpstr>String prefix</vt:lpstr>
      <vt:lpstr>Substring</vt:lpstr>
      <vt:lpstr>Reducing SUBSTRING to PREFIX</vt:lpstr>
      <vt:lpstr>Mapping reductions</vt:lpstr>
      <vt:lpstr>Mapping reductions (2)</vt:lpstr>
      <vt:lpstr>“Hardness”</vt:lpstr>
      <vt:lpstr>“Hardness”</vt:lpstr>
      <vt:lpstr>ALL</vt:lpstr>
      <vt:lpstr>HALT〖 ≤〗_m ALL</vt:lpstr>
      <vt:lpstr>ANY</vt:lpstr>
      <vt:lpstr>HALT〖 ≤〗_m ANY</vt:lpstr>
      <vt:lpstr>Complement of a problem</vt:lpstr>
      <vt:lpstr>(HALT) ̅</vt:lpstr>
      <vt:lpstr>f∈R⇒f ̅∈R</vt:lpstr>
      <vt:lpstr>(f∈RE)∧(f ̅∈RE)⇒f∈R </vt:lpstr>
      <vt:lpstr>Prezentare PowerPoint</vt:lpstr>
      <vt:lpstr>Prezentare PowerPoint</vt:lpstr>
      <vt:lpstr>(ALL) ̅</vt:lpstr>
      <vt:lpstr>Prezentare PowerPoint</vt:lpstr>
      <vt:lpstr>Prezentare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Turing Machine</dc:title>
  <dc:creator>mihai</dc:creator>
  <cp:lastModifiedBy>adfafhdafhadjfh@outlook.com</cp:lastModifiedBy>
  <cp:revision>179</cp:revision>
  <dcterms:modified xsi:type="dcterms:W3CDTF">2022-11-06T22:55:34Z</dcterms:modified>
</cp:coreProperties>
</file>