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4"/>
  </p:notesMasterIdLst>
  <p:sldIdLst>
    <p:sldId id="257" r:id="rId2"/>
    <p:sldId id="256" r:id="rId3"/>
    <p:sldId id="322" r:id="rId4"/>
    <p:sldId id="331" r:id="rId5"/>
    <p:sldId id="356" r:id="rId6"/>
    <p:sldId id="328" r:id="rId7"/>
    <p:sldId id="357" r:id="rId8"/>
    <p:sldId id="349" r:id="rId9"/>
    <p:sldId id="348" r:id="rId10"/>
    <p:sldId id="358" r:id="rId11"/>
    <p:sldId id="359" r:id="rId12"/>
    <p:sldId id="351" r:id="rId13"/>
    <p:sldId id="329" r:id="rId14"/>
    <p:sldId id="360" r:id="rId15"/>
    <p:sldId id="361" r:id="rId16"/>
    <p:sldId id="362" r:id="rId17"/>
    <p:sldId id="352" r:id="rId18"/>
    <p:sldId id="365" r:id="rId19"/>
    <p:sldId id="367" r:id="rId20"/>
    <p:sldId id="368" r:id="rId21"/>
    <p:sldId id="369" r:id="rId22"/>
    <p:sldId id="370" r:id="rId23"/>
  </p:sldIdLst>
  <p:sldSz cx="9144000" cy="5143500" type="screen16x9"/>
  <p:notesSz cx="6858000" cy="9144000"/>
  <p:embeddedFontLst>
    <p:embeddedFont>
      <p:font typeface="Nunito" charset="0"/>
      <p:regular r:id="rId25"/>
      <p:bold r:id="rId26"/>
      <p:italic r:id="rId27"/>
      <p:boldItalic r:id="rId28"/>
    </p:embeddedFont>
    <p:embeddedFont>
      <p:font typeface="Karla" charset="0"/>
      <p:regular r:id="rId29"/>
      <p:bold r:id="rId30"/>
      <p:italic r:id="rId31"/>
      <p:boldItalic r:id="rId32"/>
    </p:embeddedFont>
    <p:embeddedFont>
      <p:font typeface="Roboto Condensed Light" charset="0"/>
      <p:regular r:id="rId33"/>
      <p:italic r:id="rId34"/>
    </p:embeddedFont>
    <p:embeddedFont>
      <p:font typeface="Karla Regular" charset="0"/>
      <p:regular r:id="rId35"/>
      <p:bold r:id="rId36"/>
      <p:boldItalic r:id="rId37"/>
    </p:embeddedFont>
    <p:embeddedFont>
      <p:font typeface="Lucida Sans Typewriter" charset="0"/>
      <p:regular r:id="rId38"/>
      <p:bold r:id="rId39"/>
      <p:italic r:id="rId40"/>
      <p:boldItalic r:id="rId41"/>
    </p:embeddedFont>
    <p:embeddedFont>
      <p:font typeface="Cambria Math" pitchFamily="18" charset="0"/>
      <p:regular r:id="rId42"/>
    </p:embeddedFont>
    <p:embeddedFont>
      <p:font typeface="Bauhaus 93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BD5"/>
    <a:srgbClr val="FC8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2CE07-CDC3-9AE5-EBAF-434C38019297}" v="71" dt="2022-10-28T08:44:32.558"/>
    <p1510:client id="{B6CB34CF-8FD8-E8B2-3FFD-74B1D02AFD76}" v="375" dt="2022-10-27T18:36:19.122"/>
    <p1510:client id="{B9B763B4-0420-0B68-19B6-7BB07F6B7C12}" v="1" dt="2022-10-28T08:46:23.755"/>
  </p1510:revLst>
</p1510:revInfo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18" autoAdjust="0"/>
  </p:normalViewPr>
  <p:slideViewPr>
    <p:cSldViewPr snapToGrid="0">
      <p:cViewPr varScale="1">
        <p:scale>
          <a:sx n="131" d="100"/>
          <a:sy n="131" d="100"/>
        </p:scale>
        <p:origin x="-450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6365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89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690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926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360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96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8286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7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141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602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131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28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672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344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772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055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867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049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54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27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27"/>
          <p:cNvSpPr/>
          <p:nvPr/>
        </p:nvSpPr>
        <p:spPr>
          <a:xfrm rot="10800000">
            <a:off x="8070742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9" name="Google Shape;1459;p27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1460" name="Google Shape;1460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057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1" name="Google Shape;661;p15"/>
          <p:cNvSpPr txBox="1">
            <a:spLocks noGrp="1"/>
          </p:cNvSpPr>
          <p:nvPr>
            <p:ph type="subTitle" idx="1"/>
          </p:nvPr>
        </p:nvSpPr>
        <p:spPr>
          <a:xfrm>
            <a:off x="2024825" y="3191100"/>
            <a:ext cx="50943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2" name="Google Shape;662;p15"/>
          <p:cNvGrpSpPr/>
          <p:nvPr/>
        </p:nvGrpSpPr>
        <p:grpSpPr>
          <a:xfrm>
            <a:off x="8058435" y="-451282"/>
            <a:ext cx="4287930" cy="3642388"/>
            <a:chOff x="4611450" y="3151300"/>
            <a:chExt cx="667725" cy="567200"/>
          </a:xfrm>
        </p:grpSpPr>
        <p:sp>
          <p:nvSpPr>
            <p:cNvPr id="663" name="Google Shape;663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15"/>
          <p:cNvGrpSpPr/>
          <p:nvPr/>
        </p:nvGrpSpPr>
        <p:grpSpPr>
          <a:xfrm>
            <a:off x="-3567940" y="1886243"/>
            <a:ext cx="4287930" cy="3642388"/>
            <a:chOff x="4611450" y="3151300"/>
            <a:chExt cx="667725" cy="567200"/>
          </a:xfrm>
        </p:grpSpPr>
        <p:sp>
          <p:nvSpPr>
            <p:cNvPr id="677" name="Google Shape;677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" name="Google Shape;690;p15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5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5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15"/>
          <p:cNvGrpSpPr/>
          <p:nvPr/>
        </p:nvGrpSpPr>
        <p:grpSpPr>
          <a:xfrm>
            <a:off x="-642305" y="394664"/>
            <a:ext cx="1051274" cy="787312"/>
            <a:chOff x="3585475" y="1537675"/>
            <a:chExt cx="649175" cy="486175"/>
          </a:xfrm>
        </p:grpSpPr>
        <p:sp>
          <p:nvSpPr>
            <p:cNvPr id="694" name="Google Shape;694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15"/>
          <p:cNvGrpSpPr/>
          <p:nvPr/>
        </p:nvGrpSpPr>
        <p:grpSpPr>
          <a:xfrm>
            <a:off x="7599532" y="4730176"/>
            <a:ext cx="1051274" cy="787312"/>
            <a:chOff x="3585475" y="1537675"/>
            <a:chExt cx="649175" cy="486175"/>
          </a:xfrm>
        </p:grpSpPr>
        <p:sp>
          <p:nvSpPr>
            <p:cNvPr id="715" name="Google Shape;715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727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3" r:id="rId4"/>
    <p:sldLayoutId id="2147483681" r:id="rId5"/>
    <p:sldLayoutId id="2147483682" r:id="rId6"/>
    <p:sldLayoutId id="2147483683" r:id="rId7"/>
    <p:sldLayoutId id="2147483686" r:id="rId8"/>
    <p:sldLayoutId id="214748368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1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EDDD984A-86E6-66BE-07E0-19DAD671B99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/>
                  <a:t>Multitape Turing Machines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/>
                  <a:t>Can be simulated by a single-tape machine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Turing Machines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/>
                      </a:rPr>
                      <m:t>Σ</m:t>
                    </m:r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0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/>
                  <a:t> can simulate other machines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Encoding Turing Machines as binary strings;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𝑒𝑛𝑐</m:t>
                    </m:r>
                    <m:d>
                      <m:dPr>
                        <m:ctrlPr>
                          <a:rPr lang="en-US" sz="1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𝑀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</a:rPr>
                      <m:t>01010100100110</m:t>
                    </m:r>
                    <m:r>
                      <a:rPr lang="en-US" sz="1600" b="0" i="1" smtClean="0">
                        <a:latin typeface="Cambria Math"/>
                      </a:rPr>
                      <m:t>…</m:t>
                    </m:r>
                  </m:oMath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The Universal Turing Machine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𝑒𝑛𝑐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/>
                      </a:rPr>
                      <m:t>≡</m:t>
                    </m:r>
                    <m:r>
                      <a:rPr lang="en-US" sz="1600" b="0" i="1" smtClean="0">
                        <a:latin typeface="Cambria Math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𝑤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DDD984A-86E6-66BE-07E0-19DAD671B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09B6C52-ECC3-8A00-CB65-D4F28094FEFD}"/>
              </a:ext>
            </a:extLst>
          </p:cNvPr>
          <p:cNvSpPr/>
          <p:nvPr/>
        </p:nvSpPr>
        <p:spPr>
          <a:xfrm>
            <a:off x="19811" y="20240"/>
            <a:ext cx="2616241" cy="5063365"/>
          </a:xfrm>
          <a:prstGeom prst="rect">
            <a:avLst/>
          </a:prstGeom>
          <a:pattFill prst="pct90">
            <a:fgClr>
              <a:schemeClr val="accent6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Undecidable</a:t>
            </a:r>
            <a:r>
              <a:rPr lang="en-US"/>
              <a:t> Problems</a:t>
            </a:r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23440"/>
            <a:ext cx="2034524" cy="371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err="1"/>
              <a:t>Analiza</a:t>
            </a:r>
            <a:r>
              <a:rPr lang="en-US" sz="1200"/>
              <a:t> </a:t>
            </a:r>
            <a:r>
              <a:rPr lang="en-US" sz="1200" err="1"/>
              <a:t>Algoritmilor</a:t>
            </a:r>
            <a:endParaRPr sz="120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5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E1C1B88-FDD2-3C51-1DE9-A622ADE03658}"/>
              </a:ext>
            </a:extLst>
          </p:cNvPr>
          <p:cNvGrpSpPr/>
          <p:nvPr/>
        </p:nvGrpSpPr>
        <p:grpSpPr>
          <a:xfrm>
            <a:off x="172037" y="1492632"/>
            <a:ext cx="2221593" cy="2117272"/>
            <a:chOff x="598394" y="1211418"/>
            <a:chExt cx="2743200" cy="27432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8480A583-5E37-729A-A841-C3CA2F03B465}"/>
                </a:ext>
              </a:extLst>
            </p:cNvPr>
            <p:cNvSpPr>
              <a:spLocks/>
            </p:cNvSpPr>
            <p:nvPr/>
          </p:nvSpPr>
          <p:spPr>
            <a:xfrm>
              <a:off x="598394" y="1211418"/>
              <a:ext cx="2743200" cy="2743200"/>
            </a:xfrm>
            <a:prstGeom prst="ellipse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59BDCDE0-B056-CD9E-B5F6-D560DB674D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65695" y="2215481"/>
              <a:ext cx="1423859" cy="142385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bg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>
                  <a:solidFill>
                    <a:schemeClr val="tx1"/>
                  </a:solidFill>
                </a:rPr>
                <a:t>R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95F7DF3-3010-8BDB-448B-1B096885B20D}"/>
              </a:ext>
            </a:extLst>
          </p:cNvPr>
          <p:cNvSpPr txBox="1"/>
          <p:nvPr/>
        </p:nvSpPr>
        <p:spPr>
          <a:xfrm>
            <a:off x="701363" y="1500082"/>
            <a:ext cx="1113834" cy="144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2239" name="Google Shape;2239;p41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sz="1400" dirty="0"/>
              <a:t>Cardinality</a:t>
            </a:r>
            <a:endParaRPr lang="en-US" sz="1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Even numbers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Integers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Binary strings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Reals in [0, 1)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Turing Machines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Decision problems</a:t>
            </a:r>
          </a:p>
          <a:p>
            <a:pPr>
              <a:lnSpc>
                <a:spcPct val="150000"/>
              </a:lnSpc>
            </a:pPr>
            <a:r>
              <a:rPr lang="en" sz="1400" dirty="0"/>
              <a:t>There exist undecidable problems</a:t>
            </a:r>
          </a:p>
          <a:p>
            <a:pPr>
              <a:lnSpc>
                <a:spcPct val="150000"/>
              </a:lnSpc>
            </a:pPr>
            <a:r>
              <a:rPr lang="en" sz="1400" dirty="0"/>
              <a:t>The Halting Problem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The Halting problem is undecidable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" sz="1200" dirty="0"/>
              <a:t>The Halting problem is acceptable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Cardinality</a:t>
            </a:r>
            <a:endParaRPr lang="en-US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xmlns="" id="{9C0744AB-6884-37CC-839E-48CF65D6DAE7}"/>
              </a:ext>
            </a:extLst>
          </p:cNvPr>
          <p:cNvSpPr/>
          <p:nvPr/>
        </p:nvSpPr>
        <p:spPr>
          <a:xfrm>
            <a:off x="1277148" y="1017725"/>
            <a:ext cx="2765685" cy="302359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xmlns="" id="{8053C1E4-9D36-EB98-E85E-4742ABCD93FD}"/>
              </a:ext>
            </a:extLst>
          </p:cNvPr>
          <p:cNvSpPr/>
          <p:nvPr/>
        </p:nvSpPr>
        <p:spPr>
          <a:xfrm>
            <a:off x="5259535" y="1017725"/>
            <a:ext cx="2765685" cy="3023593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DA7D8816-5473-4F0F-ACFF-F2297A0C0806}"/>
              </a:ext>
            </a:extLst>
          </p:cNvPr>
          <p:cNvSpPr/>
          <p:nvPr/>
        </p:nvSpPr>
        <p:spPr>
          <a:xfrm>
            <a:off x="2056637" y="1719116"/>
            <a:ext cx="367259" cy="3522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xmlns="" id="{7DC7E006-9331-937D-E3B9-7F470E9B7EE5}"/>
              </a:ext>
            </a:extLst>
          </p:cNvPr>
          <p:cNvSpPr/>
          <p:nvPr/>
        </p:nvSpPr>
        <p:spPr>
          <a:xfrm>
            <a:off x="2322712" y="3015128"/>
            <a:ext cx="337278" cy="3597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xmlns="" id="{FEBADF9B-5FAD-9063-5CF6-37A3F623D29D}"/>
              </a:ext>
            </a:extLst>
          </p:cNvPr>
          <p:cNvSpPr/>
          <p:nvPr/>
        </p:nvSpPr>
        <p:spPr>
          <a:xfrm>
            <a:off x="2881095" y="2254702"/>
            <a:ext cx="367259" cy="404734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5A1949C-AD1A-3EB7-4674-A3AA61D924C6}"/>
              </a:ext>
            </a:extLst>
          </p:cNvPr>
          <p:cNvSpPr txBox="1"/>
          <p:nvPr/>
        </p:nvSpPr>
        <p:spPr>
          <a:xfrm>
            <a:off x="6040273" y="1644139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7008FD6-A63E-88B8-E7C6-EFA63154629E}"/>
              </a:ext>
            </a:extLst>
          </p:cNvPr>
          <p:cNvSpPr txBox="1"/>
          <p:nvPr/>
        </p:nvSpPr>
        <p:spPr>
          <a:xfrm>
            <a:off x="5669267" y="2798302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BBC104E-E564-8B21-A986-9F385CE88CF0}"/>
              </a:ext>
            </a:extLst>
          </p:cNvPr>
          <p:cNvSpPr txBox="1"/>
          <p:nvPr/>
        </p:nvSpPr>
        <p:spPr>
          <a:xfrm>
            <a:off x="6642377" y="2377003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82746235-84A4-75A1-299B-3A6885A1245F}"/>
              </a:ext>
            </a:extLst>
          </p:cNvPr>
          <p:cNvCxnSpPr>
            <a:endCxn id="15" idx="1"/>
          </p:cNvCxnSpPr>
          <p:nvPr/>
        </p:nvCxnSpPr>
        <p:spPr>
          <a:xfrm>
            <a:off x="2423896" y="1776577"/>
            <a:ext cx="3616377" cy="983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68A8FD9B-8511-00EF-9939-B92AF7C5ECAF}"/>
              </a:ext>
            </a:extLst>
          </p:cNvPr>
          <p:cNvCxnSpPr>
            <a:cxnSpLocks/>
            <a:stCxn id="10" idx="5"/>
            <a:endCxn id="16" idx="1"/>
          </p:cNvCxnSpPr>
          <p:nvPr/>
        </p:nvCxnSpPr>
        <p:spPr>
          <a:xfrm flipV="1">
            <a:off x="2575671" y="3029135"/>
            <a:ext cx="3093596" cy="1658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FAC26FE2-C279-1C2E-FBCB-AAF7F1DB7C57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3248354" y="2457069"/>
            <a:ext cx="3394023" cy="1507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52C9D463-6DB5-F89A-7764-EFF7444CB56D}"/>
              </a:ext>
            </a:extLst>
          </p:cNvPr>
          <p:cNvCxnSpPr>
            <a:cxnSpLocks/>
            <a:stCxn id="9" idx="6"/>
            <a:endCxn id="17" idx="1"/>
          </p:cNvCxnSpPr>
          <p:nvPr/>
        </p:nvCxnSpPr>
        <p:spPr>
          <a:xfrm>
            <a:off x="2423896" y="1895250"/>
            <a:ext cx="4218481" cy="71258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E388F1C0-0003-820A-CC09-66027459E5B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248354" y="1996456"/>
            <a:ext cx="2791919" cy="46061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6D7CAA99-A161-4356-6F97-A11144B3F7E6}"/>
              </a:ext>
            </a:extLst>
          </p:cNvPr>
          <p:cNvGrpSpPr>
            <a:grpSpLocks noChangeAspect="1"/>
          </p:cNvGrpSpPr>
          <p:nvPr/>
        </p:nvGrpSpPr>
        <p:grpSpPr>
          <a:xfrm>
            <a:off x="3302881" y="4172295"/>
            <a:ext cx="580648" cy="634795"/>
            <a:chOff x="3012790" y="3267209"/>
            <a:chExt cx="2765685" cy="3023593"/>
          </a:xfrm>
        </p:grpSpPr>
        <p:sp>
          <p:nvSpPr>
            <p:cNvPr id="34" name="Cloud 33">
              <a:extLst>
                <a:ext uri="{FF2B5EF4-FFF2-40B4-BE49-F238E27FC236}">
                  <a16:creationId xmlns:a16="http://schemas.microsoft.com/office/drawing/2014/main" xmlns="" id="{BCEF5600-84EC-09F5-8317-96B61D22D3A2}"/>
                </a:ext>
              </a:extLst>
            </p:cNvPr>
            <p:cNvSpPr/>
            <p:nvPr/>
          </p:nvSpPr>
          <p:spPr>
            <a:xfrm>
              <a:off x="3012790" y="3267209"/>
              <a:ext cx="2765685" cy="3023593"/>
            </a:xfrm>
            <a:prstGeom prst="clou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30A00B50-161C-0ECB-E49E-7B299CC3089F}"/>
                </a:ext>
              </a:extLst>
            </p:cNvPr>
            <p:cNvSpPr/>
            <p:nvPr/>
          </p:nvSpPr>
          <p:spPr>
            <a:xfrm>
              <a:off x="3792279" y="3968600"/>
              <a:ext cx="367259" cy="35226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xmlns="" id="{CE7067BB-E50A-9EA7-2C73-E25748871061}"/>
                </a:ext>
              </a:extLst>
            </p:cNvPr>
            <p:cNvSpPr/>
            <p:nvPr/>
          </p:nvSpPr>
          <p:spPr>
            <a:xfrm>
              <a:off x="4058354" y="5264612"/>
              <a:ext cx="337278" cy="35976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xmlns="" id="{E3537B7C-37E3-1ECC-4FBD-D742171D56E2}"/>
                </a:ext>
              </a:extLst>
            </p:cNvPr>
            <p:cNvSpPr/>
            <p:nvPr/>
          </p:nvSpPr>
          <p:spPr>
            <a:xfrm>
              <a:off x="4616737" y="4504186"/>
              <a:ext cx="367259" cy="404734"/>
            </a:xfrm>
            <a:prstGeom prst="diamon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1372F644-BC51-FD67-79E1-B2B915092CA7}"/>
              </a:ext>
            </a:extLst>
          </p:cNvPr>
          <p:cNvGrpSpPr>
            <a:grpSpLocks noChangeAspect="1"/>
          </p:cNvGrpSpPr>
          <p:nvPr/>
        </p:nvGrpSpPr>
        <p:grpSpPr>
          <a:xfrm>
            <a:off x="5234719" y="4144757"/>
            <a:ext cx="632152" cy="686932"/>
            <a:chOff x="5371475" y="1447200"/>
            <a:chExt cx="2782473" cy="3023593"/>
          </a:xfrm>
        </p:grpSpPr>
        <p:sp>
          <p:nvSpPr>
            <p:cNvPr id="39" name="Cloud 38">
              <a:extLst>
                <a:ext uri="{FF2B5EF4-FFF2-40B4-BE49-F238E27FC236}">
                  <a16:creationId xmlns:a16="http://schemas.microsoft.com/office/drawing/2014/main" xmlns="" id="{0312B9D9-2080-45B1-CDF6-F28D552D8706}"/>
                </a:ext>
              </a:extLst>
            </p:cNvPr>
            <p:cNvSpPr/>
            <p:nvPr/>
          </p:nvSpPr>
          <p:spPr>
            <a:xfrm>
              <a:off x="5371475" y="1447200"/>
              <a:ext cx="2765685" cy="3023593"/>
            </a:xfrm>
            <a:prstGeom prst="clou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4B8E0635-021D-A998-1E12-8D61B7ABCCBB}"/>
                </a:ext>
              </a:extLst>
            </p:cNvPr>
            <p:cNvSpPr txBox="1"/>
            <p:nvPr/>
          </p:nvSpPr>
          <p:spPr>
            <a:xfrm>
              <a:off x="6152207" y="2073612"/>
              <a:ext cx="1113016" cy="74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/>
                <a:t>34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709BB0FA-2D1A-BA1E-57B4-5F3E8D68DBC7}"/>
                </a:ext>
              </a:extLst>
            </p:cNvPr>
            <p:cNvSpPr txBox="1"/>
            <p:nvPr/>
          </p:nvSpPr>
          <p:spPr>
            <a:xfrm>
              <a:off x="5685027" y="3120755"/>
              <a:ext cx="1946981" cy="812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118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E73F1A1C-B735-9083-4338-A07D04FF6B7A}"/>
                </a:ext>
              </a:extLst>
            </p:cNvPr>
            <p:cNvSpPr txBox="1"/>
            <p:nvPr/>
          </p:nvSpPr>
          <p:spPr>
            <a:xfrm>
              <a:off x="6501279" y="2806719"/>
              <a:ext cx="1652669" cy="812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62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6CCE5FA8-3A1E-B67F-6E0C-1C5AE9D794D9}"/>
                  </a:ext>
                </a:extLst>
              </p:cNvPr>
              <p:cNvSpPr txBox="1"/>
              <p:nvPr/>
            </p:nvSpPr>
            <p:spPr>
              <a:xfrm>
                <a:off x="2825784" y="4016496"/>
                <a:ext cx="6927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CCE5FA8-3A1E-B67F-6E0C-1C5AE9D79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84" y="4016496"/>
                <a:ext cx="692796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7C5308BC-F2E4-E9D8-AEA8-1B1F3693BB80}"/>
                  </a:ext>
                </a:extLst>
              </p:cNvPr>
              <p:cNvSpPr txBox="1"/>
              <p:nvPr/>
            </p:nvSpPr>
            <p:spPr>
              <a:xfrm>
                <a:off x="3593205" y="4016496"/>
                <a:ext cx="1957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|=|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5308BC-F2E4-E9D8-AEA8-1B1F3693B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05" y="4016496"/>
                <a:ext cx="1957590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F84FCCBA-D22C-49D5-B715-9260B17F9E2D}"/>
                  </a:ext>
                </a:extLst>
              </p:cNvPr>
              <p:cNvSpPr txBox="1"/>
              <p:nvPr/>
            </p:nvSpPr>
            <p:spPr>
              <a:xfrm>
                <a:off x="5694034" y="4016495"/>
                <a:ext cx="6927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84FCCBA-D22C-49D5-B715-9260B17F9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034" y="4016495"/>
                <a:ext cx="692796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9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5" grpId="0"/>
      <p:bldP spid="16" grpId="0"/>
      <p:bldP spid="17" grpId="0"/>
      <p:bldP spid="44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Cardinality (2)</a:t>
            </a:r>
            <a:endParaRPr lang="en-US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xmlns="" id="{9C0744AB-6884-37CC-839E-48CF65D6DAE7}"/>
              </a:ext>
            </a:extLst>
          </p:cNvPr>
          <p:cNvSpPr/>
          <p:nvPr/>
        </p:nvSpPr>
        <p:spPr>
          <a:xfrm>
            <a:off x="1277148" y="1017725"/>
            <a:ext cx="2765685" cy="302359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xmlns="" id="{8053C1E4-9D36-EB98-E85E-4742ABCD93FD}"/>
              </a:ext>
            </a:extLst>
          </p:cNvPr>
          <p:cNvSpPr/>
          <p:nvPr/>
        </p:nvSpPr>
        <p:spPr>
          <a:xfrm>
            <a:off x="5259535" y="1017725"/>
            <a:ext cx="2765685" cy="3023593"/>
          </a:xfrm>
          <a:prstGeom prst="cloud">
            <a:avLst/>
          </a:prstGeom>
          <a:solidFill>
            <a:srgbClr val="EBFBD5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DA7D8816-5473-4F0F-ACFF-F2297A0C0806}"/>
              </a:ext>
            </a:extLst>
          </p:cNvPr>
          <p:cNvSpPr/>
          <p:nvPr/>
        </p:nvSpPr>
        <p:spPr>
          <a:xfrm>
            <a:off x="2056637" y="1719116"/>
            <a:ext cx="367259" cy="35226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xmlns="" id="{7DC7E006-9331-937D-E3B9-7F470E9B7EE5}"/>
              </a:ext>
            </a:extLst>
          </p:cNvPr>
          <p:cNvSpPr/>
          <p:nvPr/>
        </p:nvSpPr>
        <p:spPr>
          <a:xfrm>
            <a:off x="2322712" y="3015128"/>
            <a:ext cx="337278" cy="3597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xmlns="" id="{FEBADF9B-5FAD-9063-5CF6-37A3F623D29D}"/>
              </a:ext>
            </a:extLst>
          </p:cNvPr>
          <p:cNvSpPr/>
          <p:nvPr/>
        </p:nvSpPr>
        <p:spPr>
          <a:xfrm>
            <a:off x="2881095" y="2254702"/>
            <a:ext cx="367259" cy="404734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5A1949C-AD1A-3EB7-4674-A3AA61D924C6}"/>
              </a:ext>
            </a:extLst>
          </p:cNvPr>
          <p:cNvSpPr txBox="1"/>
          <p:nvPr/>
        </p:nvSpPr>
        <p:spPr>
          <a:xfrm>
            <a:off x="6040273" y="1644139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7008FD6-A63E-88B8-E7C6-EFA63154629E}"/>
              </a:ext>
            </a:extLst>
          </p:cNvPr>
          <p:cNvSpPr txBox="1"/>
          <p:nvPr/>
        </p:nvSpPr>
        <p:spPr>
          <a:xfrm>
            <a:off x="5748291" y="2654684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BBC104E-E564-8B21-A986-9F385CE88CF0}"/>
              </a:ext>
            </a:extLst>
          </p:cNvPr>
          <p:cNvSpPr txBox="1"/>
          <p:nvPr/>
        </p:nvSpPr>
        <p:spPr>
          <a:xfrm>
            <a:off x="7013383" y="2061661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6D7CAA99-A161-4356-6F97-A11144B3F7E6}"/>
              </a:ext>
            </a:extLst>
          </p:cNvPr>
          <p:cNvGrpSpPr>
            <a:grpSpLocks noChangeAspect="1"/>
          </p:cNvGrpSpPr>
          <p:nvPr/>
        </p:nvGrpSpPr>
        <p:grpSpPr>
          <a:xfrm>
            <a:off x="3302881" y="4172295"/>
            <a:ext cx="580648" cy="634795"/>
            <a:chOff x="3012790" y="3267209"/>
            <a:chExt cx="2765685" cy="3023593"/>
          </a:xfrm>
        </p:grpSpPr>
        <p:sp>
          <p:nvSpPr>
            <p:cNvPr id="34" name="Cloud 33">
              <a:extLst>
                <a:ext uri="{FF2B5EF4-FFF2-40B4-BE49-F238E27FC236}">
                  <a16:creationId xmlns:a16="http://schemas.microsoft.com/office/drawing/2014/main" xmlns="" id="{BCEF5600-84EC-09F5-8317-96B61D22D3A2}"/>
                </a:ext>
              </a:extLst>
            </p:cNvPr>
            <p:cNvSpPr/>
            <p:nvPr/>
          </p:nvSpPr>
          <p:spPr>
            <a:xfrm>
              <a:off x="3012790" y="3267209"/>
              <a:ext cx="2765685" cy="3023593"/>
            </a:xfrm>
            <a:prstGeom prst="clou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30A00B50-161C-0ECB-E49E-7B299CC3089F}"/>
                </a:ext>
              </a:extLst>
            </p:cNvPr>
            <p:cNvSpPr/>
            <p:nvPr/>
          </p:nvSpPr>
          <p:spPr>
            <a:xfrm>
              <a:off x="3792279" y="3968600"/>
              <a:ext cx="367259" cy="35226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xmlns="" id="{CE7067BB-E50A-9EA7-2C73-E25748871061}"/>
                </a:ext>
              </a:extLst>
            </p:cNvPr>
            <p:cNvSpPr/>
            <p:nvPr/>
          </p:nvSpPr>
          <p:spPr>
            <a:xfrm>
              <a:off x="4058354" y="5264612"/>
              <a:ext cx="337278" cy="35976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xmlns="" id="{E3537B7C-37E3-1ECC-4FBD-D742171D56E2}"/>
                </a:ext>
              </a:extLst>
            </p:cNvPr>
            <p:cNvSpPr/>
            <p:nvPr/>
          </p:nvSpPr>
          <p:spPr>
            <a:xfrm>
              <a:off x="4616737" y="4504186"/>
              <a:ext cx="367259" cy="404734"/>
            </a:xfrm>
            <a:prstGeom prst="diamond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6CCE5FA8-3A1E-B67F-6E0C-1C5AE9D794D9}"/>
                  </a:ext>
                </a:extLst>
              </p:cNvPr>
              <p:cNvSpPr txBox="1"/>
              <p:nvPr/>
            </p:nvSpPr>
            <p:spPr>
              <a:xfrm>
                <a:off x="2825784" y="4016496"/>
                <a:ext cx="6927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CCE5FA8-3A1E-B67F-6E0C-1C5AE9D79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84" y="4016496"/>
                <a:ext cx="692796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7C5308BC-F2E4-E9D8-AEA8-1B1F3693BB80}"/>
                  </a:ext>
                </a:extLst>
              </p:cNvPr>
              <p:cNvSpPr txBox="1"/>
              <p:nvPr/>
            </p:nvSpPr>
            <p:spPr>
              <a:xfrm>
                <a:off x="3593205" y="4016496"/>
                <a:ext cx="1957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|≠|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5308BC-F2E4-E9D8-AEA8-1B1F3693B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05" y="4016496"/>
                <a:ext cx="1957590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F84FCCBA-D22C-49D5-B715-9260B17F9E2D}"/>
                  </a:ext>
                </a:extLst>
              </p:cNvPr>
              <p:cNvSpPr txBox="1"/>
              <p:nvPr/>
            </p:nvSpPr>
            <p:spPr>
              <a:xfrm>
                <a:off x="5694034" y="4016495"/>
                <a:ext cx="6927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84FCCBA-D22C-49D5-B715-9260B17F9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034" y="4016495"/>
                <a:ext cx="692796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EDB2209-4C17-B769-D8F8-9C26B2D0692D}"/>
              </a:ext>
            </a:extLst>
          </p:cNvPr>
          <p:cNvSpPr txBox="1"/>
          <p:nvPr/>
        </p:nvSpPr>
        <p:spPr>
          <a:xfrm>
            <a:off x="6642377" y="3106210"/>
            <a:ext cx="74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2EEF5BED-3C0C-043A-2848-EB94F32738D2}"/>
              </a:ext>
            </a:extLst>
          </p:cNvPr>
          <p:cNvGrpSpPr>
            <a:grpSpLocks noChangeAspect="1"/>
          </p:cNvGrpSpPr>
          <p:nvPr/>
        </p:nvGrpSpPr>
        <p:grpSpPr>
          <a:xfrm>
            <a:off x="5229653" y="4192939"/>
            <a:ext cx="598721" cy="654553"/>
            <a:chOff x="6078730" y="2648488"/>
            <a:chExt cx="2765685" cy="3023593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xmlns="" id="{C1466C8C-568A-4ADF-5527-4DFDF1F1A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8730" y="2648488"/>
              <a:ext cx="2765685" cy="3023593"/>
            </a:xfrm>
            <a:prstGeom prst="cloud">
              <a:avLst/>
            </a:prstGeom>
            <a:solidFill>
              <a:srgbClr val="EBFBD5"/>
            </a:solidFill>
            <a:ln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47127784-8A08-5844-6445-282F9E8FCA1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50517" y="3134473"/>
              <a:ext cx="742011" cy="853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3A2FC082-E22B-8466-7FE1-7B3762F59DA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408379" y="4167073"/>
              <a:ext cx="742011" cy="853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c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8C0B00CB-5DC7-3C92-C060-E9CA7205403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57826" y="3582220"/>
              <a:ext cx="742011" cy="853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3575A2C6-0001-61E6-C8A0-3B1FD2E62C8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46027" y="4473491"/>
              <a:ext cx="742011" cy="853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08E9E0D3-F624-8D4C-85BB-7E252B067538}"/>
                  </a:ext>
                </a:extLst>
              </p:cNvPr>
              <p:cNvSpPr txBox="1"/>
              <p:nvPr/>
            </p:nvSpPr>
            <p:spPr>
              <a:xfrm>
                <a:off x="3593205" y="4016494"/>
                <a:ext cx="1957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|≤|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8E9E0D3-F624-8D4C-85BB-7E252B067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05" y="4016494"/>
                <a:ext cx="195759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269DD230-36A8-264E-4298-2AB13C46357C}"/>
              </a:ext>
            </a:extLst>
          </p:cNvPr>
          <p:cNvCxnSpPr>
            <a:cxnSpLocks/>
            <a:stCxn id="9" idx="6"/>
            <a:endCxn id="17" idx="1"/>
          </p:cNvCxnSpPr>
          <p:nvPr/>
        </p:nvCxnSpPr>
        <p:spPr>
          <a:xfrm>
            <a:off x="2423896" y="1895250"/>
            <a:ext cx="4589487" cy="3972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66E1783F-977B-F667-1278-B8A28B41104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248354" y="2488816"/>
            <a:ext cx="2499937" cy="396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C163B827-8C1A-CBB3-DCCC-308E1A3E5FF2}"/>
              </a:ext>
            </a:extLst>
          </p:cNvPr>
          <p:cNvCxnSpPr>
            <a:cxnSpLocks/>
            <a:stCxn id="10" idx="5"/>
            <a:endCxn id="2" idx="1"/>
          </p:cNvCxnSpPr>
          <p:nvPr/>
        </p:nvCxnSpPr>
        <p:spPr>
          <a:xfrm>
            <a:off x="2575671" y="3195010"/>
            <a:ext cx="4066706" cy="1420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D57C51AD-48D4-3C71-0F57-1001EC0B0832}"/>
                  </a:ext>
                </a:extLst>
              </p:cNvPr>
              <p:cNvSpPr txBox="1"/>
              <p:nvPr/>
            </p:nvSpPr>
            <p:spPr>
              <a:xfrm>
                <a:off x="3593205" y="4016493"/>
                <a:ext cx="19575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|&lt;|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57C51AD-48D4-3C71-0F57-1001EC0B0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05" y="4016493"/>
                <a:ext cx="195759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0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6" grpId="0"/>
      <p:bldP spid="17" grpId="0"/>
      <p:bldP spid="44" grpId="0"/>
      <p:bldP spid="45" grpId="0"/>
      <p:bldP spid="45" grpId="1"/>
      <p:bldP spid="46" grpId="0"/>
      <p:bldP spid="2" grpId="0"/>
      <p:bldP spid="27" grpId="0"/>
      <p:bldP spid="27" grpId="1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Cardinality of infinite sets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99C5A1F-F922-A631-2DC0-F1E637D73387}"/>
              </a:ext>
            </a:extLst>
          </p:cNvPr>
          <p:cNvSpPr txBox="1"/>
          <p:nvPr/>
        </p:nvSpPr>
        <p:spPr>
          <a:xfrm>
            <a:off x="1958272" y="1569855"/>
            <a:ext cx="20149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3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7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9</a:t>
            </a:r>
          </a:p>
          <a:p>
            <a:r>
              <a:rPr lang="en-US" sz="1800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0E51B4-95E3-27BD-04E9-B87025090E7A}"/>
              </a:ext>
            </a:extLst>
          </p:cNvPr>
          <p:cNvSpPr txBox="1"/>
          <p:nvPr/>
        </p:nvSpPr>
        <p:spPr>
          <a:xfrm>
            <a:off x="6480371" y="1569855"/>
            <a:ext cx="20149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10</a:t>
            </a:r>
          </a:p>
          <a:p>
            <a:r>
              <a:rPr lang="en-US" sz="1800" dirty="0"/>
              <a:t>12</a:t>
            </a:r>
          </a:p>
          <a:p>
            <a:r>
              <a:rPr lang="en-US" sz="1800" dirty="0"/>
              <a:t>14</a:t>
            </a:r>
          </a:p>
          <a:p>
            <a:r>
              <a:rPr lang="en-US" sz="1800" dirty="0"/>
              <a:t>16</a:t>
            </a:r>
          </a:p>
          <a:p>
            <a:r>
              <a:rPr lang="en-US" sz="1800" dirty="0"/>
              <a:t>18</a:t>
            </a:r>
          </a:p>
          <a:p>
            <a:r>
              <a:rPr lang="en-US" sz="18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CDA6ED1-4C38-8078-9CF4-93C8A07EDB6B}"/>
                  </a:ext>
                </a:extLst>
              </p:cNvPr>
              <p:cNvSpPr txBox="1"/>
              <p:nvPr/>
            </p:nvSpPr>
            <p:spPr>
              <a:xfrm>
                <a:off x="1958273" y="1198931"/>
                <a:ext cx="5017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DA6ED1-4C38-8078-9CF4-93C8A07ED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273" y="1198931"/>
                <a:ext cx="50170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16154983-23D1-1EA7-DDA5-79B40932F5BD}"/>
              </a:ext>
            </a:extLst>
          </p:cNvPr>
          <p:cNvCxnSpPr>
            <a:cxnSpLocks/>
          </p:cNvCxnSpPr>
          <p:nvPr/>
        </p:nvCxnSpPr>
        <p:spPr>
          <a:xfrm>
            <a:off x="2330506" y="176406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060A5E53-A8D9-1F73-E006-335FA2D8B3B2}"/>
              </a:ext>
            </a:extLst>
          </p:cNvPr>
          <p:cNvCxnSpPr>
            <a:cxnSpLocks/>
          </p:cNvCxnSpPr>
          <p:nvPr/>
        </p:nvCxnSpPr>
        <p:spPr>
          <a:xfrm>
            <a:off x="2330506" y="2045937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8B38A0E9-AF6A-3705-D7AC-577059CACD25}"/>
              </a:ext>
            </a:extLst>
          </p:cNvPr>
          <p:cNvCxnSpPr>
            <a:cxnSpLocks/>
          </p:cNvCxnSpPr>
          <p:nvPr/>
        </p:nvCxnSpPr>
        <p:spPr>
          <a:xfrm>
            <a:off x="2330506" y="2319717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C5B8FA36-F2B8-8938-9CC7-C2A548CC8886}"/>
              </a:ext>
            </a:extLst>
          </p:cNvPr>
          <p:cNvCxnSpPr>
            <a:cxnSpLocks/>
          </p:cNvCxnSpPr>
          <p:nvPr/>
        </p:nvCxnSpPr>
        <p:spPr>
          <a:xfrm>
            <a:off x="2330506" y="258793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5D496F1A-7EFD-91EF-7861-7690D9DB65BF}"/>
              </a:ext>
            </a:extLst>
          </p:cNvPr>
          <p:cNvCxnSpPr>
            <a:cxnSpLocks/>
          </p:cNvCxnSpPr>
          <p:nvPr/>
        </p:nvCxnSpPr>
        <p:spPr>
          <a:xfrm>
            <a:off x="2330506" y="286171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4E424C-1D1A-1BF8-3A37-F92FB838B7D2}"/>
              </a:ext>
            </a:extLst>
          </p:cNvPr>
          <p:cNvCxnSpPr>
            <a:cxnSpLocks/>
          </p:cNvCxnSpPr>
          <p:nvPr/>
        </p:nvCxnSpPr>
        <p:spPr>
          <a:xfrm>
            <a:off x="2330506" y="3151679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6842AC32-1097-A7A1-CE10-4E68D79BE869}"/>
              </a:ext>
            </a:extLst>
          </p:cNvPr>
          <p:cNvCxnSpPr>
            <a:cxnSpLocks/>
          </p:cNvCxnSpPr>
          <p:nvPr/>
        </p:nvCxnSpPr>
        <p:spPr>
          <a:xfrm>
            <a:off x="2330506" y="3417368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3FD267A1-BB23-8AD1-A44D-509F6CEE3396}"/>
              </a:ext>
            </a:extLst>
          </p:cNvPr>
          <p:cNvCxnSpPr>
            <a:cxnSpLocks/>
          </p:cNvCxnSpPr>
          <p:nvPr/>
        </p:nvCxnSpPr>
        <p:spPr>
          <a:xfrm>
            <a:off x="2330506" y="367496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2F9C537A-9EE7-FB61-E478-C8B585FF60EF}"/>
              </a:ext>
            </a:extLst>
          </p:cNvPr>
          <p:cNvCxnSpPr>
            <a:cxnSpLocks/>
          </p:cNvCxnSpPr>
          <p:nvPr/>
        </p:nvCxnSpPr>
        <p:spPr>
          <a:xfrm>
            <a:off x="2330506" y="3964928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C9B2AF8C-1358-32CF-D7E0-2B71ACB50ED6}"/>
              </a:ext>
            </a:extLst>
          </p:cNvPr>
          <p:cNvCxnSpPr>
            <a:cxnSpLocks/>
          </p:cNvCxnSpPr>
          <p:nvPr/>
        </p:nvCxnSpPr>
        <p:spPr>
          <a:xfrm>
            <a:off x="2330506" y="4238709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F0D06BB4-F0FE-CFF7-4B23-91F6261868BA}"/>
                  </a:ext>
                </a:extLst>
              </p:cNvPr>
              <p:cNvSpPr txBox="1"/>
              <p:nvPr/>
            </p:nvSpPr>
            <p:spPr>
              <a:xfrm>
                <a:off x="6480371" y="1235157"/>
                <a:ext cx="36589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𝔼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D06BB4-F0FE-CFF7-4B23-91F626186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371" y="1235157"/>
                <a:ext cx="365894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9EF9D3F9-1723-AEC5-B4DB-C0611420FDA2}"/>
                  </a:ext>
                </a:extLst>
              </p:cNvPr>
              <p:cNvSpPr txBox="1"/>
              <p:nvPr/>
            </p:nvSpPr>
            <p:spPr>
              <a:xfrm>
                <a:off x="3595224" y="4359634"/>
                <a:ext cx="19578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F9D3F9-1723-AEC5-B4DB-C0611420F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24" y="4359634"/>
                <a:ext cx="195785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Cardinality of the integers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99C5A1F-F922-A631-2DC0-F1E637D73387}"/>
              </a:ext>
            </a:extLst>
          </p:cNvPr>
          <p:cNvSpPr txBox="1"/>
          <p:nvPr/>
        </p:nvSpPr>
        <p:spPr>
          <a:xfrm>
            <a:off x="1958272" y="1569855"/>
            <a:ext cx="20149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3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7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9</a:t>
            </a:r>
          </a:p>
          <a:p>
            <a:r>
              <a:rPr lang="en-US" sz="18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CDA6ED1-4C38-8078-9CF4-93C8A07EDB6B}"/>
                  </a:ext>
                </a:extLst>
              </p:cNvPr>
              <p:cNvSpPr txBox="1"/>
              <p:nvPr/>
            </p:nvSpPr>
            <p:spPr>
              <a:xfrm>
                <a:off x="1958273" y="1198931"/>
                <a:ext cx="5017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DA6ED1-4C38-8078-9CF4-93C8A07ED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273" y="1198931"/>
                <a:ext cx="50170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F0D06BB4-F0FE-CFF7-4B23-91F6261868BA}"/>
                  </a:ext>
                </a:extLst>
              </p:cNvPr>
              <p:cNvSpPr txBox="1"/>
              <p:nvPr/>
            </p:nvSpPr>
            <p:spPr>
              <a:xfrm>
                <a:off x="6480371" y="1235157"/>
                <a:ext cx="36589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i="1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D06BB4-F0FE-CFF7-4B23-91F626186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371" y="1235157"/>
                <a:ext cx="365894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14422B8-6F4C-B074-AA5A-02C19ACF6B49}"/>
              </a:ext>
            </a:extLst>
          </p:cNvPr>
          <p:cNvSpPr txBox="1"/>
          <p:nvPr/>
        </p:nvSpPr>
        <p:spPr>
          <a:xfrm>
            <a:off x="6480370" y="1538977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8514E24-EBB7-B787-F279-2CE2EF59AE11}"/>
              </a:ext>
            </a:extLst>
          </p:cNvPr>
          <p:cNvSpPr txBox="1"/>
          <p:nvPr/>
        </p:nvSpPr>
        <p:spPr>
          <a:xfrm>
            <a:off x="6464188" y="1830082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F09DEA-EFB0-A925-57D8-178A5130D468}"/>
              </a:ext>
            </a:extLst>
          </p:cNvPr>
          <p:cNvSpPr txBox="1"/>
          <p:nvPr/>
        </p:nvSpPr>
        <p:spPr>
          <a:xfrm>
            <a:off x="6480370" y="2113303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221BF4E-8640-0415-D029-8137D8A73515}"/>
              </a:ext>
            </a:extLst>
          </p:cNvPr>
          <p:cNvSpPr txBox="1"/>
          <p:nvPr/>
        </p:nvSpPr>
        <p:spPr>
          <a:xfrm>
            <a:off x="6480369" y="2387084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51C8085-2130-5780-F6F5-09521E183935}"/>
              </a:ext>
            </a:extLst>
          </p:cNvPr>
          <p:cNvSpPr txBox="1"/>
          <p:nvPr/>
        </p:nvSpPr>
        <p:spPr>
          <a:xfrm>
            <a:off x="6464188" y="2678760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B3416EF-68CE-8F7D-994B-E48ED8A2739B}"/>
              </a:ext>
            </a:extLst>
          </p:cNvPr>
          <p:cNvSpPr txBox="1"/>
          <p:nvPr/>
        </p:nvSpPr>
        <p:spPr>
          <a:xfrm>
            <a:off x="6495206" y="2952045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9EB97EC-90B2-406E-4815-797C0C1FD6FB}"/>
              </a:ext>
            </a:extLst>
          </p:cNvPr>
          <p:cNvSpPr txBox="1"/>
          <p:nvPr/>
        </p:nvSpPr>
        <p:spPr>
          <a:xfrm>
            <a:off x="6495206" y="3233775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AF276D2-A5B7-6A4E-C958-994F0FA97D36}"/>
              </a:ext>
            </a:extLst>
          </p:cNvPr>
          <p:cNvSpPr txBox="1"/>
          <p:nvPr/>
        </p:nvSpPr>
        <p:spPr>
          <a:xfrm>
            <a:off x="6495206" y="3484628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1F238E66-BD2C-BC16-1CEB-08D627B40F7E}"/>
              </a:ext>
            </a:extLst>
          </p:cNvPr>
          <p:cNvSpPr txBox="1"/>
          <p:nvPr/>
        </p:nvSpPr>
        <p:spPr>
          <a:xfrm>
            <a:off x="6495206" y="3787467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B047114-88FE-243A-00B0-0891E8443C88}"/>
              </a:ext>
            </a:extLst>
          </p:cNvPr>
          <p:cNvSpPr txBox="1"/>
          <p:nvPr/>
        </p:nvSpPr>
        <p:spPr>
          <a:xfrm>
            <a:off x="6464187" y="4303131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0DB7F0E6-4644-8E92-4F70-70B24BEC2637}"/>
              </a:ext>
            </a:extLst>
          </p:cNvPr>
          <p:cNvSpPr txBox="1"/>
          <p:nvPr/>
        </p:nvSpPr>
        <p:spPr>
          <a:xfrm>
            <a:off x="6495206" y="4053053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7B75775E-1BC8-65D8-817E-44B30A6D78CF}"/>
              </a:ext>
            </a:extLst>
          </p:cNvPr>
          <p:cNvCxnSpPr>
            <a:cxnSpLocks/>
          </p:cNvCxnSpPr>
          <p:nvPr/>
        </p:nvCxnSpPr>
        <p:spPr>
          <a:xfrm>
            <a:off x="2330506" y="176406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B74947CE-9991-5AF7-5901-7ADE6D6B8C10}"/>
              </a:ext>
            </a:extLst>
          </p:cNvPr>
          <p:cNvCxnSpPr>
            <a:cxnSpLocks/>
          </p:cNvCxnSpPr>
          <p:nvPr/>
        </p:nvCxnSpPr>
        <p:spPr>
          <a:xfrm>
            <a:off x="2330506" y="2045937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CB8D3D64-C7BF-C550-2AFC-B05F6AD72D25}"/>
              </a:ext>
            </a:extLst>
          </p:cNvPr>
          <p:cNvCxnSpPr>
            <a:cxnSpLocks/>
          </p:cNvCxnSpPr>
          <p:nvPr/>
        </p:nvCxnSpPr>
        <p:spPr>
          <a:xfrm>
            <a:off x="2330506" y="2319717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C0675862-9E4A-B2C2-CB94-3B042AD0F97A}"/>
              </a:ext>
            </a:extLst>
          </p:cNvPr>
          <p:cNvCxnSpPr>
            <a:cxnSpLocks/>
          </p:cNvCxnSpPr>
          <p:nvPr/>
        </p:nvCxnSpPr>
        <p:spPr>
          <a:xfrm>
            <a:off x="2330506" y="258793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A78CAA98-CF7D-6EC9-85BE-B08C3E671934}"/>
              </a:ext>
            </a:extLst>
          </p:cNvPr>
          <p:cNvCxnSpPr>
            <a:cxnSpLocks/>
          </p:cNvCxnSpPr>
          <p:nvPr/>
        </p:nvCxnSpPr>
        <p:spPr>
          <a:xfrm>
            <a:off x="2330506" y="286171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4E21656C-4319-4B11-A382-D002EA501884}"/>
              </a:ext>
            </a:extLst>
          </p:cNvPr>
          <p:cNvCxnSpPr>
            <a:cxnSpLocks/>
          </p:cNvCxnSpPr>
          <p:nvPr/>
        </p:nvCxnSpPr>
        <p:spPr>
          <a:xfrm>
            <a:off x="2330506" y="3151679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DD79D1E0-A1A9-5829-0B1B-A4670442662B}"/>
              </a:ext>
            </a:extLst>
          </p:cNvPr>
          <p:cNvCxnSpPr>
            <a:cxnSpLocks/>
          </p:cNvCxnSpPr>
          <p:nvPr/>
        </p:nvCxnSpPr>
        <p:spPr>
          <a:xfrm>
            <a:off x="2330506" y="3417368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3F8ED319-E7D2-F640-0F08-83FD2FC7A9ED}"/>
              </a:ext>
            </a:extLst>
          </p:cNvPr>
          <p:cNvCxnSpPr>
            <a:cxnSpLocks/>
          </p:cNvCxnSpPr>
          <p:nvPr/>
        </p:nvCxnSpPr>
        <p:spPr>
          <a:xfrm>
            <a:off x="2330506" y="367496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xmlns="" id="{1469248C-05BF-2273-6250-A0537BA83079}"/>
              </a:ext>
            </a:extLst>
          </p:cNvPr>
          <p:cNvCxnSpPr>
            <a:cxnSpLocks/>
          </p:cNvCxnSpPr>
          <p:nvPr/>
        </p:nvCxnSpPr>
        <p:spPr>
          <a:xfrm>
            <a:off x="2330506" y="3964928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0DC07FAA-2390-AE36-6702-DD3ABAB0D1B0}"/>
              </a:ext>
            </a:extLst>
          </p:cNvPr>
          <p:cNvCxnSpPr>
            <a:cxnSpLocks/>
          </p:cNvCxnSpPr>
          <p:nvPr/>
        </p:nvCxnSpPr>
        <p:spPr>
          <a:xfrm>
            <a:off x="2330506" y="4238709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DE073C78-586F-088B-0432-B2DF4C660062}"/>
              </a:ext>
            </a:extLst>
          </p:cNvPr>
          <p:cNvSpPr txBox="1"/>
          <p:nvPr/>
        </p:nvSpPr>
        <p:spPr>
          <a:xfrm>
            <a:off x="6495206" y="4054904"/>
            <a:ext cx="41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B056BAA2-4F7A-F3B9-5346-308FB5A0F05D}"/>
                  </a:ext>
                </a:extLst>
              </p:cNvPr>
              <p:cNvSpPr txBox="1"/>
              <p:nvPr/>
            </p:nvSpPr>
            <p:spPr>
              <a:xfrm>
                <a:off x="3595223" y="4359634"/>
                <a:ext cx="20769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56BAA2-4F7A-F3B9-5346-308FB5A0F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23" y="4359634"/>
                <a:ext cx="207691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07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45679E-6 L 0.00087 -0.26698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3364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48148E-6 L 0.00122 -0.15864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793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82716E-6 L -0.00052 -0.21358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067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60494E-6 L -0.0033 -0.15679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784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93827E-6 L 0.00156 0.16327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830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-8.33333E-7 -0.10771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540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33333E-6 L 0.0033 0.32161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16142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5679E-6 L 5E-6 -0.05154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265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3" grpId="0"/>
      <p:bldP spid="5" grpId="0"/>
      <p:bldP spid="5" grpId="1"/>
      <p:bldP spid="7" grpId="0"/>
      <p:bldP spid="7" grpId="1"/>
      <p:bldP spid="8" grpId="0"/>
      <p:bldP spid="8" grpId="1"/>
      <p:bldP spid="9" grpId="0"/>
      <p:bldP spid="11" grpId="0"/>
      <p:bldP spid="11" grpId="1"/>
      <p:bldP spid="12" grpId="0"/>
      <p:bldP spid="12" grpId="1"/>
      <p:bldP spid="13" grpId="0"/>
      <p:bldP spid="13" grpId="1"/>
      <p:bldP spid="25" grpId="0"/>
      <p:bldP spid="25" grpId="1"/>
      <p:bldP spid="26" grpId="0"/>
      <p:bldP spid="26" grpId="1"/>
      <p:bldP spid="27" grpId="0"/>
      <p:bldP spid="28" grpId="0"/>
      <p:bldP spid="28" grpId="1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6;p49">
            <a:extLst>
              <a:ext uri="{FF2B5EF4-FFF2-40B4-BE49-F238E27FC236}">
                <a16:creationId xmlns:a16="http://schemas.microsoft.com/office/drawing/2014/main" xmlns="" id="{256A0033-544A-98AC-5A11-F17831C83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Cardinality of binary strings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8D13304F-D839-368F-6802-BDC4A1746A88}"/>
                  </a:ext>
                </a:extLst>
              </p:cNvPr>
              <p:cNvSpPr txBox="1"/>
              <p:nvPr/>
            </p:nvSpPr>
            <p:spPr>
              <a:xfrm>
                <a:off x="1806547" y="1365139"/>
                <a:ext cx="5017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13304F-D839-368F-6802-BDC4A1746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547" y="1365139"/>
                <a:ext cx="501706" cy="400110"/>
              </a:xfrm>
              <a:prstGeom prst="rect">
                <a:avLst/>
              </a:prstGeom>
              <a:blipFill>
                <a:blip r:embed="rId3"/>
                <a:stretch>
                  <a:fillRect r="-59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9053FE04-2CFD-78B7-DB36-9059C34AC018}"/>
                  </a:ext>
                </a:extLst>
              </p:cNvPr>
              <p:cNvSpPr txBox="1"/>
              <p:nvPr/>
            </p:nvSpPr>
            <p:spPr>
              <a:xfrm>
                <a:off x="1806547" y="1765249"/>
                <a:ext cx="201491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0</a:t>
                </a:r>
              </a:p>
              <a:p>
                <a:r>
                  <a:rPr lang="en-US" sz="1800" dirty="0"/>
                  <a:t>1</a:t>
                </a:r>
              </a:p>
              <a:p>
                <a:r>
                  <a:rPr lang="en-US" sz="1800" dirty="0"/>
                  <a:t>00</a:t>
                </a:r>
              </a:p>
              <a:p>
                <a:r>
                  <a:rPr lang="en-US" sz="1800" dirty="0"/>
                  <a:t>01</a:t>
                </a:r>
              </a:p>
              <a:p>
                <a:r>
                  <a:rPr lang="en-US" sz="1800" dirty="0"/>
                  <a:t>10</a:t>
                </a:r>
              </a:p>
              <a:p>
                <a:r>
                  <a:rPr lang="en-US" sz="1800" dirty="0"/>
                  <a:t>11</a:t>
                </a:r>
              </a:p>
              <a:p>
                <a:r>
                  <a:rPr lang="en-US" sz="1800" dirty="0"/>
                  <a:t>000</a:t>
                </a:r>
              </a:p>
              <a:p>
                <a:r>
                  <a:rPr lang="en-US" sz="1800" dirty="0"/>
                  <a:t>001</a:t>
                </a:r>
              </a:p>
              <a:p>
                <a:r>
                  <a:rPr lang="en-US" sz="1800" dirty="0"/>
                  <a:t>…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53FE04-2CFD-78B7-DB36-9059C34AC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547" y="1765249"/>
                <a:ext cx="2014917" cy="2862322"/>
              </a:xfrm>
              <a:prstGeom prst="rect">
                <a:avLst/>
              </a:prstGeom>
              <a:blipFill>
                <a:blip r:embed="rId4"/>
                <a:stretch>
                  <a:fillRect l="-2417" b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9385E369-6938-AC3B-8A90-23AC0992008A}"/>
                  </a:ext>
                </a:extLst>
              </p:cNvPr>
              <p:cNvSpPr txBox="1"/>
              <p:nvPr/>
            </p:nvSpPr>
            <p:spPr>
              <a:xfrm>
                <a:off x="6692198" y="1365139"/>
                <a:ext cx="5017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85E369-6938-AC3B-8A90-23AC09920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198" y="1365139"/>
                <a:ext cx="50170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0A01C20-BF12-3B8D-3785-2675BFD7B6EC}"/>
              </a:ext>
            </a:extLst>
          </p:cNvPr>
          <p:cNvSpPr txBox="1"/>
          <p:nvPr/>
        </p:nvSpPr>
        <p:spPr>
          <a:xfrm>
            <a:off x="6692198" y="1765249"/>
            <a:ext cx="20149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3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7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3E80B679-86EC-078D-0567-91E61D548EBE}"/>
              </a:ext>
            </a:extLst>
          </p:cNvPr>
          <p:cNvCxnSpPr>
            <a:cxnSpLocks/>
          </p:cNvCxnSpPr>
          <p:nvPr/>
        </p:nvCxnSpPr>
        <p:spPr>
          <a:xfrm>
            <a:off x="2454331" y="197361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BF34A678-E4B8-11F1-AA7B-E36BC0EE8A34}"/>
              </a:ext>
            </a:extLst>
          </p:cNvPr>
          <p:cNvCxnSpPr>
            <a:cxnSpLocks/>
          </p:cNvCxnSpPr>
          <p:nvPr/>
        </p:nvCxnSpPr>
        <p:spPr>
          <a:xfrm>
            <a:off x="2454331" y="2255487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7050AAF-2C68-A388-B07A-D2AC32FC4CBD}"/>
              </a:ext>
            </a:extLst>
          </p:cNvPr>
          <p:cNvCxnSpPr>
            <a:cxnSpLocks/>
          </p:cNvCxnSpPr>
          <p:nvPr/>
        </p:nvCxnSpPr>
        <p:spPr>
          <a:xfrm>
            <a:off x="2454331" y="2529267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83C84FBD-49BF-A1A3-B520-D1788D15BC20}"/>
              </a:ext>
            </a:extLst>
          </p:cNvPr>
          <p:cNvCxnSpPr>
            <a:cxnSpLocks/>
          </p:cNvCxnSpPr>
          <p:nvPr/>
        </p:nvCxnSpPr>
        <p:spPr>
          <a:xfrm>
            <a:off x="2454331" y="279748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77CC0ED-2166-8AB2-CC3E-8BC59218F70C}"/>
              </a:ext>
            </a:extLst>
          </p:cNvPr>
          <p:cNvCxnSpPr>
            <a:cxnSpLocks/>
          </p:cNvCxnSpPr>
          <p:nvPr/>
        </p:nvCxnSpPr>
        <p:spPr>
          <a:xfrm>
            <a:off x="2454331" y="307126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3613663D-66C3-E415-5EF9-78CF37ECE1CB}"/>
              </a:ext>
            </a:extLst>
          </p:cNvPr>
          <p:cNvCxnSpPr>
            <a:cxnSpLocks/>
          </p:cNvCxnSpPr>
          <p:nvPr/>
        </p:nvCxnSpPr>
        <p:spPr>
          <a:xfrm>
            <a:off x="2454331" y="3361229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A18C73DF-F31B-ED7D-563E-E605BCBE5F2D}"/>
              </a:ext>
            </a:extLst>
          </p:cNvPr>
          <p:cNvCxnSpPr>
            <a:cxnSpLocks/>
          </p:cNvCxnSpPr>
          <p:nvPr/>
        </p:nvCxnSpPr>
        <p:spPr>
          <a:xfrm>
            <a:off x="2454331" y="3626918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F608493-2175-24F4-98C0-A26D25A6BFB6}"/>
              </a:ext>
            </a:extLst>
          </p:cNvPr>
          <p:cNvCxnSpPr>
            <a:cxnSpLocks/>
          </p:cNvCxnSpPr>
          <p:nvPr/>
        </p:nvCxnSpPr>
        <p:spPr>
          <a:xfrm>
            <a:off x="2454331" y="3884514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60CD3D4D-71C9-8D53-DF60-315BEC9C399F}"/>
              </a:ext>
            </a:extLst>
          </p:cNvPr>
          <p:cNvCxnSpPr>
            <a:cxnSpLocks/>
          </p:cNvCxnSpPr>
          <p:nvPr/>
        </p:nvCxnSpPr>
        <p:spPr>
          <a:xfrm>
            <a:off x="2454331" y="4174478"/>
            <a:ext cx="41498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4EBB45A6-8872-97A4-2274-A5628AE788B0}"/>
                  </a:ext>
                </a:extLst>
              </p:cNvPr>
              <p:cNvSpPr txBox="1"/>
              <p:nvPr/>
            </p:nvSpPr>
            <p:spPr>
              <a:xfrm>
                <a:off x="3130817" y="4335183"/>
                <a:ext cx="28823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}"/>
                              <m:ctrlP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i="1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BB45A6-8872-97A4-2274-A5628AE7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817" y="4335183"/>
                <a:ext cx="288236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05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2386;p49">
                <a:extLst>
                  <a:ext uri="{FF2B5EF4-FFF2-40B4-BE49-F238E27FC236}">
                    <a16:creationId xmlns:a16="http://schemas.microsoft.com/office/drawing/2014/main" xmlns="" id="{256A0033-544A-98AC-5A11-F17831C838BA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Cardinality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Google Shape;2386;p49">
                <a:extLst>
                  <a:ext uri="{FF2B5EF4-FFF2-40B4-BE49-F238E27FC236}">
                    <a16:creationId xmlns:a16="http://schemas.microsoft.com/office/drawing/2014/main" id="{256A0033-544A-98AC-5A11-F17831C838B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8511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8C21128-586D-EE58-F612-A06293040577}"/>
              </a:ext>
            </a:extLst>
          </p:cNvPr>
          <p:cNvSpPr txBox="1"/>
          <p:nvPr/>
        </p:nvSpPr>
        <p:spPr>
          <a:xfrm>
            <a:off x="1116637" y="1388649"/>
            <a:ext cx="594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3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7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A5B7A8-7660-BA32-C716-A83B9E5A8D90}"/>
              </a:ext>
            </a:extLst>
          </p:cNvPr>
          <p:cNvSpPr txBox="1"/>
          <p:nvPr/>
        </p:nvSpPr>
        <p:spPr>
          <a:xfrm>
            <a:off x="3059736" y="1386879"/>
            <a:ext cx="55664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0.2169460714693289171222729971066…</a:t>
            </a:r>
          </a:p>
          <a:p>
            <a:r>
              <a:rPr lang="en-US" sz="1800" dirty="0"/>
              <a:t>0.7631763176317631763176317631763…</a:t>
            </a:r>
          </a:p>
          <a:p>
            <a:r>
              <a:rPr lang="en-US" sz="1800" dirty="0"/>
              <a:t>0.6895404337592950674809357136346…</a:t>
            </a:r>
          </a:p>
          <a:p>
            <a:r>
              <a:rPr lang="en-US" sz="1800" dirty="0"/>
              <a:t>0.6895404337592950600000000000000…</a:t>
            </a:r>
          </a:p>
          <a:p>
            <a:r>
              <a:rPr lang="en-US" sz="1800" dirty="0"/>
              <a:t>0.3805454783500225038873577418048…</a:t>
            </a:r>
          </a:p>
          <a:p>
            <a:r>
              <a:rPr lang="en-US" sz="1800" dirty="0"/>
              <a:t>0.9200778257579442881690521804839…</a:t>
            </a:r>
          </a:p>
          <a:p>
            <a:r>
              <a:rPr lang="en-US" sz="1800" dirty="0"/>
              <a:t>0.3137692127249575025762653280831…</a:t>
            </a:r>
          </a:p>
          <a:p>
            <a:r>
              <a:rPr lang="en-US" sz="1800" dirty="0"/>
              <a:t>0.3700368070995432261445179661871…</a:t>
            </a:r>
          </a:p>
          <a:p>
            <a:r>
              <a:rPr lang="en-US" sz="1800" dirty="0"/>
              <a:t>0.2410751557594412258050924569386…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9EBAB63-055A-B155-E577-823C73477C86}"/>
              </a:ext>
            </a:extLst>
          </p:cNvPr>
          <p:cNvSpPr txBox="1"/>
          <p:nvPr/>
        </p:nvSpPr>
        <p:spPr>
          <a:xfrm>
            <a:off x="3249351" y="1386879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A0F993C-9D97-4A47-A224-C573C898D691}"/>
              </a:ext>
            </a:extLst>
          </p:cNvPr>
          <p:cNvSpPr txBox="1"/>
          <p:nvPr/>
        </p:nvSpPr>
        <p:spPr>
          <a:xfrm>
            <a:off x="3377938" y="1653580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95D4DDC-B64C-EE07-1B94-74865E76407E}"/>
              </a:ext>
            </a:extLst>
          </p:cNvPr>
          <p:cNvSpPr txBox="1"/>
          <p:nvPr/>
        </p:nvSpPr>
        <p:spPr>
          <a:xfrm>
            <a:off x="3506525" y="1934720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3B3DAC0-3260-C6F0-2585-602AE6AAFD0A}"/>
              </a:ext>
            </a:extLst>
          </p:cNvPr>
          <p:cNvSpPr txBox="1"/>
          <p:nvPr/>
        </p:nvSpPr>
        <p:spPr>
          <a:xfrm>
            <a:off x="3630349" y="2206335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05CDB44-7211-3B5B-1377-CF33FBFF1315}"/>
              </a:ext>
            </a:extLst>
          </p:cNvPr>
          <p:cNvSpPr txBox="1"/>
          <p:nvPr/>
        </p:nvSpPr>
        <p:spPr>
          <a:xfrm>
            <a:off x="3756559" y="2477799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119F6B7-BF98-6386-1DFB-7FFE985307CD}"/>
              </a:ext>
            </a:extLst>
          </p:cNvPr>
          <p:cNvSpPr txBox="1"/>
          <p:nvPr/>
        </p:nvSpPr>
        <p:spPr>
          <a:xfrm>
            <a:off x="3882769" y="2759090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33C3254-69D2-6B82-EA1B-EE321BA8CC26}"/>
              </a:ext>
            </a:extLst>
          </p:cNvPr>
          <p:cNvSpPr txBox="1"/>
          <p:nvPr/>
        </p:nvSpPr>
        <p:spPr>
          <a:xfrm>
            <a:off x="4011356" y="3030553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B8090AD-AF97-5ECF-7E26-5BA6159E16DB}"/>
              </a:ext>
            </a:extLst>
          </p:cNvPr>
          <p:cNvSpPr txBox="1"/>
          <p:nvPr/>
        </p:nvSpPr>
        <p:spPr>
          <a:xfrm>
            <a:off x="4139943" y="3306779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5F24AE8-0FA2-91A5-FE35-77DAEE416733}"/>
              </a:ext>
            </a:extLst>
          </p:cNvPr>
          <p:cNvSpPr txBox="1"/>
          <p:nvPr/>
        </p:nvSpPr>
        <p:spPr>
          <a:xfrm>
            <a:off x="4268530" y="3578242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AA0200F-695B-BD41-F69A-3E32C0094C61}"/>
              </a:ext>
            </a:extLst>
          </p:cNvPr>
          <p:cNvSpPr txBox="1"/>
          <p:nvPr/>
        </p:nvSpPr>
        <p:spPr>
          <a:xfrm>
            <a:off x="3059736" y="3984615"/>
            <a:ext cx="354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0.269547205…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7A370EF-A743-A471-12C4-8DA70E35DDA9}"/>
              </a:ext>
            </a:extLst>
          </p:cNvPr>
          <p:cNvSpPr txBox="1"/>
          <p:nvPr/>
        </p:nvSpPr>
        <p:spPr>
          <a:xfrm>
            <a:off x="3059735" y="3984615"/>
            <a:ext cx="354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0.370658316…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F17EDCE9-16B5-AC6F-38CA-EE8575DCF7BE}"/>
                  </a:ext>
                </a:extLst>
              </p:cNvPr>
              <p:cNvSpPr txBox="1"/>
              <p:nvPr/>
            </p:nvSpPr>
            <p:spPr>
              <a:xfrm>
                <a:off x="3059735" y="4378082"/>
                <a:ext cx="32099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≠|[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7EDCE9-16B5-AC6F-38CA-EE8575DCF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735" y="4378082"/>
                <a:ext cx="320992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18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0.00052 0.5052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5247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-2.77778E-7 0.4527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62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96296E-6 L -2.77778E-6 0.3972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84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81481E-6 L 0.00053 0.3453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1725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59259E-6 L 0.00017 0.292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3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0.00052 0.2379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1188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022E-16 L 0.00052 0.1842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919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7037E-6 L 0.00052 0.13149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657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48148E-6 L 3.88889E-6 0.07778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5" grpId="1"/>
      <p:bldP spid="5" grpId="2"/>
      <p:bldP spid="6" grpId="0"/>
      <p:bldP spid="6" grpId="1"/>
      <p:bldP spid="6" grpId="2"/>
      <p:bldP spid="7" grpId="0"/>
      <p:bldP spid="7" grpId="1"/>
      <p:bldP spid="7" grpId="2"/>
      <p:bldP spid="8" grpId="0"/>
      <p:bldP spid="8" grpId="1"/>
      <p:bldP spid="8" grpId="2"/>
      <p:bldP spid="9" grpId="0"/>
      <p:bldP spid="9" grpId="1"/>
      <p:bldP spid="9" grpId="2"/>
      <p:bldP spid="10" grpId="0"/>
      <p:bldP spid="10" grpId="1"/>
      <p:bldP spid="10" grpId="2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/>
      <p:bldP spid="14" grpId="1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Google Shape;2381;p48">
                <a:extLst>
                  <a:ext uri="{FF2B5EF4-FFF2-40B4-BE49-F238E27FC236}">
                    <a16:creationId xmlns:a16="http://schemas.microsoft.com/office/drawing/2014/main" xmlns="" id="{CF8D6327-C156-BB3A-A20A-B0344852E9E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6125649"/>
                  </p:ext>
                </p:extLst>
              </p:nvPr>
            </p:nvGraphicFramePr>
            <p:xfrm>
              <a:off x="1109816" y="1252041"/>
              <a:ext cx="6924368" cy="1824987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>
                              <a:sym typeface="Karla"/>
                            </a:rPr>
                            <a:t>0</a:t>
                          </a:r>
                          <a:endParaRPr lang="ro-RO" sz="2400" b="1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>
                              <a:sym typeface="Karla"/>
                            </a:rPr>
                            <a:t>1</a:t>
                          </a:r>
                          <a:endParaRPr lang="ro-RO" sz="2400" b="1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400" b="1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−</m:t>
                                </m:r>
                              </m:oMath>
                            </m:oMathPara>
                          </a14:m>
                          <a:endParaRPr lang="ar-AE"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◻,−</m:t>
                                </m:r>
                              </m:oMath>
                            </m:oMathPara>
                          </a14:m>
                          <a:endParaRPr lang="en-US"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Google Shape;2381;p48">
                <a:extLst>
                  <a:ext uri="{FF2B5EF4-FFF2-40B4-BE49-F238E27FC236}">
                    <a16:creationId xmlns:a16="http://schemas.microsoft.com/office/drawing/2014/main" id="{CF8D6327-C156-BB3A-A20A-B0344852E9E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6125649"/>
                  </p:ext>
                </p:extLst>
              </p:nvPr>
            </p:nvGraphicFramePr>
            <p:xfrm>
              <a:off x="1109816" y="1252041"/>
              <a:ext cx="6924368" cy="1824987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>
                              <a:sym typeface="Karla"/>
                            </a:rPr>
                            <a:t>0</a:t>
                          </a:r>
                          <a:endParaRPr lang="ro-RO" sz="2400" b="1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>
                              <a:sym typeface="Karla"/>
                            </a:rPr>
                            <a:t>1</a:t>
                          </a:r>
                          <a:endParaRPr lang="ro-RO" sz="2400" b="1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4000" r="-3169" b="-2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4000" r="-303169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4000" r="-203169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4000" r="-103169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4000" r="-3169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4000" r="-3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4000" r="-2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4000" r="-1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4000" r="-3169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86;p49">
                <a:extLst>
                  <a:ext uri="{FF2B5EF4-FFF2-40B4-BE49-F238E27FC236}">
                    <a16:creationId xmlns:a16="http://schemas.microsoft.com/office/drawing/2014/main" xmlns="" id="{4359DCC0-A092-BD1A-B348-B5C584D243A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Cardinality of Turing Machines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𝕄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Google Shape;2386;p49">
                <a:extLst>
                  <a:ext uri="{FF2B5EF4-FFF2-40B4-BE49-F238E27FC236}">
                    <a16:creationId xmlns:a16="http://schemas.microsoft.com/office/drawing/2014/main" id="{4359DCC0-A092-BD1A-B348-B5C584D243A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4"/>
                <a:stretch>
                  <a:fillRect t="-3191" b="-5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993C2CB9-9AC6-CC71-DE4D-D7ABED6E9FE2}"/>
                  </a:ext>
                </a:extLst>
              </p:cNvPr>
              <p:cNvSpPr txBox="1"/>
              <p:nvPr/>
            </p:nvSpPr>
            <p:spPr>
              <a:xfrm>
                <a:off x="1109816" y="3512620"/>
                <a:ext cx="13576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𝑖𝑠𝐸𝑣𝑒𝑛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3C2CB9-9AC6-CC71-DE4D-D7ABED6E9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16" y="3512620"/>
                <a:ext cx="135761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8D7704A1-F101-4C47-74DC-3CF8A606D55E}"/>
                  </a:ext>
                </a:extLst>
              </p:cNvPr>
              <p:cNvSpPr txBox="1"/>
              <p:nvPr/>
            </p:nvSpPr>
            <p:spPr>
              <a:xfrm>
                <a:off x="2354152" y="3512619"/>
                <a:ext cx="115830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0101010100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7704A1-F101-4C47-74DC-3CF8A606D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152" y="3512619"/>
                <a:ext cx="115830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A1654429-6190-1CBD-22CD-5AD7E9D206FC}"/>
                  </a:ext>
                </a:extLst>
              </p:cNvPr>
              <p:cNvSpPr txBox="1"/>
              <p:nvPr/>
            </p:nvSpPr>
            <p:spPr>
              <a:xfrm>
                <a:off x="3630260" y="3512620"/>
                <a:ext cx="13576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010010100100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1654429-6190-1CBD-22CD-5AD7E9D20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0" y="3512620"/>
                <a:ext cx="135761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27073146-A77D-46A7-A292-01D3E3572DDE}"/>
                  </a:ext>
                </a:extLst>
              </p:cNvPr>
              <p:cNvSpPr txBox="1"/>
              <p:nvPr/>
            </p:nvSpPr>
            <p:spPr>
              <a:xfrm>
                <a:off x="5107215" y="3517486"/>
                <a:ext cx="1833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01000100000100010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073146-A77D-46A7-A292-01D3E3572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15" y="3517486"/>
                <a:ext cx="183321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72F2BE66-1F10-B6D8-0C7E-3408EB77BFA1}"/>
                  </a:ext>
                </a:extLst>
              </p:cNvPr>
              <p:cNvSpPr txBox="1"/>
              <p:nvPr/>
            </p:nvSpPr>
            <p:spPr>
              <a:xfrm>
                <a:off x="2362829" y="3820396"/>
                <a:ext cx="1833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0000010100101000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2F2BE66-1F10-B6D8-0C7E-3408EB77B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829" y="3820396"/>
                <a:ext cx="1833219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4443EB77-CA96-254F-B3A8-BD1A5D098C90}"/>
                  </a:ext>
                </a:extLst>
              </p:cNvPr>
              <p:cNvSpPr txBox="1"/>
              <p:nvPr/>
            </p:nvSpPr>
            <p:spPr>
              <a:xfrm>
                <a:off x="4196048" y="3817939"/>
                <a:ext cx="215174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0000010010001001000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443EB77-CA96-254F-B3A8-BD1A5D09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048" y="3817939"/>
                <a:ext cx="215174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CEE5FB04-AC12-09F2-72FF-6A892B00FF0D}"/>
                  </a:ext>
                </a:extLst>
              </p:cNvPr>
              <p:cNvSpPr txBox="1"/>
              <p:nvPr/>
            </p:nvSpPr>
            <p:spPr>
              <a:xfrm>
                <a:off x="6347790" y="3817937"/>
                <a:ext cx="22388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000001000100010001000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E5FB04-AC12-09F2-72FF-6A892B00F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790" y="3817937"/>
                <a:ext cx="2238827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14">
                <a:extLst>
                  <a:ext uri="{FF2B5EF4-FFF2-40B4-BE49-F238E27FC236}">
                    <a16:creationId xmlns:a16="http://schemas.microsoft.com/office/drawing/2014/main" xmlns="" id="{9D908A58-3B3E-3066-C4E2-4E83C0616169}"/>
                  </a:ext>
                </a:extLst>
              </p:cNvPr>
              <p:cNvSpPr txBox="1"/>
              <p:nvPr/>
            </p:nvSpPr>
            <p:spPr>
              <a:xfrm>
                <a:off x="3382324" y="3512618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14">
                <a:extLst>
                  <a:ext uri="{FF2B5EF4-FFF2-40B4-BE49-F238E27FC236}">
                    <a16:creationId xmlns:a16="http://schemas.microsoft.com/office/drawing/2014/main" id="{9D908A58-3B3E-3066-C4E2-4E83C0616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24" y="3512618"/>
                <a:ext cx="329441" cy="307777"/>
              </a:xfrm>
              <a:prstGeom prst="rect">
                <a:avLst/>
              </a:prstGeom>
              <a:blipFill>
                <a:blip r:embed="rId12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14">
                <a:extLst>
                  <a:ext uri="{FF2B5EF4-FFF2-40B4-BE49-F238E27FC236}">
                    <a16:creationId xmlns:a16="http://schemas.microsoft.com/office/drawing/2014/main" xmlns="" id="{4D8C328E-9B8B-A446-D0C0-F61083986A48}"/>
                  </a:ext>
                </a:extLst>
              </p:cNvPr>
              <p:cNvSpPr txBox="1"/>
              <p:nvPr/>
            </p:nvSpPr>
            <p:spPr>
              <a:xfrm>
                <a:off x="4879945" y="3517486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14">
                <a:extLst>
                  <a:ext uri="{FF2B5EF4-FFF2-40B4-BE49-F238E27FC236}">
                    <a16:creationId xmlns:a16="http://schemas.microsoft.com/office/drawing/2014/main" id="{4D8C328E-9B8B-A446-D0C0-F61083986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45" y="3517486"/>
                <a:ext cx="329441" cy="307777"/>
              </a:xfrm>
              <a:prstGeom prst="rect">
                <a:avLst/>
              </a:prstGeom>
              <a:blipFill>
                <a:blip r:embed="rId12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4">
                <a:extLst>
                  <a:ext uri="{FF2B5EF4-FFF2-40B4-BE49-F238E27FC236}">
                    <a16:creationId xmlns:a16="http://schemas.microsoft.com/office/drawing/2014/main" xmlns="" id="{3311B171-E183-C380-A505-473866DE425E}"/>
                  </a:ext>
                </a:extLst>
              </p:cNvPr>
              <p:cNvSpPr txBox="1"/>
              <p:nvPr/>
            </p:nvSpPr>
            <p:spPr>
              <a:xfrm>
                <a:off x="6833886" y="3517486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14">
                <a:extLst>
                  <a:ext uri="{FF2B5EF4-FFF2-40B4-BE49-F238E27FC236}">
                    <a16:creationId xmlns:a16="http://schemas.microsoft.com/office/drawing/2014/main" id="{3311B171-E183-C380-A505-473866DE4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886" y="3517486"/>
                <a:ext cx="329441" cy="307777"/>
              </a:xfrm>
              <a:prstGeom prst="rect">
                <a:avLst/>
              </a:prstGeom>
              <a:blipFill>
                <a:blip r:embed="rId12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xmlns="" id="{68979E2D-F091-DFF9-6FA4-0347E2DEE2CA}"/>
                  </a:ext>
                </a:extLst>
              </p:cNvPr>
              <p:cNvSpPr txBox="1"/>
              <p:nvPr/>
            </p:nvSpPr>
            <p:spPr>
              <a:xfrm>
                <a:off x="3979625" y="3820395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id="{68979E2D-F091-DFF9-6FA4-0347E2DEE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625" y="3820395"/>
                <a:ext cx="329441" cy="307777"/>
              </a:xfrm>
              <a:prstGeom prst="rect">
                <a:avLst/>
              </a:prstGeom>
              <a:blipFill>
                <a:blip r:embed="rId13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xmlns="" id="{EC59752A-03C0-1BD4-D60F-644072725647}"/>
                  </a:ext>
                </a:extLst>
              </p:cNvPr>
              <p:cNvSpPr txBox="1"/>
              <p:nvPr/>
            </p:nvSpPr>
            <p:spPr>
              <a:xfrm>
                <a:off x="6127749" y="3817938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id="{EC59752A-03C0-1BD4-D60F-644072725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49" y="3817938"/>
                <a:ext cx="329441" cy="307777"/>
              </a:xfrm>
              <a:prstGeom prst="rect">
                <a:avLst/>
              </a:prstGeom>
              <a:blipFill>
                <a:blip r:embed="rId12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68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86;p49">
                <a:extLst>
                  <a:ext uri="{FF2B5EF4-FFF2-40B4-BE49-F238E27FC236}">
                    <a16:creationId xmlns:a16="http://schemas.microsoft.com/office/drawing/2014/main" xmlns="" id="{4359DCC0-A092-BD1A-B348-B5C584D243A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Cardinality of Turing Machines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𝕄</m:t>
                    </m:r>
                  </m:oMath>
                </a14:m>
                <a:r>
                  <a:rPr lang="en-US" dirty="0"/>
                  <a:t> (2)</a:t>
                </a:r>
              </a:p>
            </p:txBody>
          </p:sp>
        </mc:Choice>
        <mc:Fallback xmlns="">
          <p:sp>
            <p:nvSpPr>
              <p:cNvPr id="6" name="Google Shape;2386;p49">
                <a:extLst>
                  <a:ext uri="{FF2B5EF4-FFF2-40B4-BE49-F238E27FC236}">
                    <a16:creationId xmlns:a16="http://schemas.microsoft.com/office/drawing/2014/main" xmlns="" id="{4359DCC0-A092-BD1A-B348-B5C584D243A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 rotWithShape="1">
                <a:blip r:embed="rId3"/>
                <a:stretch>
                  <a:fillRect l="-158" t="-3191" r="-237" b="-5425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xmlns="" id="{DD9F860C-1D39-A2DE-98C6-0FEE3EDF2EB1}"/>
                  </a:ext>
                </a:extLst>
              </p:cNvPr>
              <p:cNvSpPr txBox="1"/>
              <p:nvPr/>
            </p:nvSpPr>
            <p:spPr>
              <a:xfrm>
                <a:off x="719999" y="1339071"/>
                <a:ext cx="7703999" cy="752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32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32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32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32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32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32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32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32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32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32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DD9F860C-1D39-A2DE-98C6-0FEE3EDF2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9" y="1339071"/>
                <a:ext cx="7703999" cy="7520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xmlns="" id="{AB00D237-00C6-92B4-8F28-2BB5796290B0}"/>
                  </a:ext>
                </a:extLst>
              </p:cNvPr>
              <p:cNvSpPr txBox="1"/>
              <p:nvPr/>
            </p:nvSpPr>
            <p:spPr>
              <a:xfrm>
                <a:off x="719998" y="2412474"/>
                <a:ext cx="7703999" cy="752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{0, 1}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32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AB00D237-00C6-92B4-8F28-2BB57962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8" y="2412474"/>
                <a:ext cx="7703999" cy="7520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DF02DC13-5581-CFAB-C5B7-F840AC171281}"/>
                  </a:ext>
                </a:extLst>
              </p:cNvPr>
              <p:cNvSpPr txBox="1"/>
              <p:nvPr/>
            </p:nvSpPr>
            <p:spPr>
              <a:xfrm>
                <a:off x="3193082" y="3730526"/>
                <a:ext cx="2757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𝕄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≤|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0, 1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02DC13-5581-CFAB-C5B7-F840AC171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082" y="3730526"/>
                <a:ext cx="275783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54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6;p49">
            <a:extLst>
              <a:ext uri="{FF2B5EF4-FFF2-40B4-BE49-F238E27FC236}">
                <a16:creationId xmlns:a16="http://schemas.microsoft.com/office/drawing/2014/main" xmlns="" id="{256A0033-544A-98AC-5A11-F17831C83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Representing a decision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xmlns="" id="{E958D498-FDDC-33A6-EB02-29411C850656}"/>
                  </a:ext>
                </a:extLst>
              </p:cNvPr>
              <p:cNvSpPr txBox="1"/>
              <p:nvPr/>
            </p:nvSpPr>
            <p:spPr>
              <a:xfrm>
                <a:off x="802447" y="1266197"/>
                <a:ext cx="7703999" cy="42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: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sz="18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{</m:t>
                          </m:r>
                          <m:r>
                            <a:rPr lang="en-US" sz="18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  <m:r>
                            <a:rPr lang="en-US" sz="18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en-US" sz="18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}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∗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→{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}</m:t>
                      </m:r>
                    </m:oMath>
                  </m:oMathPara>
                </a14:m>
                <a:endParaRPr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E958D498-FDDC-33A6-EB02-29411C850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47" y="1266197"/>
                <a:ext cx="7703999" cy="428163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xmlns="" id="{DA953954-A83E-75B3-8A07-FD78076DAD73}"/>
                  </a:ext>
                </a:extLst>
              </p:cNvPr>
              <p:cNvSpPr txBox="1"/>
              <p:nvPr/>
            </p:nvSpPr>
            <p:spPr>
              <a:xfrm>
                <a:off x="3609659" y="1836153"/>
                <a:ext cx="2302018" cy="286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𝜖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b="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r>
                  <a:rPr lang="en-US" sz="18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…</a:t>
                </a:r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id="{DA953954-A83E-75B3-8A07-FD78076D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659" y="1836153"/>
                <a:ext cx="2302018" cy="2862322"/>
              </a:xfrm>
              <a:prstGeom prst="rect">
                <a:avLst/>
              </a:prstGeom>
              <a:blipFill>
                <a:blip r:embed="rId4"/>
                <a:stretch>
                  <a:fillRect l="-21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A2CA3379-4BEC-79AC-6631-89D3EB1ABDEB}"/>
                  </a:ext>
                </a:extLst>
              </p:cNvPr>
              <p:cNvSpPr txBox="1"/>
              <p:nvPr/>
            </p:nvSpPr>
            <p:spPr>
              <a:xfrm>
                <a:off x="1594742" y="1836153"/>
                <a:ext cx="2014917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0</a:t>
                </a:r>
              </a:p>
              <a:p>
                <a:r>
                  <a:rPr lang="en-US" sz="1800" dirty="0"/>
                  <a:t>1</a:t>
                </a:r>
              </a:p>
              <a:p>
                <a:r>
                  <a:rPr lang="en-US" sz="1800" dirty="0"/>
                  <a:t>00</a:t>
                </a:r>
              </a:p>
              <a:p>
                <a:r>
                  <a:rPr lang="en-US" sz="1800" dirty="0"/>
                  <a:t>01</a:t>
                </a:r>
              </a:p>
              <a:p>
                <a:r>
                  <a:rPr lang="en-US" sz="1800" dirty="0"/>
                  <a:t>10</a:t>
                </a:r>
              </a:p>
              <a:p>
                <a:r>
                  <a:rPr lang="en-US" sz="1800" dirty="0"/>
                  <a:t>11</a:t>
                </a:r>
              </a:p>
              <a:p>
                <a:r>
                  <a:rPr lang="en-US" sz="1800" dirty="0"/>
                  <a:t>000</a:t>
                </a:r>
              </a:p>
              <a:p>
                <a:r>
                  <a:rPr lang="en-US" sz="1800" dirty="0"/>
                  <a:t>…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CA3379-4BEC-79AC-6631-89D3EB1AB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742" y="1836153"/>
                <a:ext cx="2014917" cy="2585323"/>
              </a:xfrm>
              <a:prstGeom prst="rect">
                <a:avLst/>
              </a:prstGeom>
              <a:blipFill>
                <a:blip r:embed="rId5"/>
                <a:stretch>
                  <a:fillRect l="-2727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725D6A8-0FA1-CAA6-1C68-9C37C1703C24}"/>
              </a:ext>
            </a:extLst>
          </p:cNvPr>
          <p:cNvSpPr txBox="1"/>
          <p:nvPr/>
        </p:nvSpPr>
        <p:spPr>
          <a:xfrm>
            <a:off x="6409083" y="1836153"/>
            <a:ext cx="20149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</a:p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0</a:t>
            </a:r>
          </a:p>
          <a:p>
            <a:r>
              <a:rPr lang="en-US" sz="1800" dirty="0"/>
              <a:t>0</a:t>
            </a:r>
          </a:p>
          <a:p>
            <a:r>
              <a:rPr lang="en-US" sz="18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DA1301B-D72B-690D-B482-77F7BB10DAC1}"/>
              </a:ext>
            </a:extLst>
          </p:cNvPr>
          <p:cNvSpPr txBox="1"/>
          <p:nvPr/>
        </p:nvSpPr>
        <p:spPr>
          <a:xfrm>
            <a:off x="3910622" y="4513809"/>
            <a:ext cx="170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10110100…</a:t>
            </a:r>
          </a:p>
        </p:txBody>
      </p:sp>
    </p:spTree>
    <p:extLst>
      <p:ext uri="{BB962C8B-B14F-4D97-AF65-F5344CB8AC3E}">
        <p14:creationId xmlns:p14="http://schemas.microsoft.com/office/powerpoint/2010/main" val="262483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86;p49">
                <a:extLst>
                  <a:ext uri="{FF2B5EF4-FFF2-40B4-BE49-F238E27FC236}">
                    <a16:creationId xmlns:a16="http://schemas.microsoft.com/office/drawing/2014/main" xmlns="" id="{33E2FF7C-51E1-D96A-1609-949EBDFC309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3200" dirty="0"/>
                  <a:t>Cardinality of decision problems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𝔻</m:t>
                    </m:r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Google Shape;2386;p49">
                <a:extLst>
                  <a:ext uri="{FF2B5EF4-FFF2-40B4-BE49-F238E27FC236}">
                    <a16:creationId xmlns:a16="http://schemas.microsoft.com/office/drawing/2014/main" xmlns="" id="{33E2FF7C-51E1-D96A-1609-949EBDFC309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 rotWithShape="1">
                <a:blip r:embed="rId3"/>
                <a:stretch>
                  <a:fillRect t="-5319" b="-4361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002C43C-8E91-DE63-B685-C04168E1BF9E}"/>
              </a:ext>
            </a:extLst>
          </p:cNvPr>
          <p:cNvSpPr txBox="1"/>
          <p:nvPr/>
        </p:nvSpPr>
        <p:spPr>
          <a:xfrm>
            <a:off x="1116637" y="1388649"/>
            <a:ext cx="594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3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7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5B1E5B6-7377-A6B9-0E9D-F902518FF111}"/>
              </a:ext>
            </a:extLst>
          </p:cNvPr>
          <p:cNvSpPr txBox="1"/>
          <p:nvPr/>
        </p:nvSpPr>
        <p:spPr>
          <a:xfrm>
            <a:off x="3249351" y="1386879"/>
            <a:ext cx="55664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0101010111011010101001001000100…</a:t>
            </a:r>
          </a:p>
          <a:p>
            <a:r>
              <a:rPr lang="en-US" sz="1800" dirty="0"/>
              <a:t>0110001001100110000100011100100…</a:t>
            </a:r>
          </a:p>
          <a:p>
            <a:r>
              <a:rPr lang="en-US" sz="1800" dirty="0"/>
              <a:t>0100101001000101111110100100010…</a:t>
            </a:r>
          </a:p>
          <a:p>
            <a:r>
              <a:rPr lang="en-US" sz="1800" dirty="0"/>
              <a:t>1111111011110111100001010001001…</a:t>
            </a:r>
          </a:p>
          <a:p>
            <a:r>
              <a:rPr lang="en-US" sz="1800" dirty="0"/>
              <a:t>1001100101011010110001000100001…</a:t>
            </a:r>
          </a:p>
          <a:p>
            <a:r>
              <a:rPr lang="en-US" sz="1800" dirty="0"/>
              <a:t>1001000111001000010010101101100…</a:t>
            </a:r>
          </a:p>
          <a:p>
            <a:r>
              <a:rPr lang="en-US" sz="1800" dirty="0"/>
              <a:t>0010100100100111000100001000101…</a:t>
            </a:r>
          </a:p>
          <a:p>
            <a:r>
              <a:rPr lang="en-US" sz="1800" dirty="0"/>
              <a:t>1100100010001000010001000100001…</a:t>
            </a:r>
          </a:p>
          <a:p>
            <a:r>
              <a:rPr lang="en-US" sz="1800" dirty="0"/>
              <a:t>1110110100010110001110001001000…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CF2EF07-BFFF-8A7B-D2E9-30A9D0F13B2D}"/>
              </a:ext>
            </a:extLst>
          </p:cNvPr>
          <p:cNvSpPr txBox="1"/>
          <p:nvPr/>
        </p:nvSpPr>
        <p:spPr>
          <a:xfrm>
            <a:off x="3249351" y="1386879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8D09B49-6551-3F26-7FE1-DAE61B65AD8D}"/>
              </a:ext>
            </a:extLst>
          </p:cNvPr>
          <p:cNvSpPr txBox="1"/>
          <p:nvPr/>
        </p:nvSpPr>
        <p:spPr>
          <a:xfrm>
            <a:off x="3377938" y="1653580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4E17DB2-7496-BF7B-D8B7-968A952805BB}"/>
              </a:ext>
            </a:extLst>
          </p:cNvPr>
          <p:cNvSpPr txBox="1"/>
          <p:nvPr/>
        </p:nvSpPr>
        <p:spPr>
          <a:xfrm>
            <a:off x="3506525" y="1934720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951B65E-1B0E-7403-1226-5FECFD69D9F5}"/>
              </a:ext>
            </a:extLst>
          </p:cNvPr>
          <p:cNvSpPr txBox="1"/>
          <p:nvPr/>
        </p:nvSpPr>
        <p:spPr>
          <a:xfrm>
            <a:off x="3630349" y="2206335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4FAB407-0FC5-A401-A795-BDC6E0CCFA96}"/>
              </a:ext>
            </a:extLst>
          </p:cNvPr>
          <p:cNvSpPr txBox="1"/>
          <p:nvPr/>
        </p:nvSpPr>
        <p:spPr>
          <a:xfrm>
            <a:off x="3756559" y="2477799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247508E-89C6-AC84-FE2C-A75934D2F04D}"/>
              </a:ext>
            </a:extLst>
          </p:cNvPr>
          <p:cNvSpPr txBox="1"/>
          <p:nvPr/>
        </p:nvSpPr>
        <p:spPr>
          <a:xfrm>
            <a:off x="3882769" y="2759090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D3D10D3-BD18-363C-6CAF-19DA2015F945}"/>
              </a:ext>
            </a:extLst>
          </p:cNvPr>
          <p:cNvSpPr txBox="1"/>
          <p:nvPr/>
        </p:nvSpPr>
        <p:spPr>
          <a:xfrm>
            <a:off x="4011356" y="3030553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56779FE-DFB9-29FB-ACE8-2686B40C2E2C}"/>
              </a:ext>
            </a:extLst>
          </p:cNvPr>
          <p:cNvSpPr txBox="1"/>
          <p:nvPr/>
        </p:nvSpPr>
        <p:spPr>
          <a:xfrm>
            <a:off x="4139943" y="3306779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6F94A35-DD58-845F-FBA0-094CAC48A472}"/>
              </a:ext>
            </a:extLst>
          </p:cNvPr>
          <p:cNvSpPr txBox="1"/>
          <p:nvPr/>
        </p:nvSpPr>
        <p:spPr>
          <a:xfrm>
            <a:off x="4268530" y="3578242"/>
            <a:ext cx="29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8E008B1-6723-DBAD-7969-CB2AE15CB37D}"/>
              </a:ext>
            </a:extLst>
          </p:cNvPr>
          <p:cNvSpPr txBox="1"/>
          <p:nvPr/>
        </p:nvSpPr>
        <p:spPr>
          <a:xfrm>
            <a:off x="3249351" y="3984615"/>
            <a:ext cx="335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010110000…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795E003-CE6E-9E4F-7D6D-875E5045B94C}"/>
              </a:ext>
            </a:extLst>
          </p:cNvPr>
          <p:cNvSpPr txBox="1"/>
          <p:nvPr/>
        </p:nvSpPr>
        <p:spPr>
          <a:xfrm>
            <a:off x="3249351" y="3984615"/>
            <a:ext cx="354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101001111…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D24D3F5D-7E7C-0890-D34F-D9AAEAC2E57D}"/>
                  </a:ext>
                </a:extLst>
              </p:cNvPr>
              <p:cNvSpPr txBox="1"/>
              <p:nvPr/>
            </p:nvSpPr>
            <p:spPr>
              <a:xfrm>
                <a:off x="3886238" y="4354385"/>
                <a:ext cx="18945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≠|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</a:rPr>
                        <m:t>𝔻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24D3F5D-7E7C-0890-D34F-D9AAEAC2E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38" y="4354385"/>
                <a:ext cx="189451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83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0.00052 0.5052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5247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-2.77778E-7 0.4527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62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96296E-6 L -2.77778E-6 0.3972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84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81481E-6 L 0.00053 0.3453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1725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59259E-6 L 0.00017 0.292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3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0.00052 0.2379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1188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022E-16 L 0.00052 0.1842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919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7037E-6 L 0.00052 0.13149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657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48148E-6 L 3.88889E-6 0.07778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5" grpId="1"/>
      <p:bldP spid="5" grpId="2"/>
      <p:bldP spid="6" grpId="0"/>
      <p:bldP spid="6" grpId="1"/>
      <p:bldP spid="6" grpId="2"/>
      <p:bldP spid="7" grpId="0"/>
      <p:bldP spid="7" grpId="1"/>
      <p:bldP spid="7" grpId="2"/>
      <p:bldP spid="8" grpId="0"/>
      <p:bldP spid="8" grpId="1"/>
      <p:bldP spid="8" grpId="2"/>
      <p:bldP spid="9" grpId="0"/>
      <p:bldP spid="9" grpId="1"/>
      <p:bldP spid="9" grpId="2"/>
      <p:bldP spid="10" grpId="0"/>
      <p:bldP spid="10" grpId="1"/>
      <p:bldP spid="10" grpId="2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/>
      <p:bldP spid="14" grpId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86;p49">
                <a:extLst>
                  <a:ext uri="{FF2B5EF4-FFF2-40B4-BE49-F238E27FC236}">
                    <a16:creationId xmlns:a16="http://schemas.microsoft.com/office/drawing/2014/main" xmlns="" id="{33E2FF7C-51E1-D96A-1609-949EBDFC309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sz="3200" dirty="0"/>
                  <a:t>Cardinality of decision functions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𝔻</m:t>
                    </m:r>
                  </m:oMath>
                </a14:m>
                <a:r>
                  <a:rPr lang="en-US" sz="3200" dirty="0"/>
                  <a:t> (2)</a:t>
                </a:r>
              </a:p>
            </p:txBody>
          </p:sp>
        </mc:Choice>
        <mc:Fallback xmlns="">
          <p:sp>
            <p:nvSpPr>
              <p:cNvPr id="2" name="Google Shape;2386;p49">
                <a:extLst>
                  <a:ext uri="{FF2B5EF4-FFF2-40B4-BE49-F238E27FC236}">
                    <a16:creationId xmlns:a16="http://schemas.microsoft.com/office/drawing/2014/main" xmlns="" id="{33E2FF7C-51E1-D96A-1609-949EBDFC309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 rotWithShape="1">
                <a:blip r:embed="rId3"/>
                <a:stretch>
                  <a:fillRect t="-5319" b="-4361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002C43C-8E91-DE63-B685-C04168E1BF9E}"/>
              </a:ext>
            </a:extLst>
          </p:cNvPr>
          <p:cNvSpPr txBox="1"/>
          <p:nvPr/>
        </p:nvSpPr>
        <p:spPr>
          <a:xfrm>
            <a:off x="1116637" y="1388649"/>
            <a:ext cx="594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</a:t>
            </a:r>
          </a:p>
          <a:p>
            <a:r>
              <a:rPr lang="en-US" sz="1800" dirty="0"/>
              <a:t>1</a:t>
            </a:r>
          </a:p>
          <a:p>
            <a:r>
              <a:rPr lang="en-US" sz="1800" dirty="0"/>
              <a:t>2</a:t>
            </a:r>
          </a:p>
          <a:p>
            <a:r>
              <a:rPr lang="en-US" sz="1800" dirty="0"/>
              <a:t>3</a:t>
            </a:r>
          </a:p>
          <a:p>
            <a:r>
              <a:rPr lang="en-US" sz="1800" dirty="0"/>
              <a:t>4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</a:t>
            </a:r>
          </a:p>
          <a:p>
            <a:r>
              <a:rPr lang="en-US" sz="1800" dirty="0"/>
              <a:t>7</a:t>
            </a:r>
          </a:p>
          <a:p>
            <a:r>
              <a:rPr lang="en-US" sz="1800" dirty="0"/>
              <a:t>8</a:t>
            </a:r>
          </a:p>
          <a:p>
            <a:r>
              <a:rPr lang="en-US" sz="1800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296631D-5DA1-2805-4ED4-C92B9D8971EF}"/>
              </a:ext>
            </a:extLst>
          </p:cNvPr>
          <p:cNvSpPr txBox="1"/>
          <p:nvPr/>
        </p:nvSpPr>
        <p:spPr>
          <a:xfrm>
            <a:off x="3249351" y="1386879"/>
            <a:ext cx="5566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0000000000000000000000000000000…</a:t>
            </a:r>
          </a:p>
          <a:p>
            <a:r>
              <a:rPr lang="en-US" sz="1800" dirty="0"/>
              <a:t>1000000000000000000000000000000…</a:t>
            </a:r>
          </a:p>
          <a:p>
            <a:r>
              <a:rPr lang="en-US" sz="1800" dirty="0"/>
              <a:t>1100000000000000000000000000000…</a:t>
            </a:r>
          </a:p>
          <a:p>
            <a:r>
              <a:rPr lang="en-US" sz="1800" dirty="0"/>
              <a:t>1110000000000000000000000000000…</a:t>
            </a:r>
          </a:p>
          <a:p>
            <a:r>
              <a:rPr lang="en-US" sz="1800" dirty="0"/>
              <a:t>1111000000000000000000000000000…</a:t>
            </a:r>
          </a:p>
          <a:p>
            <a:r>
              <a:rPr lang="en-US" sz="1800" dirty="0"/>
              <a:t>1111100000000000000000000000000…</a:t>
            </a:r>
          </a:p>
          <a:p>
            <a:r>
              <a:rPr lang="en-US" sz="1800" dirty="0"/>
              <a:t>1111110000000000000000000000000…</a:t>
            </a:r>
          </a:p>
          <a:p>
            <a:r>
              <a:rPr lang="en-US" sz="1800" dirty="0"/>
              <a:t>1111111000000000000000000000000…</a:t>
            </a:r>
          </a:p>
          <a:p>
            <a:r>
              <a:rPr lang="en-US" sz="1800" dirty="0"/>
              <a:t>1111111100000000000000000000000…</a:t>
            </a:r>
          </a:p>
          <a:p>
            <a:r>
              <a:rPr lang="en-US" sz="18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6B680AA4-15F4-4446-26F8-E6607DBB1C4C}"/>
                  </a:ext>
                </a:extLst>
              </p:cNvPr>
              <p:cNvSpPr txBox="1"/>
              <p:nvPr/>
            </p:nvSpPr>
            <p:spPr>
              <a:xfrm>
                <a:off x="3886238" y="4354385"/>
                <a:ext cx="18945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</a:rPr>
                        <m:t>𝔻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B680AA4-15F4-4446-26F8-E6607DBB1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38" y="4354385"/>
                <a:ext cx="189451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6;p49">
            <a:extLst>
              <a:ext uri="{FF2B5EF4-FFF2-40B4-BE49-F238E27FC236}">
                <a16:creationId xmlns:a16="http://schemas.microsoft.com/office/drawing/2014/main" xmlns="" id="{33E2FF7C-51E1-D96A-1609-949EBDFC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Machines vs. decision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6B680AA4-15F4-4446-26F8-E6607DBB1C4C}"/>
                  </a:ext>
                </a:extLst>
              </p:cNvPr>
              <p:cNvSpPr txBox="1"/>
              <p:nvPr/>
            </p:nvSpPr>
            <p:spPr>
              <a:xfrm>
                <a:off x="1045421" y="4033387"/>
                <a:ext cx="18945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</a:rPr>
                        <m:t>𝔻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B680AA4-15F4-4446-26F8-E6607DBB1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421" y="4033387"/>
                <a:ext cx="1894513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0CCEB1D3-6ACD-9FC0-2BCD-AD1466CF356F}"/>
                  </a:ext>
                </a:extLst>
              </p:cNvPr>
              <p:cNvSpPr txBox="1"/>
              <p:nvPr/>
            </p:nvSpPr>
            <p:spPr>
              <a:xfrm>
                <a:off x="1045421" y="3356525"/>
                <a:ext cx="18945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≠|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</a:rPr>
                        <m:t>𝔻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CEB1D3-6ACD-9FC0-2BCD-AD1466CF3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421" y="3356525"/>
                <a:ext cx="189451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xmlns="" id="{2083599E-1652-717F-B116-74BDC2B5D79B}"/>
              </a:ext>
            </a:extLst>
          </p:cNvPr>
          <p:cNvSpPr/>
          <p:nvPr/>
        </p:nvSpPr>
        <p:spPr>
          <a:xfrm>
            <a:off x="2939934" y="3356525"/>
            <a:ext cx="355386" cy="1261637"/>
          </a:xfrm>
          <a:prstGeom prst="rightBrac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A6C35E5F-9A06-2E96-3EFE-2F68F9C424DD}"/>
                  </a:ext>
                </a:extLst>
              </p:cNvPr>
              <p:cNvSpPr txBox="1"/>
              <p:nvPr/>
            </p:nvSpPr>
            <p:spPr>
              <a:xfrm>
                <a:off x="3461723" y="3694954"/>
                <a:ext cx="18945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&lt;|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</a:rPr>
                        <m:t>𝔻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C35E5F-9A06-2E96-3EFE-2F68F9C42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723" y="3694954"/>
                <a:ext cx="1894513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xmlns="" id="{F0B08F2F-2DAE-250F-BB48-F6D9A621F8A2}"/>
              </a:ext>
            </a:extLst>
          </p:cNvPr>
          <p:cNvSpPr/>
          <p:nvPr/>
        </p:nvSpPr>
        <p:spPr>
          <a:xfrm>
            <a:off x="6174101" y="1966364"/>
            <a:ext cx="355386" cy="2330506"/>
          </a:xfrm>
          <a:prstGeom prst="rightBrac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7CB755CC-F999-6ED2-1EA4-5549187BE563}"/>
                  </a:ext>
                </a:extLst>
              </p:cNvPr>
              <p:cNvSpPr txBox="1"/>
              <p:nvPr/>
            </p:nvSpPr>
            <p:spPr>
              <a:xfrm>
                <a:off x="6529487" y="2839229"/>
                <a:ext cx="22159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𝕄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&lt;|</m:t>
                      </m:r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𝔻</m:t>
                      </m:r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CB755CC-F999-6ED2-1EA4-5549187BE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487" y="2839229"/>
                <a:ext cx="2215928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xmlns="" id="{6EE39F56-62EB-CCB5-2284-3BEFCCF97EB6}"/>
                  </a:ext>
                </a:extLst>
              </p:cNvPr>
              <p:cNvSpPr txBox="1"/>
              <p:nvPr/>
            </p:nvSpPr>
            <p:spPr>
              <a:xfrm>
                <a:off x="1050419" y="1566062"/>
                <a:ext cx="275783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𝕄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≤|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E39F56-62EB-CCB5-2284-3BEFCCF97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19" y="1566062"/>
                <a:ext cx="2757830" cy="584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9">
            <a:extLst>
              <a:ext uri="{FF2B5EF4-FFF2-40B4-BE49-F238E27FC236}">
                <a16:creationId xmlns:a16="http://schemas.microsoft.com/office/drawing/2014/main" xmlns="" id="{B70BCA86-E3B2-6C2B-40AB-FDA74D56EF94}"/>
              </a:ext>
            </a:extLst>
          </p:cNvPr>
          <p:cNvSpPr/>
          <p:nvPr/>
        </p:nvSpPr>
        <p:spPr>
          <a:xfrm>
            <a:off x="3760360" y="1629859"/>
            <a:ext cx="355386" cy="1261637"/>
          </a:xfrm>
          <a:prstGeom prst="rightBrac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0">
                <a:extLst>
                  <a:ext uri="{FF2B5EF4-FFF2-40B4-BE49-F238E27FC236}">
                    <a16:creationId xmlns:a16="http://schemas.microsoft.com/office/drawing/2014/main" xmlns="" id="{29A97DB3-2CEE-817A-84BC-1BB4B74E1B42}"/>
                  </a:ext>
                </a:extLst>
              </p:cNvPr>
              <p:cNvSpPr txBox="1"/>
              <p:nvPr/>
            </p:nvSpPr>
            <p:spPr>
              <a:xfrm>
                <a:off x="1050389" y="2370518"/>
                <a:ext cx="28823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}"/>
                              <m:ctrlP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i="1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9A97DB3-2CEE-817A-84BC-1BB4B74E1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89" y="2370518"/>
                <a:ext cx="2882366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xmlns="" id="{1BEF9758-70BA-0142-C1A6-A3FD42BE6FAD}"/>
                  </a:ext>
                </a:extLst>
              </p:cNvPr>
              <p:cNvSpPr txBox="1"/>
              <p:nvPr/>
            </p:nvSpPr>
            <p:spPr>
              <a:xfrm>
                <a:off x="4132593" y="1968289"/>
                <a:ext cx="20415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 smtClean="0">
                              <a:solidFill>
                                <a:schemeClr val="bg2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𝕄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BEF9758-70BA-0142-C1A6-A3FD42BE6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93" y="1968289"/>
                <a:ext cx="2041508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26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" grpId="0"/>
      <p:bldP spid="6" grpId="0" animBg="1"/>
      <p:bldP spid="7" grpId="0"/>
      <p:bldP spid="13" grpId="0" animBg="1"/>
      <p:bldP spid="14" grpId="0"/>
      <p:bldP spid="15" grpId="0"/>
      <p:bldP spid="16" grpId="0" animBg="1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F97ACFE-115A-83DF-03D8-7ABCF2880C3C}"/>
              </a:ext>
            </a:extLst>
          </p:cNvPr>
          <p:cNvSpPr/>
          <p:nvPr/>
        </p:nvSpPr>
        <p:spPr>
          <a:xfrm>
            <a:off x="2759382" y="1594132"/>
            <a:ext cx="3754705" cy="3285366"/>
          </a:xfrm>
          <a:prstGeom prst="rect">
            <a:avLst/>
          </a:prstGeom>
          <a:pattFill prst="pct90">
            <a:fgClr>
              <a:schemeClr val="accent6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2386;p49">
            <a:extLst>
              <a:ext uri="{FF2B5EF4-FFF2-40B4-BE49-F238E27FC236}">
                <a16:creationId xmlns:a16="http://schemas.microsoft.com/office/drawing/2014/main" xmlns="" id="{33E2FF7C-51E1-D96A-1609-949EBDFC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There exist undecidable problems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D765B367-F71F-E264-7AD9-A7E94B27188D}"/>
              </a:ext>
            </a:extLst>
          </p:cNvPr>
          <p:cNvSpPr>
            <a:spLocks/>
          </p:cNvSpPr>
          <p:nvPr/>
        </p:nvSpPr>
        <p:spPr>
          <a:xfrm>
            <a:off x="3337965" y="1955275"/>
            <a:ext cx="2743200" cy="2743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5D82B93D-C6F9-5781-A437-8376E3D265E9}"/>
              </a:ext>
            </a:extLst>
          </p:cNvPr>
          <p:cNvSpPr>
            <a:spLocks noChangeAspect="1"/>
          </p:cNvSpPr>
          <p:nvPr/>
        </p:nvSpPr>
        <p:spPr>
          <a:xfrm>
            <a:off x="4405266" y="2959338"/>
            <a:ext cx="1423859" cy="1423859"/>
          </a:xfrm>
          <a:prstGeom prst="ellipse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4003362" y="2026225"/>
            <a:ext cx="11138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AD64DEE-0A64-E36B-94CF-00FC35C2F594}"/>
              </a:ext>
            </a:extLst>
          </p:cNvPr>
          <p:cNvSpPr/>
          <p:nvPr/>
        </p:nvSpPr>
        <p:spPr>
          <a:xfrm>
            <a:off x="2759383" y="1594132"/>
            <a:ext cx="3754705" cy="3285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2386;p49">
            <a:extLst>
              <a:ext uri="{FF2B5EF4-FFF2-40B4-BE49-F238E27FC236}">
                <a16:creationId xmlns:a16="http://schemas.microsoft.com/office/drawing/2014/main" xmlns="" id="{A477414F-897B-3938-A160-E3E0771AD2B0}"/>
              </a:ext>
            </a:extLst>
          </p:cNvPr>
          <p:cNvSpPr txBox="1">
            <a:spLocks/>
          </p:cNvSpPr>
          <p:nvPr/>
        </p:nvSpPr>
        <p:spPr>
          <a:xfrm>
            <a:off x="2638003" y="-18330"/>
            <a:ext cx="4328081" cy="51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arla Regular"/>
              <a:buNone/>
              <a:defRPr sz="3600" b="0" i="0" u="none" strike="noStrike" cap="none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(also unacceptable)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/>
              <p:nvPr/>
            </p:nvSpPr>
            <p:spPr>
              <a:xfrm>
                <a:off x="2759382" y="1570554"/>
                <a:ext cx="111383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/>
                        </a:rPr>
                        <m:t>𝔻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382" y="1570554"/>
                <a:ext cx="1113834" cy="76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9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5" grpId="0" animBg="1"/>
      <p:bldP spid="9" grpId="0"/>
      <p:bldP spid="15" grpId="0" animBg="1"/>
      <p:bldP spid="16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6;p49">
            <a:extLst>
              <a:ext uri="{FF2B5EF4-FFF2-40B4-BE49-F238E27FC236}">
                <a16:creationId xmlns:a16="http://schemas.microsoft.com/office/drawing/2014/main" xmlns="" id="{256A0033-544A-98AC-5A11-F17831C83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Halting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xmlns="" id="{6EF79995-2C28-6A14-FE38-B34683B68EF9}"/>
                  </a:ext>
                </a:extLst>
              </p:cNvPr>
              <p:cNvSpPr txBox="1"/>
              <p:nvPr/>
            </p:nvSpPr>
            <p:spPr>
              <a:xfrm>
                <a:off x="81777" y="1255392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6EF79995-2C28-6A14-FE38-B34683B68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7" y="1255392"/>
                <a:ext cx="5293112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xmlns="" id="{93F232F7-BF1C-7CCA-32EB-B21A1E656FFE}"/>
                  </a:ext>
                </a:extLst>
              </p:cNvPr>
              <p:cNvSpPr txBox="1"/>
              <p:nvPr/>
            </p:nvSpPr>
            <p:spPr>
              <a:xfrm>
                <a:off x="5083732" y="1245891"/>
                <a:ext cx="2536155" cy="496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id="{93F232F7-BF1C-7CCA-32EB-B21A1E65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2" y="1245891"/>
                <a:ext cx="2536155" cy="496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xmlns="" id="{92C2B8EE-921D-DFD9-2D52-60C93365CE07}"/>
                  </a:ext>
                </a:extLst>
              </p:cNvPr>
              <p:cNvSpPr txBox="1"/>
              <p:nvPr/>
            </p:nvSpPr>
            <p:spPr>
              <a:xfrm>
                <a:off x="1925444" y="2249103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3600" b="0" i="1" smtClean="0">
                              <a:solidFill>
                                <a:schemeClr val="bg2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ar-AE" sz="36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h</m:t>
                      </m:r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𝑎𝑙𝑡𝑠</m:t>
                      </m:r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?</m:t>
                      </m:r>
                    </m:oMath>
                  </m:oMathPara>
                </a14:m>
                <a:endParaRPr lang="ar-AE" sz="3600" dirty="0">
                  <a:solidFill>
                    <a:schemeClr val="bg2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92C2B8EE-921D-DFD9-2D52-60C93365C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2249103"/>
                <a:ext cx="5293112" cy="828941"/>
              </a:xfrm>
              <a:prstGeom prst="rect">
                <a:avLst/>
              </a:prstGeom>
              <a:blipFill>
                <a:blip r:embed="rId5"/>
                <a:stretch>
                  <a:fillRect t="-5882" b="-102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xmlns="" id="{A23E7AE1-0371-BC45-40DD-915908AEA876}"/>
                  </a:ext>
                </a:extLst>
              </p:cNvPr>
              <p:cNvSpPr txBox="1"/>
              <p:nvPr/>
            </p:nvSpPr>
            <p:spPr>
              <a:xfrm>
                <a:off x="720000" y="3627094"/>
                <a:ext cx="3225688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sz="28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HALT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𝑀</m:t>
                            </m:r>
                            <m: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, </m:t>
                            </m:r>
                            <m: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=</m:t>
                    </m:r>
                  </m:oMath>
                </a14:m>
                <a:endParaRPr sz="36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A23E7AE1-0371-BC45-40DD-915908AEA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627094"/>
                <a:ext cx="3225688" cy="828941"/>
              </a:xfrm>
              <a:prstGeom prst="rect">
                <a:avLst/>
              </a:prstGeom>
              <a:blipFill>
                <a:blip r:embed="rId6"/>
                <a:stretch>
                  <a:fillRect l="-37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xmlns="" id="{24BC6EB7-5493-1028-92B5-A80C1B817442}"/>
              </a:ext>
            </a:extLst>
          </p:cNvPr>
          <p:cNvSpPr/>
          <p:nvPr/>
        </p:nvSpPr>
        <p:spPr>
          <a:xfrm>
            <a:off x="3945688" y="3486282"/>
            <a:ext cx="449109" cy="111056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97;p49">
                <a:extLst>
                  <a:ext uri="{FF2B5EF4-FFF2-40B4-BE49-F238E27FC236}">
                    <a16:creationId xmlns:a16="http://schemas.microsoft.com/office/drawing/2014/main" xmlns="" id="{6FDBDC56-1C8A-8D38-D22A-4ECC48DBBE85}"/>
                  </a:ext>
                </a:extLst>
              </p:cNvPr>
              <p:cNvSpPr txBox="1"/>
              <p:nvPr/>
            </p:nvSpPr>
            <p:spPr>
              <a:xfrm>
                <a:off x="4394797" y="3316125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𝑎𝑙𝑡𝑠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7" name="Google Shape;2397;p49">
                <a:extLst>
                  <a:ext uri="{FF2B5EF4-FFF2-40B4-BE49-F238E27FC236}">
                    <a16:creationId xmlns:a16="http://schemas.microsoft.com/office/drawing/2014/main" id="{6FDBDC56-1C8A-8D38-D22A-4ECC48DBB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97" y="3316125"/>
                <a:ext cx="3903632" cy="8289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397;p49">
                <a:extLst>
                  <a:ext uri="{FF2B5EF4-FFF2-40B4-BE49-F238E27FC236}">
                    <a16:creationId xmlns:a16="http://schemas.microsoft.com/office/drawing/2014/main" xmlns="" id="{D8C93DD5-37FF-88EB-2CD8-288F38C53EAC}"/>
                  </a:ext>
                </a:extLst>
              </p:cNvPr>
              <p:cNvSpPr txBox="1"/>
              <p:nvPr/>
            </p:nvSpPr>
            <p:spPr>
              <a:xfrm>
                <a:off x="4394797" y="4041564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𝑜𝑡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𝑒𝑟𝑤𝑖𝑠𝑒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9" name="Google Shape;2397;p49">
                <a:extLst>
                  <a:ext uri="{FF2B5EF4-FFF2-40B4-BE49-F238E27FC236}">
                    <a16:creationId xmlns:a16="http://schemas.microsoft.com/office/drawing/2014/main" id="{D8C93DD5-37FF-88EB-2CD8-288F38C53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97" y="4041564"/>
                <a:ext cx="3903632" cy="8289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2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6;p49">
            <a:extLst>
              <a:ext uri="{FF2B5EF4-FFF2-40B4-BE49-F238E27FC236}">
                <a16:creationId xmlns:a16="http://schemas.microsoft.com/office/drawing/2014/main" xmlns="" id="{256A0033-544A-98AC-5A11-F17831C83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HALT is undecidable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xmlns="" id="{848E44FA-6891-010A-6DEB-19301911471B}"/>
                  </a:ext>
                </a:extLst>
              </p:cNvPr>
              <p:cNvSpPr txBox="1"/>
              <p:nvPr/>
            </p:nvSpPr>
            <p:spPr>
              <a:xfrm>
                <a:off x="1925444" y="1742809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𝐴𝑠𝑠𝑢𝑚𝑒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HALT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𝑅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Bauhaus 93" panose="04030905020B02020C02" pitchFamily="82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id="{848E44FA-6891-010A-6DEB-193019114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1742809"/>
                <a:ext cx="5293112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97;p49">
                <a:extLst>
                  <a:ext uri="{FF2B5EF4-FFF2-40B4-BE49-F238E27FC236}">
                    <a16:creationId xmlns:a16="http://schemas.microsoft.com/office/drawing/2014/main" xmlns="" id="{10B68831-CCAB-CE12-CF30-FC162C6FD7C5}"/>
                  </a:ext>
                </a:extLst>
              </p:cNvPr>
              <p:cNvSpPr txBox="1"/>
              <p:nvPr/>
            </p:nvSpPr>
            <p:spPr>
              <a:xfrm>
                <a:off x="1925444" y="2782260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⇒∃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𝐻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𝐻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𝑑𝑒𝑐𝑖𝑑𝑒𝑠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HALT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Bauhaus 93" panose="04030905020B02020C02" pitchFamily="82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0" name="Google Shape;2397;p49">
                <a:extLst>
                  <a:ext uri="{FF2B5EF4-FFF2-40B4-BE49-F238E27FC236}">
                    <a16:creationId xmlns:a16="http://schemas.microsoft.com/office/drawing/2014/main" id="{10B68831-CCAB-CE12-CF30-FC162C6FD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2782260"/>
                <a:ext cx="5293112" cy="828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2397;p49">
                <a:extLst>
                  <a:ext uri="{FF2B5EF4-FFF2-40B4-BE49-F238E27FC236}">
                    <a16:creationId xmlns:a16="http://schemas.microsoft.com/office/drawing/2014/main" xmlns="" id="{8C7812C4-EEF6-09A5-DB4F-0B93B0C202A8}"/>
                  </a:ext>
                </a:extLst>
              </p:cNvPr>
              <p:cNvSpPr txBox="1"/>
              <p:nvPr/>
            </p:nvSpPr>
            <p:spPr>
              <a:xfrm>
                <a:off x="1925444" y="3735772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𝐶𝑜𝑛𝑠𝑡𝑟𝑢𝑐𝑡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𝑚𝑎𝑐h𝑖𝑛𝑒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𝐷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Bauhaus 93" panose="04030905020B02020C02" pitchFamily="82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1" name="Google Shape;2397;p49">
                <a:extLst>
                  <a:ext uri="{FF2B5EF4-FFF2-40B4-BE49-F238E27FC236}">
                    <a16:creationId xmlns:a16="http://schemas.microsoft.com/office/drawing/2014/main" id="{8C7812C4-EEF6-09A5-DB4F-0B93B0C20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3735772"/>
                <a:ext cx="5293112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69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2386;p49">
                <a:extLst>
                  <a:ext uri="{FF2B5EF4-FFF2-40B4-BE49-F238E27FC236}">
                    <a16:creationId xmlns:a16="http://schemas.microsoft.com/office/drawing/2014/main" xmlns="" id="{256A0033-544A-98AC-5A11-F17831C838BA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Behavior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Google Shape;2386;p49">
                <a:extLst>
                  <a:ext uri="{FF2B5EF4-FFF2-40B4-BE49-F238E27FC236}">
                    <a16:creationId xmlns:a16="http://schemas.microsoft.com/office/drawing/2014/main" id="{256A0033-544A-98AC-5A11-F17831C838B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8511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xmlns="" id="{F6BBAC86-00E0-4BEB-50D8-5F6F553E2389}"/>
                  </a:ext>
                </a:extLst>
              </p:cNvPr>
              <p:cNvSpPr txBox="1"/>
              <p:nvPr/>
            </p:nvSpPr>
            <p:spPr>
              <a:xfrm>
                <a:off x="485332" y="1338207"/>
                <a:ext cx="4305154" cy="3428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On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enc</m:t>
                    </m:r>
                    <m:r>
                      <a:rPr lang="en-US" sz="20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𝑀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):</m:t>
                    </m:r>
                  </m:oMath>
                </a14:m>
                <a:endParaRPr lang="en-US" sz="20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𝐻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[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𝑒𝑛𝑐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]</m:t>
                    </m:r>
                  </m:oMath>
                </a14:m>
                <a:endParaRPr lang="en-US" sz="20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𝑀</m:t>
                            </m:r>
                            <m:r>
                              <a:rPr lang="en-US" sz="2000" i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, </m:t>
                            </m:r>
                            <m:r>
                              <a:rPr lang="en-US" sz="2000" i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𝑀</m:t>
                            </m:r>
                            <m:r>
                              <a:rPr lang="en-US" sz="20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→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𝑇𝑅𝑈𝐸</m:t>
                    </m:r>
                    <m:r>
                      <a:rPr lang="en-US" sz="20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:</m:t>
                    </m:r>
                  </m:oMath>
                </a14:m>
                <a:endParaRPr lang="en-US" sz="20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loop forever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else: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halt</a:t>
                </a:r>
                <a:endParaRPr sz="20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F6BBAC86-00E0-4BEB-50D8-5F6F553E2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32" y="1338207"/>
                <a:ext cx="4305154" cy="3428002"/>
              </a:xfrm>
              <a:prstGeom prst="rect">
                <a:avLst/>
              </a:prstGeom>
              <a:blipFill>
                <a:blip r:embed="rId4"/>
                <a:stretch>
                  <a:fillRect l="-15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xmlns="" id="{0E09DDE3-BDA3-15A1-5641-A134CCA67B6E}"/>
                  </a:ext>
                </a:extLst>
              </p:cNvPr>
              <p:cNvSpPr txBox="1"/>
              <p:nvPr/>
            </p:nvSpPr>
            <p:spPr>
              <a:xfrm>
                <a:off x="5525322" y="1642660"/>
                <a:ext cx="3011777" cy="572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191919"/>
                    </a:solidFill>
                    <a:latin typeface="+mj-lt"/>
                    <a:ea typeface="Karla Regular"/>
                    <a:cs typeface="Karla Regular"/>
                    <a:sym typeface="Karla Regular"/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?</m:t>
                    </m:r>
                  </m:oMath>
                </a14:m>
                <a:endParaRPr lang="en-US" sz="2000" b="0" dirty="0">
                  <a:solidFill>
                    <a:srgbClr val="191919"/>
                  </a:solidFill>
                  <a:latin typeface="+mj-lt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id="{0E09DDE3-BDA3-15A1-5641-A134CCA67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322" y="1642660"/>
                <a:ext cx="3011777" cy="572701"/>
              </a:xfrm>
              <a:prstGeom prst="rect">
                <a:avLst/>
              </a:prstGeom>
              <a:blipFill>
                <a:blip r:embed="rId5"/>
                <a:stretch>
                  <a:fillRect l="-2024" b="-138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7D8D8A0-7824-19A9-95CB-DAF72A39440C}"/>
                  </a:ext>
                </a:extLst>
              </p:cNvPr>
              <p:cNvSpPr txBox="1"/>
              <p:nvPr/>
            </p:nvSpPr>
            <p:spPr>
              <a:xfrm>
                <a:off x="5221871" y="2592959"/>
                <a:ext cx="3618678" cy="1427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ar-AE" sz="200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ar-AE" sz="20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ar-AE" sz="2000" i="1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h</m:t>
                    </m:r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𝑎𝑙𝑡𝑠</m:t>
                    </m:r>
                  </m:oMath>
                </a14:m>
                <a:endParaRPr lang="ar-AE" sz="2000" b="0" dirty="0">
                  <a:solidFill>
                    <a:srgbClr val="191919"/>
                  </a:solidFill>
                  <a:latin typeface="+mj-lt"/>
                  <a:ea typeface="Karla Regular"/>
                  <a:cs typeface="Karla Regular"/>
                  <a:sym typeface="Karla Regular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⇒</m:t>
                          </m:r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𝐷</m:t>
                              </m:r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𝐷</m:t>
                              </m:r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 </m:t>
                      </m:r>
                    </m:oMath>
                  </m:oMathPara>
                </a14:m>
                <a:endParaRPr lang="ar-AE" sz="2000" i="1" dirty="0">
                  <a:solidFill>
                    <a:srgbClr val="191919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⇒</m:t>
                    </m:r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20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ar-AE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ar-AE" sz="2000" b="0" i="1" smtClean="0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ar-AE" sz="20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 </m:t>
                    </m:r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𝑙𝑜𝑜𝑝𝑠</m:t>
                    </m:r>
                  </m:oMath>
                </a14:m>
                <a:r>
                  <a:rPr lang="ar-AE" sz="2000" dirty="0">
                    <a:solidFill>
                      <a:srgbClr val="191919"/>
                    </a:solidFill>
                    <a:latin typeface="+mj-lt"/>
                    <a:ea typeface="Karla Regular"/>
                    <a:cs typeface="Karla Regular"/>
                    <a:sym typeface="Karla Regular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D8D8A0-7824-19A9-95CB-DAF72A394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871" y="2592959"/>
                <a:ext cx="3618678" cy="1427827"/>
              </a:xfrm>
              <a:prstGeom prst="rect">
                <a:avLst/>
              </a:prstGeom>
              <a:blipFill>
                <a:blip r:embed="rId6"/>
                <a:stretch>
                  <a:fillRect l="-1686" r="-843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B28B355D-66DB-F03C-06AA-FC7E9C7BE41B}"/>
                  </a:ext>
                </a:extLst>
              </p:cNvPr>
              <p:cNvSpPr txBox="1"/>
              <p:nvPr/>
            </p:nvSpPr>
            <p:spPr>
              <a:xfrm>
                <a:off x="5221871" y="2592958"/>
                <a:ext cx="3618678" cy="1427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ar-AE" sz="200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ar-AE" sz="20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ar-AE" sz="2000" i="1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𝑙𝑜𝑜𝑝𝑠</m:t>
                    </m:r>
                  </m:oMath>
                </a14:m>
                <a:endParaRPr lang="ar-AE" sz="2000" b="0" dirty="0">
                  <a:solidFill>
                    <a:srgbClr val="191919"/>
                  </a:solidFill>
                  <a:latin typeface="+mj-lt"/>
                  <a:ea typeface="Karla Regular"/>
                  <a:cs typeface="Karla Regular"/>
                  <a:sym typeface="Karla Regular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⇒</m:t>
                          </m:r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𝐻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200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𝐷</m:t>
                              </m:r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𝐷</m:t>
                              </m:r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2000" i="1" dirty="0">
                  <a:solidFill>
                    <a:srgbClr val="191919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⇒</m:t>
                    </m:r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20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ar-AE" sz="20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ar-AE" sz="2000" b="0" i="1" smtClean="0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ar-AE" sz="20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ar-AE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 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h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𝑎𝑙𝑡𝑠</m:t>
                    </m:r>
                  </m:oMath>
                </a14:m>
                <a:r>
                  <a:rPr lang="ar-AE" sz="2000" dirty="0">
                    <a:solidFill>
                      <a:srgbClr val="191919"/>
                    </a:solidFill>
                    <a:latin typeface="+mj-lt"/>
                    <a:ea typeface="Karla Regular"/>
                    <a:cs typeface="Karla Regular"/>
                    <a:sym typeface="Karla Regular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8B355D-66DB-F03C-06AA-FC7E9C7BE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871" y="2592958"/>
                <a:ext cx="3618678" cy="1427827"/>
              </a:xfrm>
              <a:prstGeom prst="rect">
                <a:avLst/>
              </a:prstGeom>
              <a:blipFill>
                <a:blip r:embed="rId7"/>
                <a:stretch>
                  <a:fillRect l="-1686" r="-1349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29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0" grpId="1" build="allAtOnce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86;p49">
            <a:extLst>
              <a:ext uri="{FF2B5EF4-FFF2-40B4-BE49-F238E27FC236}">
                <a16:creationId xmlns:a16="http://schemas.microsoft.com/office/drawing/2014/main" xmlns="" id="{CA320134-0B99-1D4B-11E1-C80E273BE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HALT is undecidable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xmlns="" id="{E2ABC9E0-D060-218C-05B8-643DFE92A079}"/>
                  </a:ext>
                </a:extLst>
              </p:cNvPr>
              <p:cNvSpPr txBox="1"/>
              <p:nvPr/>
            </p:nvSpPr>
            <p:spPr>
              <a:xfrm>
                <a:off x="1925444" y="1742809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𝐻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𝑐𝑎𝑛𝑛𝑜𝑡</m:t>
                      </m:r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32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𝑒𝑥𝑖𝑠𝑡</m:t>
                      </m:r>
                    </m:oMath>
                  </m:oMathPara>
                </a14:m>
                <a:endParaRPr sz="3200" i="1" dirty="0">
                  <a:solidFill>
                    <a:srgbClr val="191919"/>
                  </a:solidFill>
                  <a:latin typeface="Bauhaus 93" panose="04030905020B02020C02" pitchFamily="82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E2ABC9E0-D060-218C-05B8-643DFE92A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1742809"/>
                <a:ext cx="5293112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xmlns="" id="{9F90C865-F243-B454-EFF8-28B918382FF2}"/>
                  </a:ext>
                </a:extLst>
              </p:cNvPr>
              <p:cNvSpPr txBox="1"/>
              <p:nvPr/>
            </p:nvSpPr>
            <p:spPr>
              <a:xfrm>
                <a:off x="1925444" y="3409216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HALT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∉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𝑅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  <a:latin typeface="Bauhaus 93" panose="04030905020B02020C02" pitchFamily="82" charset="0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F90C865-F243-B454-EFF8-28B918382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3409216"/>
                <a:ext cx="5293112" cy="8289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81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6;p49">
            <a:extLst>
              <a:ext uri="{FF2B5EF4-FFF2-40B4-BE49-F238E27FC236}">
                <a16:creationId xmlns:a16="http://schemas.microsoft.com/office/drawing/2014/main" xmlns="" id="{256A0033-544A-98AC-5A11-F17831C83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HALT is acceptable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xmlns="" id="{9AF124E3-1AC1-D3D6-BE71-7D1CDD540FAD}"/>
                  </a:ext>
                </a:extLst>
              </p:cNvPr>
              <p:cNvSpPr txBox="1"/>
              <p:nvPr/>
            </p:nvSpPr>
            <p:spPr>
              <a:xfrm>
                <a:off x="2856098" y="1967447"/>
                <a:ext cx="4083876" cy="1633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180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On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enc</m:t>
                    </m:r>
                    <m:r>
                      <a:rPr lang="en-US" sz="18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((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𝑀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, 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𝑤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)):</m:t>
                    </m:r>
                  </m:oMath>
                </a14:m>
                <a:endParaRPr lang="en-US" sz="1800" b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simulate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𝑈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[</m:t>
                    </m:r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𝑒𝑛𝑐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𝑀</m:t>
                        </m:r>
                        <m: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  <m: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)</m:t>
                        </m:r>
                      </m:e>
                    </m:d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]</m:t>
                    </m:r>
                  </m:oMath>
                </a14:m>
                <a:endParaRPr lang="en-US" sz="180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transition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𝑌</m:t>
                    </m:r>
                  </m:oMath>
                </a14:m>
                <a:r>
                  <a:rPr lang="en-US" sz="180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</a:t>
                </a:r>
                <a:endParaRPr sz="180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9AF124E3-1AC1-D3D6-BE71-7D1CDD540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098" y="1967447"/>
                <a:ext cx="4083876" cy="1633265"/>
              </a:xfrm>
              <a:prstGeom prst="rect">
                <a:avLst/>
              </a:prstGeom>
              <a:blipFill>
                <a:blip r:embed="rId3"/>
                <a:stretch>
                  <a:fillRect l="-13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xmlns="" id="{68B09445-C2A0-BD7C-9A64-6EDAEAE90191}"/>
                  </a:ext>
                </a:extLst>
              </p:cNvPr>
              <p:cNvSpPr txBox="1"/>
              <p:nvPr/>
            </p:nvSpPr>
            <p:spPr>
              <a:xfrm>
                <a:off x="2856098" y="1650881"/>
                <a:ext cx="3620126" cy="633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𝑀𝑎𝑐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𝑖𝑛𝑒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𝐴𝐻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:</m:t>
                      </m:r>
                    </m:oMath>
                  </m:oMathPara>
                </a14:m>
                <a:endParaRPr sz="3200" i="1">
                  <a:solidFill>
                    <a:srgbClr val="191919"/>
                  </a:solidFill>
                  <a:latin typeface="Bauhaus 93" panose="04030905020B02020C02" pitchFamily="82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id="{68B09445-C2A0-BD7C-9A64-6EDAEAE90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098" y="1650881"/>
                <a:ext cx="3620126" cy="633132"/>
              </a:xfrm>
              <a:prstGeom prst="rect">
                <a:avLst/>
              </a:prstGeom>
              <a:blipFill>
                <a:blip r:embed="rId4"/>
                <a:stretch>
                  <a:fillRect l="-5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xmlns="" id="{2CB94DC5-EEBF-35CB-6F30-E2A5457A6725}"/>
                  </a:ext>
                </a:extLst>
              </p:cNvPr>
              <p:cNvSpPr txBox="1"/>
              <p:nvPr/>
            </p:nvSpPr>
            <p:spPr>
              <a:xfrm>
                <a:off x="2757520" y="3615233"/>
                <a:ext cx="3628960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𝐴𝐻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𝑎𝑐𝑐𝑒𝑝𝑡𝑠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HALT</m:t>
                      </m:r>
                    </m:oMath>
                  </m:oMathPara>
                </a14:m>
                <a:endParaRPr sz="2800">
                  <a:solidFill>
                    <a:srgbClr val="191919"/>
                  </a:solidFill>
                  <a:latin typeface="Bauhaus 93" panose="04030905020B02020C02" pitchFamily="82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2CB94DC5-EEBF-35CB-6F30-E2A5457A6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520" y="3615233"/>
                <a:ext cx="3628960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xmlns="" id="{9F90C865-F243-B454-EFF8-28B918382FF2}"/>
                  </a:ext>
                </a:extLst>
              </p:cNvPr>
              <p:cNvSpPr txBox="1"/>
              <p:nvPr/>
            </p:nvSpPr>
            <p:spPr>
              <a:xfrm>
                <a:off x="1925444" y="4238157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HALT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  <a:sym typeface="Karla Regular"/>
                        </a:rPr>
                        <m:t>∈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𝑅</m:t>
                      </m:r>
                      <m:r>
                        <a:rPr lang="en-US" sz="3200" b="0" i="1" smtClean="0">
                          <a:solidFill>
                            <a:schemeClr val="bg2"/>
                          </a:solidFill>
                          <a:latin typeface="Cambria Math"/>
                          <a:sym typeface="Karla Regular"/>
                        </a:rPr>
                        <m:t>𝐸</m:t>
                      </m:r>
                    </m:oMath>
                  </m:oMathPara>
                </a14:m>
                <a:endParaRPr lang="en-US" sz="3200" b="0" dirty="0">
                  <a:solidFill>
                    <a:schemeClr val="bg2"/>
                  </a:solidFill>
                  <a:latin typeface="Bauhaus 93" panose="04030905020B02020C02" pitchFamily="82" charset="0"/>
                  <a:sym typeface="Karla Regular"/>
                </a:endParaRPr>
              </a:p>
            </p:txBody>
          </p:sp>
        </mc:Choice>
        <mc:Fallback xmlns="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id="{9F90C865-F243-B454-EFF8-28B918382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4238157"/>
                <a:ext cx="5293112" cy="8289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96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F97ACFE-115A-83DF-03D8-7ABCF2880C3C}"/>
              </a:ext>
            </a:extLst>
          </p:cNvPr>
          <p:cNvSpPr/>
          <p:nvPr/>
        </p:nvSpPr>
        <p:spPr>
          <a:xfrm>
            <a:off x="2759382" y="1594132"/>
            <a:ext cx="3754705" cy="3285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2386;p49">
                <a:extLst>
                  <a:ext uri="{FF2B5EF4-FFF2-40B4-BE49-F238E27FC236}">
                    <a16:creationId xmlns:a16="http://schemas.microsoft.com/office/drawing/2014/main" xmlns="" id="{33E2FF7C-51E1-D96A-1609-949EBDFC309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HALT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∈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∖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Google Shape;2386;p49">
                <a:extLst>
                  <a:ext uri="{FF2B5EF4-FFF2-40B4-BE49-F238E27FC236}">
                    <a16:creationId xmlns:a16="http://schemas.microsoft.com/office/drawing/2014/main" xmlns="" id="{33E2FF7C-51E1-D96A-1609-949EBDFC309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 rotWithShape="1"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xmlns="" id="{D765B367-F71F-E264-7AD9-A7E94B27188D}"/>
              </a:ext>
            </a:extLst>
          </p:cNvPr>
          <p:cNvSpPr>
            <a:spLocks/>
          </p:cNvSpPr>
          <p:nvPr/>
        </p:nvSpPr>
        <p:spPr>
          <a:xfrm>
            <a:off x="3337965" y="1955275"/>
            <a:ext cx="2743200" cy="2743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5D82B93D-C6F9-5781-A437-8376E3D265E9}"/>
              </a:ext>
            </a:extLst>
          </p:cNvPr>
          <p:cNvSpPr>
            <a:spLocks noChangeAspect="1"/>
          </p:cNvSpPr>
          <p:nvPr/>
        </p:nvSpPr>
        <p:spPr>
          <a:xfrm>
            <a:off x="4405266" y="2959338"/>
            <a:ext cx="1423859" cy="1423859"/>
          </a:xfrm>
          <a:prstGeom prst="ellipse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4003362" y="2026225"/>
            <a:ext cx="11138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AD64DEE-0A64-E36B-94CF-00FC35C2F594}"/>
              </a:ext>
            </a:extLst>
          </p:cNvPr>
          <p:cNvSpPr/>
          <p:nvPr/>
        </p:nvSpPr>
        <p:spPr>
          <a:xfrm>
            <a:off x="2759383" y="1594132"/>
            <a:ext cx="3754705" cy="3285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ication Sign 16">
            <a:extLst>
              <a:ext uri="{FF2B5EF4-FFF2-40B4-BE49-F238E27FC236}">
                <a16:creationId xmlns="" xmlns:a16="http://schemas.microsoft.com/office/drawing/2014/main" id="{7056A4F1-8BAB-8F6E-933D-D64C0B6D8A69}"/>
              </a:ext>
            </a:extLst>
          </p:cNvPr>
          <p:cNvSpPr/>
          <p:nvPr/>
        </p:nvSpPr>
        <p:spPr>
          <a:xfrm>
            <a:off x="3874326" y="3201708"/>
            <a:ext cx="283221" cy="250333"/>
          </a:xfrm>
          <a:prstGeom prst="mathMultiply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="" xmlns:a16="http://schemas.microsoft.com/office/drawing/2014/main" id="{7434424E-C005-AC06-10FC-9CBAD6B49D24}"/>
              </a:ext>
            </a:extLst>
          </p:cNvPr>
          <p:cNvSpPr txBox="1"/>
          <p:nvPr/>
        </p:nvSpPr>
        <p:spPr>
          <a:xfrm>
            <a:off x="1243049" y="1764615"/>
            <a:ext cx="1581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HALT</a:t>
            </a:r>
            <a:endParaRPr lang="en-US" sz="2800" b="1" dirty="0">
              <a:solidFill>
                <a:schemeClr val="tx2"/>
              </a:solidFill>
            </a:endParaRPr>
          </a:p>
        </p:txBody>
      </p:sp>
      <p:cxnSp>
        <p:nvCxnSpPr>
          <p:cNvPr id="11" name="Straight Connector 14">
            <a:extLst>
              <a:ext uri="{FF2B5EF4-FFF2-40B4-BE49-F238E27FC236}">
                <a16:creationId xmlns="" xmlns:a16="http://schemas.microsoft.com/office/drawing/2014/main" id="{8EA7D006-FD1B-3544-23A8-77AD6DFCC357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033961" y="2287835"/>
            <a:ext cx="1981975" cy="101786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/>
              <p:nvPr/>
            </p:nvSpPr>
            <p:spPr>
              <a:xfrm>
                <a:off x="2759382" y="1570554"/>
                <a:ext cx="111383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/>
                        </a:rPr>
                        <m:t>𝔻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382" y="1570554"/>
                <a:ext cx="1113834" cy="7694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45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4" grpId="0"/>
    </p:bld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957</Words>
  <Application>Microsoft Office PowerPoint</Application>
  <PresentationFormat>Expunere pe ecran (16:9)</PresentationFormat>
  <Paragraphs>324</Paragraphs>
  <Slides>22</Slides>
  <Notes>22</Notes>
  <HiddenSlides>0</HiddenSlides>
  <MMClips>0</MMClips>
  <ScaleCrop>false</ScaleCrop>
  <HeadingPairs>
    <vt:vector size="6" baseType="variant">
      <vt:variant>
        <vt:lpstr>Fonturi utilizate</vt:lpstr>
      </vt:variant>
      <vt:variant>
        <vt:i4>8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22</vt:i4>
      </vt:variant>
    </vt:vector>
  </HeadingPairs>
  <TitlesOfParts>
    <vt:vector size="31" baseType="lpstr">
      <vt:lpstr>Arial</vt:lpstr>
      <vt:lpstr>Nunito</vt:lpstr>
      <vt:lpstr>Karla</vt:lpstr>
      <vt:lpstr>Roboto Condensed Light</vt:lpstr>
      <vt:lpstr>Karla Regular</vt:lpstr>
      <vt:lpstr>Lucida Sans Typewriter</vt:lpstr>
      <vt:lpstr>Cambria Math</vt:lpstr>
      <vt:lpstr>Bauhaus 93</vt:lpstr>
      <vt:lpstr>Mathematics Subject for Middle School - 6th Grade: Algebra by Slidesgo</vt:lpstr>
      <vt:lpstr>Recap</vt:lpstr>
      <vt:lpstr>Undecidable Problems</vt:lpstr>
      <vt:lpstr>Contents</vt:lpstr>
      <vt:lpstr>Cardinality</vt:lpstr>
      <vt:lpstr>Cardinality (2)</vt:lpstr>
      <vt:lpstr>Cardinality of infinite sets</vt:lpstr>
      <vt:lpstr>Cardinality of the integers</vt:lpstr>
      <vt:lpstr>Cardinality of binary strings</vt:lpstr>
      <vt:lpstr>Cardinality of [0, 1)</vt:lpstr>
      <vt:lpstr>Cardinality of Turing Machines M</vt:lpstr>
      <vt:lpstr>Cardinality of Turing Machines M (2)</vt:lpstr>
      <vt:lpstr>Representing a decision problem</vt:lpstr>
      <vt:lpstr>Cardinality of decision problems D</vt:lpstr>
      <vt:lpstr>Cardinality of decision functions D (2)</vt:lpstr>
      <vt:lpstr>Machines vs. decision problems</vt:lpstr>
      <vt:lpstr>There exist undecidable problems</vt:lpstr>
      <vt:lpstr>The Halting Problem</vt:lpstr>
      <vt:lpstr>HALT is undecidable</vt:lpstr>
      <vt:lpstr>Behavior of D</vt:lpstr>
      <vt:lpstr>HALT is undecidable (2)</vt:lpstr>
      <vt:lpstr>HALT is acceptable</vt:lpstr>
      <vt:lpstr>HALT∈RE∖R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adfafhdafhadjfh@outlook.com</cp:lastModifiedBy>
  <cp:revision>191</cp:revision>
  <dcterms:modified xsi:type="dcterms:W3CDTF">2022-10-28T08:55:04Z</dcterms:modified>
</cp:coreProperties>
</file>