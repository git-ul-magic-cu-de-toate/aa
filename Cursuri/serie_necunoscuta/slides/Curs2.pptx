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4"/>
  </p:notesMasterIdLst>
  <p:sldIdLst>
    <p:sldId id="257" r:id="rId2"/>
    <p:sldId id="256" r:id="rId3"/>
    <p:sldId id="324" r:id="rId4"/>
    <p:sldId id="262" r:id="rId5"/>
    <p:sldId id="323" r:id="rId6"/>
    <p:sldId id="265" r:id="rId7"/>
    <p:sldId id="318" r:id="rId8"/>
    <p:sldId id="322" r:id="rId9"/>
    <p:sldId id="259" r:id="rId10"/>
    <p:sldId id="263" r:id="rId11"/>
    <p:sldId id="258" r:id="rId12"/>
    <p:sldId id="321" r:id="rId13"/>
  </p:sldIdLst>
  <p:sldSz cx="9144000" cy="5143500" type="screen16x9"/>
  <p:notesSz cx="6858000" cy="9144000"/>
  <p:embeddedFontLst>
    <p:embeddedFont>
      <p:font typeface="Nunito" charset="0"/>
      <p:regular r:id="rId15"/>
      <p:bold r:id="rId16"/>
      <p:italic r:id="rId17"/>
      <p:boldItalic r:id="rId18"/>
    </p:embeddedFont>
    <p:embeddedFont>
      <p:font typeface="Roboto Condensed Light" charset="0"/>
      <p:regular r:id="rId19"/>
      <p:italic r:id="rId20"/>
    </p:embeddedFont>
    <p:embeddedFont>
      <p:font typeface="Cambria Math" pitchFamily="18" charset="0"/>
      <p:regular r:id="rId21"/>
    </p:embeddedFont>
    <p:embeddedFont>
      <p:font typeface="Karla" charset="0"/>
      <p:regular r:id="rId22"/>
      <p:bold r:id="rId23"/>
      <p:italic r:id="rId24"/>
      <p:boldItalic r:id="rId25"/>
    </p:embeddedFont>
    <p:embeddedFont>
      <p:font typeface="Karla Regular" charset="0"/>
      <p:bold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D5FC7F6E-7D7C-429E-9E02-8E8779DB5895}">
  <a:tblStyle styleId="{D5FC7F6E-7D7C-429E-9E02-8E8779DB58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876" y="-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274720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6" name="Google Shape;223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4319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8286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6365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Google Shape;2249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0" name="Google Shape;2250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2" name="Google Shape;2352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2" name="Google Shape;2242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2" name="Google Shape;2242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2494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99960" y="826618"/>
            <a:ext cx="4287930" cy="3642388"/>
            <a:chOff x="4611450" y="3151300"/>
            <a:chExt cx="667725" cy="567200"/>
          </a:xfrm>
        </p:grpSpPr>
        <p:sp>
          <p:nvSpPr>
            <p:cNvPr id="10" name="Google Shape;10;p2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591200" cy="47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5" name="Google Shape;25;p2"/>
          <p:cNvGrpSpPr/>
          <p:nvPr/>
        </p:nvGrpSpPr>
        <p:grpSpPr>
          <a:xfrm flipH="1">
            <a:off x="7641120" y="4577926"/>
            <a:ext cx="1051274" cy="787312"/>
            <a:chOff x="3585475" y="1537675"/>
            <a:chExt cx="649175" cy="486175"/>
          </a:xfrm>
        </p:grpSpPr>
        <p:sp>
          <p:nvSpPr>
            <p:cNvPr id="26" name="Google Shape;26;p2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 flipH="1">
            <a:off x="7937525" y="1510200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 flipH="1">
            <a:off x="8256002" y="1510202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AutoNum type="arabicPeriod"/>
              <a:defRPr sz="1200">
                <a:solidFill>
                  <a:schemeClr val="accent4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rabicPeriod"/>
              <a:defRPr>
                <a:solidFill>
                  <a:schemeClr val="accent4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rabicPeriod"/>
              <a:defRPr>
                <a:solidFill>
                  <a:schemeClr val="accent4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322400" y="4576963"/>
            <a:ext cx="2203209" cy="2205532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-1096660" y="3536723"/>
            <a:ext cx="1626244" cy="1381416"/>
            <a:chOff x="4611450" y="3151300"/>
            <a:chExt cx="667725" cy="567200"/>
          </a:xfrm>
        </p:grpSpPr>
        <p:sp>
          <p:nvSpPr>
            <p:cNvPr id="57" name="Google Shape;57;p4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p4"/>
          <p:cNvSpPr/>
          <p:nvPr/>
        </p:nvSpPr>
        <p:spPr>
          <a:xfrm>
            <a:off x="6019775" y="4576963"/>
            <a:ext cx="2203209" cy="2205532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" name="Google Shape;71;p4"/>
          <p:cNvGrpSpPr/>
          <p:nvPr/>
        </p:nvGrpSpPr>
        <p:grpSpPr>
          <a:xfrm>
            <a:off x="7677857" y="337714"/>
            <a:ext cx="1051274" cy="787312"/>
            <a:chOff x="3585475" y="1537675"/>
            <a:chExt cx="649175" cy="486175"/>
          </a:xfrm>
        </p:grpSpPr>
        <p:sp>
          <p:nvSpPr>
            <p:cNvPr id="72" name="Google Shape;72;p4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4"/>
          <p:cNvSpPr/>
          <p:nvPr/>
        </p:nvSpPr>
        <p:spPr>
          <a:xfrm>
            <a:off x="-1428200" y="-1177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5"/>
          <p:cNvGrpSpPr/>
          <p:nvPr/>
        </p:nvGrpSpPr>
        <p:grpSpPr>
          <a:xfrm>
            <a:off x="1469289" y="1371037"/>
            <a:ext cx="2997418" cy="2546161"/>
            <a:chOff x="4611450" y="3151300"/>
            <a:chExt cx="667725" cy="567200"/>
          </a:xfrm>
        </p:grpSpPr>
        <p:sp>
          <p:nvSpPr>
            <p:cNvPr id="95" name="Google Shape;95;p5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" name="Google Shape;108;p5"/>
          <p:cNvGrpSpPr/>
          <p:nvPr/>
        </p:nvGrpSpPr>
        <p:grpSpPr>
          <a:xfrm>
            <a:off x="4677339" y="1371037"/>
            <a:ext cx="2997418" cy="2546161"/>
            <a:chOff x="4611450" y="3151300"/>
            <a:chExt cx="667725" cy="567200"/>
          </a:xfrm>
        </p:grpSpPr>
        <p:sp>
          <p:nvSpPr>
            <p:cNvPr id="109" name="Google Shape;109;p5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" name="Google Shape;12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title" idx="2"/>
          </p:nvPr>
        </p:nvSpPr>
        <p:spPr>
          <a:xfrm>
            <a:off x="1596700" y="2915822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5"/>
          <p:cNvSpPr txBox="1">
            <a:spLocks noGrp="1"/>
          </p:cNvSpPr>
          <p:nvPr>
            <p:ph type="title" idx="3"/>
          </p:nvPr>
        </p:nvSpPr>
        <p:spPr>
          <a:xfrm>
            <a:off x="4804747" y="2915822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5"/>
          <p:cNvSpPr txBox="1">
            <a:spLocks noGrp="1"/>
          </p:cNvSpPr>
          <p:nvPr>
            <p:ph type="subTitle" idx="1"/>
          </p:nvPr>
        </p:nvSpPr>
        <p:spPr>
          <a:xfrm>
            <a:off x="4804750" y="3403450"/>
            <a:ext cx="2742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subTitle" idx="4"/>
          </p:nvPr>
        </p:nvSpPr>
        <p:spPr>
          <a:xfrm>
            <a:off x="1596875" y="3403450"/>
            <a:ext cx="2742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7869425" y="386665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" name="Google Shape;128;p5"/>
          <p:cNvGrpSpPr/>
          <p:nvPr/>
        </p:nvGrpSpPr>
        <p:grpSpPr>
          <a:xfrm>
            <a:off x="-401905" y="4049951"/>
            <a:ext cx="1051274" cy="787312"/>
            <a:chOff x="3585475" y="1537675"/>
            <a:chExt cx="649175" cy="486175"/>
          </a:xfrm>
        </p:grpSpPr>
        <p:sp>
          <p:nvSpPr>
            <p:cNvPr id="129" name="Google Shape;129;p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" name="Google Shape;149;p5"/>
          <p:cNvGrpSpPr/>
          <p:nvPr/>
        </p:nvGrpSpPr>
        <p:grpSpPr>
          <a:xfrm>
            <a:off x="8500207" y="667726"/>
            <a:ext cx="1051274" cy="787312"/>
            <a:chOff x="3585475" y="1537675"/>
            <a:chExt cx="649175" cy="486175"/>
          </a:xfrm>
        </p:grpSpPr>
        <p:sp>
          <p:nvSpPr>
            <p:cNvPr id="150" name="Google Shape;150;p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" name="Google Shape;170;p5"/>
          <p:cNvSpPr/>
          <p:nvPr/>
        </p:nvSpPr>
        <p:spPr>
          <a:xfrm>
            <a:off x="-1617607" y="-1739699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"/>
          <p:cNvSpPr txBox="1">
            <a:spLocks noGrp="1"/>
          </p:cNvSpPr>
          <p:nvPr>
            <p:ph type="title"/>
          </p:nvPr>
        </p:nvSpPr>
        <p:spPr>
          <a:xfrm>
            <a:off x="1991650" y="2111788"/>
            <a:ext cx="5183700" cy="172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7"/>
          <p:cNvSpPr txBox="1">
            <a:spLocks noGrp="1"/>
          </p:cNvSpPr>
          <p:nvPr>
            <p:ph type="subTitle" idx="1"/>
          </p:nvPr>
        </p:nvSpPr>
        <p:spPr>
          <a:xfrm>
            <a:off x="2147050" y="3771638"/>
            <a:ext cx="48729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7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250" name="Google Shape;250;p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" name="Google Shape;263;p7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264" name="Google Shape;264;p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" name="Google Shape;277;p7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7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7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0" name="Google Shape;280;p7"/>
          <p:cNvGrpSpPr/>
          <p:nvPr/>
        </p:nvGrpSpPr>
        <p:grpSpPr>
          <a:xfrm>
            <a:off x="514482" y="518776"/>
            <a:ext cx="1051274" cy="787312"/>
            <a:chOff x="3585475" y="1537675"/>
            <a:chExt cx="649175" cy="486175"/>
          </a:xfrm>
        </p:grpSpPr>
        <p:sp>
          <p:nvSpPr>
            <p:cNvPr id="281" name="Google Shape;281;p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" name="Google Shape;301;p7"/>
          <p:cNvGrpSpPr/>
          <p:nvPr/>
        </p:nvGrpSpPr>
        <p:grpSpPr>
          <a:xfrm>
            <a:off x="7523332" y="3991726"/>
            <a:ext cx="1051274" cy="787312"/>
            <a:chOff x="3585475" y="1537675"/>
            <a:chExt cx="649175" cy="486175"/>
          </a:xfrm>
        </p:grpSpPr>
        <p:sp>
          <p:nvSpPr>
            <p:cNvPr id="302" name="Google Shape;302;p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13"/>
          <p:cNvSpPr txBox="1">
            <a:spLocks noGrp="1"/>
          </p:cNvSpPr>
          <p:nvPr>
            <p:ph type="title" idx="2"/>
          </p:nvPr>
        </p:nvSpPr>
        <p:spPr>
          <a:xfrm>
            <a:off x="2069628" y="1627200"/>
            <a:ext cx="278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27" name="Google Shape;527;p13"/>
          <p:cNvSpPr txBox="1">
            <a:spLocks noGrp="1"/>
          </p:cNvSpPr>
          <p:nvPr>
            <p:ph type="subTitle" idx="1"/>
          </p:nvPr>
        </p:nvSpPr>
        <p:spPr>
          <a:xfrm>
            <a:off x="2069613" y="2154888"/>
            <a:ext cx="2305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13"/>
          <p:cNvSpPr txBox="1">
            <a:spLocks noGrp="1"/>
          </p:cNvSpPr>
          <p:nvPr>
            <p:ph type="title" idx="3"/>
          </p:nvPr>
        </p:nvSpPr>
        <p:spPr>
          <a:xfrm>
            <a:off x="5618175" y="1627200"/>
            <a:ext cx="278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29" name="Google Shape;529;p13"/>
          <p:cNvSpPr txBox="1">
            <a:spLocks noGrp="1"/>
          </p:cNvSpPr>
          <p:nvPr>
            <p:ph type="subTitle" idx="4"/>
          </p:nvPr>
        </p:nvSpPr>
        <p:spPr>
          <a:xfrm>
            <a:off x="5618183" y="2154888"/>
            <a:ext cx="2305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0" name="Google Shape;530;p13"/>
          <p:cNvSpPr txBox="1">
            <a:spLocks noGrp="1"/>
          </p:cNvSpPr>
          <p:nvPr>
            <p:ph type="title" idx="5"/>
          </p:nvPr>
        </p:nvSpPr>
        <p:spPr>
          <a:xfrm>
            <a:off x="2069628" y="3141552"/>
            <a:ext cx="278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1" name="Google Shape;531;p13"/>
          <p:cNvSpPr txBox="1">
            <a:spLocks noGrp="1"/>
          </p:cNvSpPr>
          <p:nvPr>
            <p:ph type="subTitle" idx="6"/>
          </p:nvPr>
        </p:nvSpPr>
        <p:spPr>
          <a:xfrm>
            <a:off x="2069613" y="3669262"/>
            <a:ext cx="2305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2" name="Google Shape;532;p13"/>
          <p:cNvSpPr txBox="1">
            <a:spLocks noGrp="1"/>
          </p:cNvSpPr>
          <p:nvPr>
            <p:ph type="title" idx="7"/>
          </p:nvPr>
        </p:nvSpPr>
        <p:spPr>
          <a:xfrm>
            <a:off x="5618174" y="3141552"/>
            <a:ext cx="278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3" name="Google Shape;533;p13"/>
          <p:cNvSpPr txBox="1">
            <a:spLocks noGrp="1"/>
          </p:cNvSpPr>
          <p:nvPr>
            <p:ph type="subTitle" idx="8"/>
          </p:nvPr>
        </p:nvSpPr>
        <p:spPr>
          <a:xfrm>
            <a:off x="5618183" y="3669262"/>
            <a:ext cx="2305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13"/>
          <p:cNvSpPr txBox="1">
            <a:spLocks noGrp="1"/>
          </p:cNvSpPr>
          <p:nvPr>
            <p:ph type="title" idx="9" hasCustomPrompt="1"/>
          </p:nvPr>
        </p:nvSpPr>
        <p:spPr>
          <a:xfrm>
            <a:off x="874125" y="1644072"/>
            <a:ext cx="1048200" cy="104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35" name="Google Shape;535;p13"/>
          <p:cNvSpPr txBox="1">
            <a:spLocks noGrp="1"/>
          </p:cNvSpPr>
          <p:nvPr>
            <p:ph type="title" idx="13" hasCustomPrompt="1"/>
          </p:nvPr>
        </p:nvSpPr>
        <p:spPr>
          <a:xfrm>
            <a:off x="874125" y="3153175"/>
            <a:ext cx="1048200" cy="104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36" name="Google Shape;536;p13"/>
          <p:cNvSpPr txBox="1">
            <a:spLocks noGrp="1"/>
          </p:cNvSpPr>
          <p:nvPr>
            <p:ph type="title" idx="14" hasCustomPrompt="1"/>
          </p:nvPr>
        </p:nvSpPr>
        <p:spPr>
          <a:xfrm>
            <a:off x="4419500" y="1644072"/>
            <a:ext cx="1048200" cy="104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37" name="Google Shape;537;p13"/>
          <p:cNvSpPr txBox="1">
            <a:spLocks noGrp="1"/>
          </p:cNvSpPr>
          <p:nvPr>
            <p:ph type="title" idx="15" hasCustomPrompt="1"/>
          </p:nvPr>
        </p:nvSpPr>
        <p:spPr>
          <a:xfrm>
            <a:off x="4419500" y="3145774"/>
            <a:ext cx="1048200" cy="104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538" name="Google Shape;538;p13"/>
          <p:cNvGrpSpPr/>
          <p:nvPr/>
        </p:nvGrpSpPr>
        <p:grpSpPr>
          <a:xfrm>
            <a:off x="2399960" y="1283818"/>
            <a:ext cx="4287930" cy="3642388"/>
            <a:chOff x="4611450" y="3151300"/>
            <a:chExt cx="667725" cy="567200"/>
          </a:xfrm>
        </p:grpSpPr>
        <p:sp>
          <p:nvSpPr>
            <p:cNvPr id="539" name="Google Shape;539;p13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3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3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3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3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3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3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3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3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2" name="Google Shape;552;p13"/>
          <p:cNvSpPr/>
          <p:nvPr/>
        </p:nvSpPr>
        <p:spPr>
          <a:xfrm>
            <a:off x="8378961" y="2680800"/>
            <a:ext cx="2785365" cy="2785308"/>
          </a:xfrm>
          <a:custGeom>
            <a:avLst/>
            <a:gdLst/>
            <a:ahLst/>
            <a:cxnLst/>
            <a:rect l="l" t="t" r="r" b="b"/>
            <a:pathLst>
              <a:path w="48967" h="48966" extrusionOk="0">
                <a:moveTo>
                  <a:pt x="24484" y="0"/>
                </a:moveTo>
                <a:lnTo>
                  <a:pt x="23234" y="39"/>
                </a:lnTo>
                <a:lnTo>
                  <a:pt x="21985" y="117"/>
                </a:lnTo>
                <a:lnTo>
                  <a:pt x="20774" y="274"/>
                </a:lnTo>
                <a:lnTo>
                  <a:pt x="19564" y="508"/>
                </a:lnTo>
                <a:lnTo>
                  <a:pt x="18392" y="781"/>
                </a:lnTo>
                <a:lnTo>
                  <a:pt x="17221" y="1094"/>
                </a:lnTo>
                <a:lnTo>
                  <a:pt x="16088" y="1484"/>
                </a:lnTo>
                <a:lnTo>
                  <a:pt x="14956" y="1914"/>
                </a:lnTo>
                <a:lnTo>
                  <a:pt x="13902" y="2421"/>
                </a:lnTo>
                <a:lnTo>
                  <a:pt x="12848" y="2968"/>
                </a:lnTo>
                <a:lnTo>
                  <a:pt x="11793" y="3554"/>
                </a:lnTo>
                <a:lnTo>
                  <a:pt x="10817" y="4178"/>
                </a:lnTo>
                <a:lnTo>
                  <a:pt x="9841" y="4881"/>
                </a:lnTo>
                <a:lnTo>
                  <a:pt x="8943" y="5584"/>
                </a:lnTo>
                <a:lnTo>
                  <a:pt x="8045" y="6365"/>
                </a:lnTo>
                <a:lnTo>
                  <a:pt x="7186" y="7185"/>
                </a:lnTo>
                <a:lnTo>
                  <a:pt x="6366" y="8005"/>
                </a:lnTo>
                <a:lnTo>
                  <a:pt x="5624" y="8903"/>
                </a:lnTo>
                <a:lnTo>
                  <a:pt x="4882" y="9840"/>
                </a:lnTo>
                <a:lnTo>
                  <a:pt x="4179" y="10777"/>
                </a:lnTo>
                <a:lnTo>
                  <a:pt x="3554" y="11793"/>
                </a:lnTo>
                <a:lnTo>
                  <a:pt x="2968" y="12808"/>
                </a:lnTo>
                <a:lnTo>
                  <a:pt x="2422" y="13862"/>
                </a:lnTo>
                <a:lnTo>
                  <a:pt x="1953" y="14955"/>
                </a:lnTo>
                <a:lnTo>
                  <a:pt x="1485" y="16049"/>
                </a:lnTo>
                <a:lnTo>
                  <a:pt x="1133" y="17181"/>
                </a:lnTo>
                <a:lnTo>
                  <a:pt x="782" y="18353"/>
                </a:lnTo>
                <a:lnTo>
                  <a:pt x="508" y="19563"/>
                </a:lnTo>
                <a:lnTo>
                  <a:pt x="313" y="20734"/>
                </a:lnTo>
                <a:lnTo>
                  <a:pt x="157" y="21984"/>
                </a:lnTo>
                <a:lnTo>
                  <a:pt x="40" y="23234"/>
                </a:lnTo>
                <a:lnTo>
                  <a:pt x="1" y="24483"/>
                </a:lnTo>
                <a:lnTo>
                  <a:pt x="40" y="25733"/>
                </a:lnTo>
                <a:lnTo>
                  <a:pt x="157" y="26982"/>
                </a:lnTo>
                <a:lnTo>
                  <a:pt x="313" y="28193"/>
                </a:lnTo>
                <a:lnTo>
                  <a:pt x="508" y="29403"/>
                </a:lnTo>
                <a:lnTo>
                  <a:pt x="782" y="30613"/>
                </a:lnTo>
                <a:lnTo>
                  <a:pt x="1133" y="31746"/>
                </a:lnTo>
                <a:lnTo>
                  <a:pt x="1485" y="32917"/>
                </a:lnTo>
                <a:lnTo>
                  <a:pt x="1953" y="34011"/>
                </a:lnTo>
                <a:lnTo>
                  <a:pt x="2422" y="35104"/>
                </a:lnTo>
                <a:lnTo>
                  <a:pt x="2968" y="36158"/>
                </a:lnTo>
                <a:lnTo>
                  <a:pt x="3554" y="37173"/>
                </a:lnTo>
                <a:lnTo>
                  <a:pt x="4179" y="38150"/>
                </a:lnTo>
                <a:lnTo>
                  <a:pt x="4882" y="39126"/>
                </a:lnTo>
                <a:lnTo>
                  <a:pt x="5624" y="40063"/>
                </a:lnTo>
                <a:lnTo>
                  <a:pt x="6366" y="40922"/>
                </a:lnTo>
                <a:lnTo>
                  <a:pt x="7186" y="41781"/>
                </a:lnTo>
                <a:lnTo>
                  <a:pt x="8045" y="42601"/>
                </a:lnTo>
                <a:lnTo>
                  <a:pt x="8943" y="43382"/>
                </a:lnTo>
                <a:lnTo>
                  <a:pt x="9841" y="44085"/>
                </a:lnTo>
                <a:lnTo>
                  <a:pt x="10817" y="44788"/>
                </a:lnTo>
                <a:lnTo>
                  <a:pt x="11793" y="45412"/>
                </a:lnTo>
                <a:lnTo>
                  <a:pt x="12848" y="45998"/>
                </a:lnTo>
                <a:lnTo>
                  <a:pt x="13902" y="46545"/>
                </a:lnTo>
                <a:lnTo>
                  <a:pt x="14956" y="47052"/>
                </a:lnTo>
                <a:lnTo>
                  <a:pt x="16088" y="47482"/>
                </a:lnTo>
                <a:lnTo>
                  <a:pt x="17221" y="47872"/>
                </a:lnTo>
                <a:lnTo>
                  <a:pt x="18392" y="48185"/>
                </a:lnTo>
                <a:lnTo>
                  <a:pt x="19564" y="48458"/>
                </a:lnTo>
                <a:lnTo>
                  <a:pt x="20774" y="48692"/>
                </a:lnTo>
                <a:lnTo>
                  <a:pt x="21985" y="48849"/>
                </a:lnTo>
                <a:lnTo>
                  <a:pt x="23234" y="48927"/>
                </a:lnTo>
                <a:lnTo>
                  <a:pt x="24484" y="48966"/>
                </a:lnTo>
                <a:lnTo>
                  <a:pt x="25772" y="48927"/>
                </a:lnTo>
                <a:lnTo>
                  <a:pt x="26983" y="48849"/>
                </a:lnTo>
                <a:lnTo>
                  <a:pt x="28232" y="48692"/>
                </a:lnTo>
                <a:lnTo>
                  <a:pt x="29443" y="48458"/>
                </a:lnTo>
                <a:lnTo>
                  <a:pt x="30614" y="48185"/>
                </a:lnTo>
                <a:lnTo>
                  <a:pt x="31786" y="47872"/>
                </a:lnTo>
                <a:lnTo>
                  <a:pt x="32918" y="47482"/>
                </a:lnTo>
                <a:lnTo>
                  <a:pt x="34011" y="47052"/>
                </a:lnTo>
                <a:lnTo>
                  <a:pt x="35105" y="46545"/>
                </a:lnTo>
                <a:lnTo>
                  <a:pt x="36159" y="45998"/>
                </a:lnTo>
                <a:lnTo>
                  <a:pt x="37174" y="45412"/>
                </a:lnTo>
                <a:lnTo>
                  <a:pt x="38189" y="44788"/>
                </a:lnTo>
                <a:lnTo>
                  <a:pt x="39127" y="44085"/>
                </a:lnTo>
                <a:lnTo>
                  <a:pt x="40064" y="43382"/>
                </a:lnTo>
                <a:lnTo>
                  <a:pt x="40962" y="42601"/>
                </a:lnTo>
                <a:lnTo>
                  <a:pt x="41821" y="41781"/>
                </a:lnTo>
                <a:lnTo>
                  <a:pt x="42602" y="40922"/>
                </a:lnTo>
                <a:lnTo>
                  <a:pt x="43383" y="40063"/>
                </a:lnTo>
                <a:lnTo>
                  <a:pt x="44125" y="39126"/>
                </a:lnTo>
                <a:lnTo>
                  <a:pt x="44788" y="38150"/>
                </a:lnTo>
                <a:lnTo>
                  <a:pt x="45452" y="37173"/>
                </a:lnTo>
                <a:lnTo>
                  <a:pt x="46038" y="36158"/>
                </a:lnTo>
                <a:lnTo>
                  <a:pt x="46546" y="35104"/>
                </a:lnTo>
                <a:lnTo>
                  <a:pt x="47053" y="34011"/>
                </a:lnTo>
                <a:lnTo>
                  <a:pt x="47483" y="32917"/>
                </a:lnTo>
                <a:lnTo>
                  <a:pt x="47873" y="31746"/>
                </a:lnTo>
                <a:lnTo>
                  <a:pt x="48225" y="30613"/>
                </a:lnTo>
                <a:lnTo>
                  <a:pt x="48498" y="29403"/>
                </a:lnTo>
                <a:lnTo>
                  <a:pt x="48693" y="28193"/>
                </a:lnTo>
                <a:lnTo>
                  <a:pt x="48849" y="26982"/>
                </a:lnTo>
                <a:lnTo>
                  <a:pt x="48966" y="25733"/>
                </a:lnTo>
                <a:lnTo>
                  <a:pt x="48966" y="24483"/>
                </a:lnTo>
                <a:lnTo>
                  <a:pt x="48966" y="23234"/>
                </a:lnTo>
                <a:lnTo>
                  <a:pt x="48849" y="21984"/>
                </a:lnTo>
                <a:lnTo>
                  <a:pt x="48693" y="20734"/>
                </a:lnTo>
                <a:lnTo>
                  <a:pt x="48498" y="19563"/>
                </a:lnTo>
                <a:lnTo>
                  <a:pt x="48225" y="18353"/>
                </a:lnTo>
                <a:lnTo>
                  <a:pt x="47873" y="17181"/>
                </a:lnTo>
                <a:lnTo>
                  <a:pt x="47483" y="16049"/>
                </a:lnTo>
                <a:lnTo>
                  <a:pt x="47053" y="14955"/>
                </a:lnTo>
                <a:lnTo>
                  <a:pt x="46546" y="13862"/>
                </a:lnTo>
                <a:lnTo>
                  <a:pt x="46038" y="12808"/>
                </a:lnTo>
                <a:lnTo>
                  <a:pt x="45452" y="11793"/>
                </a:lnTo>
                <a:lnTo>
                  <a:pt x="44788" y="10777"/>
                </a:lnTo>
                <a:lnTo>
                  <a:pt x="44125" y="9840"/>
                </a:lnTo>
                <a:lnTo>
                  <a:pt x="43383" y="8903"/>
                </a:lnTo>
                <a:lnTo>
                  <a:pt x="42602" y="8005"/>
                </a:lnTo>
                <a:lnTo>
                  <a:pt x="41821" y="7185"/>
                </a:lnTo>
                <a:lnTo>
                  <a:pt x="40962" y="6365"/>
                </a:lnTo>
                <a:lnTo>
                  <a:pt x="40064" y="5584"/>
                </a:lnTo>
                <a:lnTo>
                  <a:pt x="39127" y="4881"/>
                </a:lnTo>
                <a:lnTo>
                  <a:pt x="38189" y="4178"/>
                </a:lnTo>
                <a:lnTo>
                  <a:pt x="37174" y="3554"/>
                </a:lnTo>
                <a:lnTo>
                  <a:pt x="36159" y="2968"/>
                </a:lnTo>
                <a:lnTo>
                  <a:pt x="35105" y="2421"/>
                </a:lnTo>
                <a:lnTo>
                  <a:pt x="34011" y="1914"/>
                </a:lnTo>
                <a:lnTo>
                  <a:pt x="32918" y="1484"/>
                </a:lnTo>
                <a:lnTo>
                  <a:pt x="31786" y="1094"/>
                </a:lnTo>
                <a:lnTo>
                  <a:pt x="30614" y="781"/>
                </a:lnTo>
                <a:lnTo>
                  <a:pt x="29443" y="508"/>
                </a:lnTo>
                <a:lnTo>
                  <a:pt x="28232" y="274"/>
                </a:lnTo>
                <a:lnTo>
                  <a:pt x="26983" y="117"/>
                </a:lnTo>
                <a:lnTo>
                  <a:pt x="25772" y="39"/>
                </a:lnTo>
                <a:lnTo>
                  <a:pt x="244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3" name="Google Shape;553;p13"/>
          <p:cNvGrpSpPr/>
          <p:nvPr/>
        </p:nvGrpSpPr>
        <p:grpSpPr>
          <a:xfrm>
            <a:off x="872595" y="4716251"/>
            <a:ext cx="1051274" cy="787312"/>
            <a:chOff x="3585475" y="1537675"/>
            <a:chExt cx="649175" cy="486175"/>
          </a:xfrm>
        </p:grpSpPr>
        <p:sp>
          <p:nvSpPr>
            <p:cNvPr id="554" name="Google Shape;554;p13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3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3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3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3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3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3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3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3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3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3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3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3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3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3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3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3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3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3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3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4" name="Google Shape;574;p13"/>
          <p:cNvSpPr/>
          <p:nvPr/>
        </p:nvSpPr>
        <p:spPr>
          <a:xfrm>
            <a:off x="7520775" y="4201375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3"/>
          <p:cNvSpPr/>
          <p:nvPr/>
        </p:nvSpPr>
        <p:spPr>
          <a:xfrm>
            <a:off x="-1178725" y="267102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3"/>
          <p:cNvSpPr/>
          <p:nvPr/>
        </p:nvSpPr>
        <p:spPr>
          <a:xfrm>
            <a:off x="326777" y="4479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7" name="Google Shape;577;p13"/>
          <p:cNvGrpSpPr/>
          <p:nvPr/>
        </p:nvGrpSpPr>
        <p:grpSpPr>
          <a:xfrm>
            <a:off x="7313632" y="-125274"/>
            <a:ext cx="1051274" cy="787312"/>
            <a:chOff x="3585475" y="1537675"/>
            <a:chExt cx="649175" cy="486175"/>
          </a:xfrm>
        </p:grpSpPr>
        <p:sp>
          <p:nvSpPr>
            <p:cNvPr id="578" name="Google Shape;578;p13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3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3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3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3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3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8"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5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61" name="Google Shape;661;p15"/>
          <p:cNvSpPr txBox="1">
            <a:spLocks noGrp="1"/>
          </p:cNvSpPr>
          <p:nvPr>
            <p:ph type="subTitle" idx="1"/>
          </p:nvPr>
        </p:nvSpPr>
        <p:spPr>
          <a:xfrm>
            <a:off x="2024825" y="3191100"/>
            <a:ext cx="5094300" cy="13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2" name="Google Shape;662;p15"/>
          <p:cNvGrpSpPr/>
          <p:nvPr/>
        </p:nvGrpSpPr>
        <p:grpSpPr>
          <a:xfrm>
            <a:off x="8058435" y="-451282"/>
            <a:ext cx="4287930" cy="3642388"/>
            <a:chOff x="4611450" y="3151300"/>
            <a:chExt cx="667725" cy="567200"/>
          </a:xfrm>
        </p:grpSpPr>
        <p:sp>
          <p:nvSpPr>
            <p:cNvPr id="663" name="Google Shape;663;p15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5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5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5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5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5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5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5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5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5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5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5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5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6" name="Google Shape;676;p15"/>
          <p:cNvGrpSpPr/>
          <p:nvPr/>
        </p:nvGrpSpPr>
        <p:grpSpPr>
          <a:xfrm>
            <a:off x="-3567940" y="1886243"/>
            <a:ext cx="4287930" cy="3642388"/>
            <a:chOff x="4611450" y="3151300"/>
            <a:chExt cx="667725" cy="567200"/>
          </a:xfrm>
        </p:grpSpPr>
        <p:sp>
          <p:nvSpPr>
            <p:cNvPr id="677" name="Google Shape;677;p15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5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5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5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5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0" name="Google Shape;690;p15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15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15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3" name="Google Shape;693;p15"/>
          <p:cNvGrpSpPr/>
          <p:nvPr/>
        </p:nvGrpSpPr>
        <p:grpSpPr>
          <a:xfrm>
            <a:off x="-642305" y="394664"/>
            <a:ext cx="1051274" cy="787312"/>
            <a:chOff x="3585475" y="1537675"/>
            <a:chExt cx="649175" cy="486175"/>
          </a:xfrm>
        </p:grpSpPr>
        <p:sp>
          <p:nvSpPr>
            <p:cNvPr id="694" name="Google Shape;694;p1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4" name="Google Shape;714;p15"/>
          <p:cNvGrpSpPr/>
          <p:nvPr/>
        </p:nvGrpSpPr>
        <p:grpSpPr>
          <a:xfrm>
            <a:off x="7599532" y="4730176"/>
            <a:ext cx="1051274" cy="787312"/>
            <a:chOff x="3585475" y="1537675"/>
            <a:chExt cx="649175" cy="486175"/>
          </a:xfrm>
        </p:grpSpPr>
        <p:sp>
          <p:nvSpPr>
            <p:cNvPr id="715" name="Google Shape;715;p1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384" name="Google Shape;1384;p26"/>
          <p:cNvGrpSpPr/>
          <p:nvPr/>
        </p:nvGrpSpPr>
        <p:grpSpPr>
          <a:xfrm>
            <a:off x="359957" y="-418499"/>
            <a:ext cx="1051274" cy="787312"/>
            <a:chOff x="3585475" y="1537675"/>
            <a:chExt cx="649175" cy="486175"/>
          </a:xfrm>
        </p:grpSpPr>
        <p:sp>
          <p:nvSpPr>
            <p:cNvPr id="1385" name="Google Shape;1385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5" name="Google Shape;1405;p26"/>
          <p:cNvGrpSpPr/>
          <p:nvPr/>
        </p:nvGrpSpPr>
        <p:grpSpPr>
          <a:xfrm>
            <a:off x="7633694" y="4775189"/>
            <a:ext cx="1051274" cy="787312"/>
            <a:chOff x="3585475" y="1537675"/>
            <a:chExt cx="649175" cy="486175"/>
          </a:xfrm>
        </p:grpSpPr>
        <p:sp>
          <p:nvSpPr>
            <p:cNvPr id="1406" name="Google Shape;1406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"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428" name="Google Shape;1428;p27"/>
          <p:cNvGrpSpPr/>
          <p:nvPr/>
        </p:nvGrpSpPr>
        <p:grpSpPr>
          <a:xfrm rot="10800000" flipH="1">
            <a:off x="8367160" y="669950"/>
            <a:ext cx="4287930" cy="3642388"/>
            <a:chOff x="4611450" y="3151300"/>
            <a:chExt cx="667725" cy="567200"/>
          </a:xfrm>
        </p:grpSpPr>
        <p:sp>
          <p:nvSpPr>
            <p:cNvPr id="1429" name="Google Shape;1429;p2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2" name="Google Shape;1442;p27"/>
          <p:cNvGrpSpPr/>
          <p:nvPr/>
        </p:nvGrpSpPr>
        <p:grpSpPr>
          <a:xfrm rot="10800000" flipH="1">
            <a:off x="-3376540" y="669950"/>
            <a:ext cx="4287930" cy="3642388"/>
            <a:chOff x="4611450" y="3151300"/>
            <a:chExt cx="667725" cy="567200"/>
          </a:xfrm>
        </p:grpSpPr>
        <p:sp>
          <p:nvSpPr>
            <p:cNvPr id="1443" name="Google Shape;1443;p2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6" name="Google Shape;1456;p27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7" name="Google Shape;1457;p27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8" name="Google Shape;1458;p27"/>
          <p:cNvSpPr/>
          <p:nvPr/>
        </p:nvSpPr>
        <p:spPr>
          <a:xfrm rot="10800000">
            <a:off x="8070742" y="4121226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9" name="Google Shape;1459;p27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1460" name="Google Shape;1460;p2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0" name="Google Shape;1480;p27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1481" name="Google Shape;1481;p2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2_3_1">
    <p:bg>
      <p:bgPr>
        <a:solidFill>
          <a:schemeClr val="lt1"/>
        </a:solidFill>
        <a:effectLst/>
      </p:bgPr>
    </p:bg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35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35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2" name="Google Shape;2022;p35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2023" name="Google Shape;2023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3" name="Google Shape;2043;p35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2044" name="Google Shape;2044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"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5" name="Google Shape;2065;p36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2066" name="Google Shape;2066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9" name="Google Shape;2079;p36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2080" name="Google Shape;2080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3" name="Google Shape;2093;p36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p36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5" name="Google Shape;2095;p36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6" name="Google Shape;2096;p36"/>
          <p:cNvGrpSpPr/>
          <p:nvPr/>
        </p:nvGrpSpPr>
        <p:grpSpPr>
          <a:xfrm>
            <a:off x="514482" y="518776"/>
            <a:ext cx="1051274" cy="787312"/>
            <a:chOff x="3585475" y="1537675"/>
            <a:chExt cx="649175" cy="486175"/>
          </a:xfrm>
        </p:grpSpPr>
        <p:sp>
          <p:nvSpPr>
            <p:cNvPr id="2097" name="Google Shape;2097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7" name="Google Shape;2117;p36"/>
          <p:cNvGrpSpPr/>
          <p:nvPr/>
        </p:nvGrpSpPr>
        <p:grpSpPr>
          <a:xfrm>
            <a:off x="7523332" y="3991726"/>
            <a:ext cx="1051274" cy="787312"/>
            <a:chOff x="3585475" y="1537675"/>
            <a:chExt cx="649175" cy="486175"/>
          </a:xfrm>
        </p:grpSpPr>
        <p:sp>
          <p:nvSpPr>
            <p:cNvPr id="2118" name="Google Shape;2118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p37"/>
          <p:cNvGrpSpPr/>
          <p:nvPr/>
        </p:nvGrpSpPr>
        <p:grpSpPr>
          <a:xfrm>
            <a:off x="7799282" y="2074226"/>
            <a:ext cx="1051274" cy="787312"/>
            <a:chOff x="3585475" y="1537675"/>
            <a:chExt cx="649175" cy="486175"/>
          </a:xfrm>
        </p:grpSpPr>
        <p:sp>
          <p:nvSpPr>
            <p:cNvPr id="2140" name="Google Shape;2140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0" name="Google Shape;2160;p37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2161" name="Google Shape;2161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1" name="Google Shape;2181;p37"/>
          <p:cNvSpPr/>
          <p:nvPr/>
        </p:nvSpPr>
        <p:spPr>
          <a:xfrm>
            <a:off x="3227875" y="438540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2" name="Google Shape;2182;p37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2183" name="Google Shape;2183;p3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6" name="Google Shape;2196;p37"/>
          <p:cNvSpPr/>
          <p:nvPr/>
        </p:nvSpPr>
        <p:spPr>
          <a:xfrm>
            <a:off x="3161643" y="-1861624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8" r:id="rId5"/>
    <p:sldLayoutId id="2147483659" r:id="rId6"/>
    <p:sldLayoutId id="2147483661" r:id="rId7"/>
    <p:sldLayoutId id="2147483672" r:id="rId8"/>
    <p:sldLayoutId id="2147483673" r:id="rId9"/>
    <p:sldLayoutId id="2147483681" r:id="rId10"/>
    <p:sldLayoutId id="2147483682" r:id="rId11"/>
    <p:sldLayoutId id="214748368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Recap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39" name="Google Shape;2239;p41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0000" y="1215752"/>
                <a:ext cx="7704000" cy="34164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457200" lvl="0" indent="-304800" algn="l" rtl="0">
                  <a:lnSpc>
                    <a:spcPct val="300000"/>
                  </a:lnSpc>
                  <a:spcBef>
                    <a:spcPts val="0"/>
                  </a:spcBef>
                  <a:spcAft>
                    <a:spcPts val="0"/>
                  </a:spcAft>
                  <a:buSzPts val="1200"/>
                  <a:buAutoNum type="arabicPeriod"/>
                </a:pPr>
                <a:r>
                  <a:rPr lang="en" dirty="0"/>
                  <a:t>A problem is a function from strings to strings: </a:t>
                </a:r>
                <a:endParaRPr lang="en-US" sz="1200" b="0" i="1" dirty="0">
                  <a:latin typeface="Cambria Math" panose="02040503050406030204" pitchFamily="18" charset="0"/>
                </a:endParaRPr>
              </a:p>
              <a:p>
                <a:pPr marL="6096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lnSpc>
                    <a:spcPct val="300000"/>
                  </a:lnSpc>
                </a:pPr>
                <a:r>
                  <a:rPr lang="en-US" dirty="0"/>
                  <a:t>A decision problem is a problem with a Boolean answer: </a:t>
                </a:r>
              </a:p>
              <a:p>
                <a:pPr marL="6096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3200" i="1"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lit/>
                        </m:rPr>
                        <a:rPr lang="en-US" sz="32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𝐹𝐴𝐿𝑆𝐸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𝑇𝑅𝑈𝐸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3200" dirty="0"/>
              </a:p>
              <a:p>
                <a:pPr>
                  <a:lnSpc>
                    <a:spcPct val="300000"/>
                  </a:lnSpc>
                </a:pPr>
                <a:r>
                  <a:rPr lang="en-US" dirty="0"/>
                  <a:t>What is an algorithm?</a:t>
                </a:r>
              </a:p>
            </p:txBody>
          </p:sp>
        </mc:Choice>
        <mc:Fallback xmlns="">
          <p:sp>
            <p:nvSpPr>
              <p:cNvPr id="2239" name="Google Shape;2239;p4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0000" y="1215752"/>
                <a:ext cx="7704000" cy="3416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40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Turing Machine</a:t>
            </a:r>
            <a:endParaRPr sz="4000" dirty="0"/>
          </a:p>
        </p:txBody>
      </p:sp>
      <p:sp>
        <p:nvSpPr>
          <p:cNvPr id="2206" name="Google Shape;2206;p40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642450" cy="3849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Analiza</a:t>
            </a:r>
            <a:r>
              <a:rPr lang="en-US" sz="1200" dirty="0"/>
              <a:t> </a:t>
            </a:r>
            <a:r>
              <a:rPr lang="en-US" sz="1200" dirty="0" err="1"/>
              <a:t>Algoritmilor</a:t>
            </a:r>
            <a:endParaRPr sz="1200" dirty="0"/>
          </a:p>
        </p:txBody>
      </p:sp>
      <p:sp>
        <p:nvSpPr>
          <p:cNvPr id="2208" name="Google Shape;2208;p40"/>
          <p:cNvSpPr/>
          <p:nvPr/>
        </p:nvSpPr>
        <p:spPr>
          <a:xfrm flipH="1">
            <a:off x="721125" y="4336700"/>
            <a:ext cx="2785365" cy="2785308"/>
          </a:xfrm>
          <a:custGeom>
            <a:avLst/>
            <a:gdLst/>
            <a:ahLst/>
            <a:cxnLst/>
            <a:rect l="l" t="t" r="r" b="b"/>
            <a:pathLst>
              <a:path w="48967" h="48966" extrusionOk="0">
                <a:moveTo>
                  <a:pt x="24484" y="0"/>
                </a:moveTo>
                <a:lnTo>
                  <a:pt x="23234" y="39"/>
                </a:lnTo>
                <a:lnTo>
                  <a:pt x="21985" y="117"/>
                </a:lnTo>
                <a:lnTo>
                  <a:pt x="20774" y="274"/>
                </a:lnTo>
                <a:lnTo>
                  <a:pt x="19564" y="508"/>
                </a:lnTo>
                <a:lnTo>
                  <a:pt x="18392" y="781"/>
                </a:lnTo>
                <a:lnTo>
                  <a:pt x="17221" y="1094"/>
                </a:lnTo>
                <a:lnTo>
                  <a:pt x="16088" y="1484"/>
                </a:lnTo>
                <a:lnTo>
                  <a:pt x="14956" y="1914"/>
                </a:lnTo>
                <a:lnTo>
                  <a:pt x="13902" y="2421"/>
                </a:lnTo>
                <a:lnTo>
                  <a:pt x="12848" y="2968"/>
                </a:lnTo>
                <a:lnTo>
                  <a:pt x="11793" y="3554"/>
                </a:lnTo>
                <a:lnTo>
                  <a:pt x="10817" y="4178"/>
                </a:lnTo>
                <a:lnTo>
                  <a:pt x="9841" y="4881"/>
                </a:lnTo>
                <a:lnTo>
                  <a:pt x="8943" y="5584"/>
                </a:lnTo>
                <a:lnTo>
                  <a:pt x="8045" y="6365"/>
                </a:lnTo>
                <a:lnTo>
                  <a:pt x="7186" y="7185"/>
                </a:lnTo>
                <a:lnTo>
                  <a:pt x="6366" y="8005"/>
                </a:lnTo>
                <a:lnTo>
                  <a:pt x="5624" y="8903"/>
                </a:lnTo>
                <a:lnTo>
                  <a:pt x="4882" y="9840"/>
                </a:lnTo>
                <a:lnTo>
                  <a:pt x="4179" y="10777"/>
                </a:lnTo>
                <a:lnTo>
                  <a:pt x="3554" y="11793"/>
                </a:lnTo>
                <a:lnTo>
                  <a:pt x="2968" y="12808"/>
                </a:lnTo>
                <a:lnTo>
                  <a:pt x="2422" y="13862"/>
                </a:lnTo>
                <a:lnTo>
                  <a:pt x="1953" y="14955"/>
                </a:lnTo>
                <a:lnTo>
                  <a:pt x="1485" y="16049"/>
                </a:lnTo>
                <a:lnTo>
                  <a:pt x="1133" y="17181"/>
                </a:lnTo>
                <a:lnTo>
                  <a:pt x="782" y="18353"/>
                </a:lnTo>
                <a:lnTo>
                  <a:pt x="508" y="19563"/>
                </a:lnTo>
                <a:lnTo>
                  <a:pt x="313" y="20734"/>
                </a:lnTo>
                <a:lnTo>
                  <a:pt x="157" y="21984"/>
                </a:lnTo>
                <a:lnTo>
                  <a:pt x="40" y="23234"/>
                </a:lnTo>
                <a:lnTo>
                  <a:pt x="1" y="24483"/>
                </a:lnTo>
                <a:lnTo>
                  <a:pt x="40" y="25733"/>
                </a:lnTo>
                <a:lnTo>
                  <a:pt x="157" y="26982"/>
                </a:lnTo>
                <a:lnTo>
                  <a:pt x="313" y="28193"/>
                </a:lnTo>
                <a:lnTo>
                  <a:pt x="508" y="29403"/>
                </a:lnTo>
                <a:lnTo>
                  <a:pt x="782" y="30613"/>
                </a:lnTo>
                <a:lnTo>
                  <a:pt x="1133" y="31746"/>
                </a:lnTo>
                <a:lnTo>
                  <a:pt x="1485" y="32917"/>
                </a:lnTo>
                <a:lnTo>
                  <a:pt x="1953" y="34011"/>
                </a:lnTo>
                <a:lnTo>
                  <a:pt x="2422" y="35104"/>
                </a:lnTo>
                <a:lnTo>
                  <a:pt x="2968" y="36158"/>
                </a:lnTo>
                <a:lnTo>
                  <a:pt x="3554" y="37173"/>
                </a:lnTo>
                <a:lnTo>
                  <a:pt x="4179" y="38150"/>
                </a:lnTo>
                <a:lnTo>
                  <a:pt x="4882" y="39126"/>
                </a:lnTo>
                <a:lnTo>
                  <a:pt x="5624" y="40063"/>
                </a:lnTo>
                <a:lnTo>
                  <a:pt x="6366" y="40922"/>
                </a:lnTo>
                <a:lnTo>
                  <a:pt x="7186" y="41781"/>
                </a:lnTo>
                <a:lnTo>
                  <a:pt x="8045" y="42601"/>
                </a:lnTo>
                <a:lnTo>
                  <a:pt x="8943" y="43382"/>
                </a:lnTo>
                <a:lnTo>
                  <a:pt x="9841" y="44085"/>
                </a:lnTo>
                <a:lnTo>
                  <a:pt x="10817" y="44788"/>
                </a:lnTo>
                <a:lnTo>
                  <a:pt x="11793" y="45412"/>
                </a:lnTo>
                <a:lnTo>
                  <a:pt x="12848" y="45998"/>
                </a:lnTo>
                <a:lnTo>
                  <a:pt x="13902" y="46545"/>
                </a:lnTo>
                <a:lnTo>
                  <a:pt x="14956" y="47052"/>
                </a:lnTo>
                <a:lnTo>
                  <a:pt x="16088" y="47482"/>
                </a:lnTo>
                <a:lnTo>
                  <a:pt x="17221" y="47872"/>
                </a:lnTo>
                <a:lnTo>
                  <a:pt x="18392" y="48185"/>
                </a:lnTo>
                <a:lnTo>
                  <a:pt x="19564" y="48458"/>
                </a:lnTo>
                <a:lnTo>
                  <a:pt x="20774" y="48692"/>
                </a:lnTo>
                <a:lnTo>
                  <a:pt x="21985" y="48849"/>
                </a:lnTo>
                <a:lnTo>
                  <a:pt x="23234" y="48927"/>
                </a:lnTo>
                <a:lnTo>
                  <a:pt x="24484" y="48966"/>
                </a:lnTo>
                <a:lnTo>
                  <a:pt x="25772" y="48927"/>
                </a:lnTo>
                <a:lnTo>
                  <a:pt x="26983" y="48849"/>
                </a:lnTo>
                <a:lnTo>
                  <a:pt x="28232" y="48692"/>
                </a:lnTo>
                <a:lnTo>
                  <a:pt x="29443" y="48458"/>
                </a:lnTo>
                <a:lnTo>
                  <a:pt x="30614" y="48185"/>
                </a:lnTo>
                <a:lnTo>
                  <a:pt x="31786" y="47872"/>
                </a:lnTo>
                <a:lnTo>
                  <a:pt x="32918" y="47482"/>
                </a:lnTo>
                <a:lnTo>
                  <a:pt x="34011" y="47052"/>
                </a:lnTo>
                <a:lnTo>
                  <a:pt x="35105" y="46545"/>
                </a:lnTo>
                <a:lnTo>
                  <a:pt x="36159" y="45998"/>
                </a:lnTo>
                <a:lnTo>
                  <a:pt x="37174" y="45412"/>
                </a:lnTo>
                <a:lnTo>
                  <a:pt x="38189" y="44788"/>
                </a:lnTo>
                <a:lnTo>
                  <a:pt x="39127" y="44085"/>
                </a:lnTo>
                <a:lnTo>
                  <a:pt x="40064" y="43382"/>
                </a:lnTo>
                <a:lnTo>
                  <a:pt x="40962" y="42601"/>
                </a:lnTo>
                <a:lnTo>
                  <a:pt x="41821" y="41781"/>
                </a:lnTo>
                <a:lnTo>
                  <a:pt x="42602" y="40922"/>
                </a:lnTo>
                <a:lnTo>
                  <a:pt x="43383" y="40063"/>
                </a:lnTo>
                <a:lnTo>
                  <a:pt x="44125" y="39126"/>
                </a:lnTo>
                <a:lnTo>
                  <a:pt x="44788" y="38150"/>
                </a:lnTo>
                <a:lnTo>
                  <a:pt x="45452" y="37173"/>
                </a:lnTo>
                <a:lnTo>
                  <a:pt x="46038" y="36158"/>
                </a:lnTo>
                <a:lnTo>
                  <a:pt x="46546" y="35104"/>
                </a:lnTo>
                <a:lnTo>
                  <a:pt x="47053" y="34011"/>
                </a:lnTo>
                <a:lnTo>
                  <a:pt x="47483" y="32917"/>
                </a:lnTo>
                <a:lnTo>
                  <a:pt x="47873" y="31746"/>
                </a:lnTo>
                <a:lnTo>
                  <a:pt x="48225" y="30613"/>
                </a:lnTo>
                <a:lnTo>
                  <a:pt x="48498" y="29403"/>
                </a:lnTo>
                <a:lnTo>
                  <a:pt x="48693" y="28193"/>
                </a:lnTo>
                <a:lnTo>
                  <a:pt x="48849" y="26982"/>
                </a:lnTo>
                <a:lnTo>
                  <a:pt x="48966" y="25733"/>
                </a:lnTo>
                <a:lnTo>
                  <a:pt x="48966" y="24483"/>
                </a:lnTo>
                <a:lnTo>
                  <a:pt x="48966" y="23234"/>
                </a:lnTo>
                <a:lnTo>
                  <a:pt x="48849" y="21984"/>
                </a:lnTo>
                <a:lnTo>
                  <a:pt x="48693" y="20734"/>
                </a:lnTo>
                <a:lnTo>
                  <a:pt x="48498" y="19563"/>
                </a:lnTo>
                <a:lnTo>
                  <a:pt x="48225" y="18353"/>
                </a:lnTo>
                <a:lnTo>
                  <a:pt x="47873" y="17181"/>
                </a:lnTo>
                <a:lnTo>
                  <a:pt x="47483" y="16049"/>
                </a:lnTo>
                <a:lnTo>
                  <a:pt x="47053" y="14955"/>
                </a:lnTo>
                <a:lnTo>
                  <a:pt x="46546" y="13862"/>
                </a:lnTo>
                <a:lnTo>
                  <a:pt x="46038" y="12808"/>
                </a:lnTo>
                <a:lnTo>
                  <a:pt x="45452" y="11793"/>
                </a:lnTo>
                <a:lnTo>
                  <a:pt x="44788" y="10777"/>
                </a:lnTo>
                <a:lnTo>
                  <a:pt x="44125" y="9840"/>
                </a:lnTo>
                <a:lnTo>
                  <a:pt x="43383" y="8903"/>
                </a:lnTo>
                <a:lnTo>
                  <a:pt x="42602" y="8005"/>
                </a:lnTo>
                <a:lnTo>
                  <a:pt x="41821" y="7185"/>
                </a:lnTo>
                <a:lnTo>
                  <a:pt x="40962" y="6365"/>
                </a:lnTo>
                <a:lnTo>
                  <a:pt x="40064" y="5584"/>
                </a:lnTo>
                <a:lnTo>
                  <a:pt x="39127" y="4881"/>
                </a:lnTo>
                <a:lnTo>
                  <a:pt x="38189" y="4178"/>
                </a:lnTo>
                <a:lnTo>
                  <a:pt x="37174" y="3554"/>
                </a:lnTo>
                <a:lnTo>
                  <a:pt x="36159" y="2968"/>
                </a:lnTo>
                <a:lnTo>
                  <a:pt x="35105" y="2421"/>
                </a:lnTo>
                <a:lnTo>
                  <a:pt x="34011" y="1914"/>
                </a:lnTo>
                <a:lnTo>
                  <a:pt x="32918" y="1484"/>
                </a:lnTo>
                <a:lnTo>
                  <a:pt x="31786" y="1094"/>
                </a:lnTo>
                <a:lnTo>
                  <a:pt x="30614" y="781"/>
                </a:lnTo>
                <a:lnTo>
                  <a:pt x="29443" y="508"/>
                </a:lnTo>
                <a:lnTo>
                  <a:pt x="28232" y="274"/>
                </a:lnTo>
                <a:lnTo>
                  <a:pt x="26983" y="117"/>
                </a:lnTo>
                <a:lnTo>
                  <a:pt x="25772" y="39"/>
                </a:lnTo>
                <a:lnTo>
                  <a:pt x="244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9" name="Google Shape;2209;p40"/>
          <p:cNvGrpSpPr/>
          <p:nvPr/>
        </p:nvGrpSpPr>
        <p:grpSpPr>
          <a:xfrm flipH="1">
            <a:off x="-352355" y="3454401"/>
            <a:ext cx="1051274" cy="787312"/>
            <a:chOff x="3585475" y="1537675"/>
            <a:chExt cx="649175" cy="486175"/>
          </a:xfrm>
        </p:grpSpPr>
        <p:sp>
          <p:nvSpPr>
            <p:cNvPr id="2210" name="Google Shape;2210;p40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0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0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0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0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0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0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0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0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0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0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0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0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0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6" name="Google Shape;2226;p40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0" name="Google Shape;2230;p40"/>
          <p:cNvGrpSpPr/>
          <p:nvPr/>
        </p:nvGrpSpPr>
        <p:grpSpPr>
          <a:xfrm flipH="1">
            <a:off x="2210779" y="313057"/>
            <a:ext cx="656180" cy="633875"/>
            <a:chOff x="2556550" y="3309450"/>
            <a:chExt cx="545725" cy="527175"/>
          </a:xfrm>
        </p:grpSpPr>
        <p:sp>
          <p:nvSpPr>
            <p:cNvPr id="2231" name="Google Shape;2231;p40"/>
            <p:cNvSpPr/>
            <p:nvPr/>
          </p:nvSpPr>
          <p:spPr>
            <a:xfrm>
              <a:off x="2556550" y="3440250"/>
              <a:ext cx="396375" cy="396375"/>
            </a:xfrm>
            <a:custGeom>
              <a:avLst/>
              <a:gdLst/>
              <a:ahLst/>
              <a:cxnLst/>
              <a:rect l="l" t="t" r="r" b="b"/>
              <a:pathLst>
                <a:path w="15855" h="15855" extrusionOk="0">
                  <a:moveTo>
                    <a:pt x="1" y="1"/>
                  </a:moveTo>
                  <a:lnTo>
                    <a:pt x="1" y="15854"/>
                  </a:lnTo>
                  <a:lnTo>
                    <a:pt x="15854" y="15854"/>
                  </a:lnTo>
                  <a:lnTo>
                    <a:pt x="158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2704950" y="3309450"/>
              <a:ext cx="397325" cy="396350"/>
            </a:xfrm>
            <a:custGeom>
              <a:avLst/>
              <a:gdLst/>
              <a:ahLst/>
              <a:cxnLst/>
              <a:rect l="l" t="t" r="r" b="b"/>
              <a:pathLst>
                <a:path w="15893" h="15854" fill="none" extrusionOk="0">
                  <a:moveTo>
                    <a:pt x="15893" y="15854"/>
                  </a:moveTo>
                  <a:lnTo>
                    <a:pt x="0" y="15854"/>
                  </a:lnTo>
                  <a:lnTo>
                    <a:pt x="0" y="0"/>
                  </a:lnTo>
                  <a:lnTo>
                    <a:pt x="15893" y="0"/>
                  </a:lnTo>
                  <a:lnTo>
                    <a:pt x="15893" y="15854"/>
                  </a:lnTo>
                  <a:close/>
                </a:path>
              </a:pathLst>
            </a:custGeom>
            <a:noFill/>
            <a:ln w="1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3" name="Google Shape;2233;p40"/>
          <p:cNvSpPr/>
          <p:nvPr/>
        </p:nvSpPr>
        <p:spPr>
          <a:xfrm>
            <a:off x="7424746" y="369925"/>
            <a:ext cx="1719000" cy="47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2</a:t>
            </a:r>
            <a:endParaRPr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47E95B2-16BA-89D6-1C83-0E98B7084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50" y="1003821"/>
            <a:ext cx="2503778" cy="32378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xmlns="" id="{82B90708-5057-6130-A4D8-86954A929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830560"/>
              </p:ext>
            </p:extLst>
          </p:nvPr>
        </p:nvGraphicFramePr>
        <p:xfrm>
          <a:off x="-2433099" y="3032926"/>
          <a:ext cx="14630400" cy="73152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xmlns="" val="22100908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69563277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423496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2605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588179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4979814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053467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7869425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1421555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7205031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788713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645937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17520888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1978092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43595803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18130859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96716146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53144188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98643472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7555313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1669796"/>
                  </a:ext>
                </a:extLst>
              </a:tr>
            </a:tbl>
          </a:graphicData>
        </a:graphic>
      </p:graphicFrame>
      <p:grpSp>
        <p:nvGrpSpPr>
          <p:cNvPr id="8" name="Group 15">
            <a:extLst>
              <a:ext uri="{FF2B5EF4-FFF2-40B4-BE49-F238E27FC236}">
                <a16:creationId xmlns:a16="http://schemas.microsoft.com/office/drawing/2014/main" xmlns="" id="{B808B079-BFC1-51F5-4B8B-BB2EAB3F2664}"/>
              </a:ext>
            </a:extLst>
          </p:cNvPr>
          <p:cNvGrpSpPr/>
          <p:nvPr/>
        </p:nvGrpSpPr>
        <p:grpSpPr>
          <a:xfrm>
            <a:off x="3363401" y="1840231"/>
            <a:ext cx="826935" cy="1968444"/>
            <a:chOff x="3363401" y="1840231"/>
            <a:chExt cx="826935" cy="1968444"/>
          </a:xfrm>
        </p:grpSpPr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xmlns="" id="{985F681F-50D2-8BF6-55DA-77DD6B582FA9}"/>
                </a:ext>
              </a:extLst>
            </p:cNvPr>
            <p:cNvSpPr/>
            <p:nvPr/>
          </p:nvSpPr>
          <p:spPr>
            <a:xfrm>
              <a:off x="3363401" y="1840231"/>
              <a:ext cx="826935" cy="7315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/>
                <a:t>q</a:t>
              </a: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xmlns="" id="{757F44D1-1FFF-4A2B-3CC1-75970825CC7C}"/>
                </a:ext>
              </a:extLst>
            </p:cNvPr>
            <p:cNvSpPr/>
            <p:nvPr/>
          </p:nvSpPr>
          <p:spPr>
            <a:xfrm>
              <a:off x="3371352" y="2973788"/>
              <a:ext cx="811033" cy="834887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0">
              <a:extLst>
                <a:ext uri="{FF2B5EF4-FFF2-40B4-BE49-F238E27FC236}">
                  <a16:creationId xmlns:a16="http://schemas.microsoft.com/office/drawing/2014/main" xmlns="" id="{912D1525-2EF8-8F5F-02C8-EE434C855E48}"/>
                </a:ext>
              </a:extLst>
            </p:cNvPr>
            <p:cNvCxnSpPr>
              <a:stCxn id="9" idx="2"/>
              <a:endCxn id="10" idx="0"/>
            </p:cNvCxnSpPr>
            <p:nvPr/>
          </p:nvCxnSpPr>
          <p:spPr>
            <a:xfrm>
              <a:off x="3776869" y="2571750"/>
              <a:ext cx="0" cy="40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781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xmlns="" id="{82B90708-5057-6130-A4D8-86954A929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045054"/>
              </p:ext>
            </p:extLst>
          </p:nvPr>
        </p:nvGraphicFramePr>
        <p:xfrm>
          <a:off x="-2433099" y="3032926"/>
          <a:ext cx="14630400" cy="73152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xmlns="" val="22100908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69563277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423496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2605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588179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4979814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053467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7869425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1421555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7205031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788713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645937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17520888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1978092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43595803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18130859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96716146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53144188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98643472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7555313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1669796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B808B079-BFC1-51F5-4B8B-BB2EAB3F2664}"/>
              </a:ext>
            </a:extLst>
          </p:cNvPr>
          <p:cNvGrpSpPr/>
          <p:nvPr/>
        </p:nvGrpSpPr>
        <p:grpSpPr>
          <a:xfrm>
            <a:off x="3363401" y="1840231"/>
            <a:ext cx="826935" cy="1968444"/>
            <a:chOff x="3363401" y="1840231"/>
            <a:chExt cx="826935" cy="196844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xmlns="" id="{985F681F-50D2-8BF6-55DA-77DD6B582FA9}"/>
                </a:ext>
              </a:extLst>
            </p:cNvPr>
            <p:cNvSpPr/>
            <p:nvPr/>
          </p:nvSpPr>
          <p:spPr>
            <a:xfrm>
              <a:off x="3363401" y="1840231"/>
              <a:ext cx="826935" cy="7315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/>
                <a:t>q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757F44D1-1FFF-4A2B-3CC1-75970825CC7C}"/>
                </a:ext>
              </a:extLst>
            </p:cNvPr>
            <p:cNvSpPr/>
            <p:nvPr/>
          </p:nvSpPr>
          <p:spPr>
            <a:xfrm>
              <a:off x="3371352" y="2973788"/>
              <a:ext cx="811033" cy="834887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912D1525-2EF8-8F5F-02C8-EE434C855E48}"/>
                </a:ext>
              </a:extLst>
            </p:cNvPr>
            <p:cNvCxnSpPr>
              <a:stCxn id="5" idx="2"/>
              <a:endCxn id="7" idx="0"/>
            </p:cNvCxnSpPr>
            <p:nvPr/>
          </p:nvCxnSpPr>
          <p:spPr>
            <a:xfrm>
              <a:off x="3776869" y="2571750"/>
              <a:ext cx="0" cy="40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07407E-6 L 0.0783 -0.000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3 -0.0003 L 0.1592 0.00124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5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92 0.00124 L 0.24271 0.00124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271 0.00124 L 0.32344 0.00124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344 0.00124 L 0.4 0.00124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 0.00124 L 0.4809 0.00124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xmlns="" id="{82B90708-5057-6130-A4D8-86954A92979D}"/>
              </a:ext>
            </a:extLst>
          </p:cNvPr>
          <p:cNvGraphicFramePr>
            <a:graphicFrameLocks noGrp="1"/>
          </p:cNvGraphicFramePr>
          <p:nvPr/>
        </p:nvGraphicFramePr>
        <p:xfrm>
          <a:off x="-2433099" y="3032926"/>
          <a:ext cx="14630400" cy="73152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xmlns="" val="22100908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69563277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423496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2605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588179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4979814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053467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7869425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1421555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7205031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788713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645937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17520888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1978092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43595803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18130859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96716146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53144188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98643472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7555313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166979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97BF12B-6BDA-9E2A-4632-E2999B2E40C3}"/>
              </a:ext>
            </a:extLst>
          </p:cNvPr>
          <p:cNvSpPr/>
          <p:nvPr/>
        </p:nvSpPr>
        <p:spPr>
          <a:xfrm>
            <a:off x="7152196" y="3168098"/>
            <a:ext cx="596348" cy="46117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E18CC82-7F46-952E-595A-64144E19B03C}"/>
              </a:ext>
            </a:extLst>
          </p:cNvPr>
          <p:cNvSpPr/>
          <p:nvPr/>
        </p:nvSpPr>
        <p:spPr>
          <a:xfrm>
            <a:off x="6447841" y="3168098"/>
            <a:ext cx="543342" cy="46117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BF27FAD-C0F9-216D-7F92-EA5D93BB8654}"/>
              </a:ext>
            </a:extLst>
          </p:cNvPr>
          <p:cNvSpPr/>
          <p:nvPr/>
        </p:nvSpPr>
        <p:spPr>
          <a:xfrm>
            <a:off x="5725598" y="3168097"/>
            <a:ext cx="543342" cy="46117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CAC58069-D7BC-7A36-4C49-BA595650A03F}"/>
              </a:ext>
            </a:extLst>
          </p:cNvPr>
          <p:cNvSpPr/>
          <p:nvPr/>
        </p:nvSpPr>
        <p:spPr>
          <a:xfrm>
            <a:off x="4988442" y="3168096"/>
            <a:ext cx="543342" cy="46117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B808B079-BFC1-51F5-4B8B-BB2EAB3F2664}"/>
              </a:ext>
            </a:extLst>
          </p:cNvPr>
          <p:cNvGrpSpPr/>
          <p:nvPr/>
        </p:nvGrpSpPr>
        <p:grpSpPr>
          <a:xfrm>
            <a:off x="7036903" y="1848182"/>
            <a:ext cx="826935" cy="1968444"/>
            <a:chOff x="3363401" y="1840231"/>
            <a:chExt cx="826935" cy="196844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xmlns="" id="{985F681F-50D2-8BF6-55DA-77DD6B582FA9}"/>
                </a:ext>
              </a:extLst>
            </p:cNvPr>
            <p:cNvSpPr/>
            <p:nvPr/>
          </p:nvSpPr>
          <p:spPr>
            <a:xfrm>
              <a:off x="3363401" y="1840231"/>
              <a:ext cx="826935" cy="7315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/>
                <a:t>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757F44D1-1FFF-4A2B-3CC1-75970825CC7C}"/>
                </a:ext>
              </a:extLst>
            </p:cNvPr>
            <p:cNvSpPr/>
            <p:nvPr/>
          </p:nvSpPr>
          <p:spPr>
            <a:xfrm>
              <a:off x="3371352" y="2973788"/>
              <a:ext cx="811033" cy="834887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912D1525-2EF8-8F5F-02C8-EE434C855E48}"/>
                </a:ext>
              </a:extLst>
            </p:cNvPr>
            <p:cNvCxnSpPr>
              <a:stCxn id="5" idx="2"/>
              <a:endCxn id="7" idx="0"/>
            </p:cNvCxnSpPr>
            <p:nvPr/>
          </p:nvCxnSpPr>
          <p:spPr>
            <a:xfrm>
              <a:off x="3776869" y="2571750"/>
              <a:ext cx="0" cy="40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0BC7624A-59B3-570E-6417-D133F7209A41}"/>
              </a:ext>
            </a:extLst>
          </p:cNvPr>
          <p:cNvSpPr/>
          <p:nvPr/>
        </p:nvSpPr>
        <p:spPr>
          <a:xfrm>
            <a:off x="4846645" y="1840231"/>
            <a:ext cx="826935" cy="73151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9944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916 -0.00031 L 3.05556E-6 2.71605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2.71605E-6 L -0.08004 -0.0003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10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004 -0.00031 L -0.1599 -0.00185 " pathEditMode="relative" rAng="0" ptsTypes="AA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3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99 -0.00185 L -0.24167 -0.00031 " pathEditMode="relative" rAng="0" ptsTypes="AA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97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Formal definition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7" name="Google Shape;2397;p49"/>
              <p:cNvSpPr txBox="1"/>
              <p:nvPr/>
            </p:nvSpPr>
            <p:spPr>
              <a:xfrm>
                <a:off x="719999" y="1339071"/>
                <a:ext cx="7703999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r>
                        <a:rPr lang="en-US" sz="40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=(</m:t>
                      </m:r>
                      <m:r>
                        <a:rPr lang="en-US" sz="4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𝑄</m:t>
                      </m:r>
                      <m:r>
                        <a:rPr lang="en-US" sz="4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400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𝛴</m:t>
                      </m:r>
                      <m:r>
                        <a:rPr lang="en-US" sz="40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4000" b="0" i="0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Γ</m:t>
                      </m:r>
                      <m:r>
                        <a:rPr lang="en-US" sz="40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40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𝐵</m:t>
                      </m:r>
                      <m:r>
                        <a:rPr lang="en-US" sz="40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sSub>
                        <m:sSubPr>
                          <m:ctrlPr>
                            <a:rPr lang="en-US" sz="4000" b="0" i="1" dirty="0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40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𝑞</m:t>
                          </m:r>
                        </m:e>
                        <m:sub>
                          <m:r>
                            <a:rPr lang="en-US" sz="40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1</m:t>
                          </m:r>
                        </m:sub>
                      </m:sSub>
                      <m:r>
                        <a:rPr lang="en-US" sz="40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40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𝑌</m:t>
                      </m:r>
                      <m:r>
                        <a:rPr lang="en-US" sz="40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40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𝑁</m:t>
                      </m:r>
                      <m:r>
                        <a:rPr lang="en-US" sz="40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40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𝐻</m:t>
                      </m:r>
                      <m:r>
                        <a:rPr lang="en-US" sz="40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40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𝛿</m:t>
                      </m:r>
                      <m:r>
                        <a:rPr lang="en-US" sz="40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)</m:t>
                      </m:r>
                    </m:oMath>
                  </m:oMathPara>
                </a14:m>
                <a:endParaRPr sz="40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2397" name="Google Shape;2397;p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99" y="1339071"/>
                <a:ext cx="7703999" cy="8289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8" name="Google Shape;2398;p49"/>
          <p:cNvSpPr txBox="1"/>
          <p:nvPr/>
        </p:nvSpPr>
        <p:spPr>
          <a:xfrm>
            <a:off x="2506174" y="2975489"/>
            <a:ext cx="41316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Finite </a:t>
            </a:r>
            <a:r>
              <a:rPr lang="en" b="1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set of states </a:t>
            </a:r>
            <a:r>
              <a:rPr lang="en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the machine “can be in”</a:t>
            </a:r>
            <a:endParaRPr dirty="0">
              <a:solidFill>
                <a:srgbClr val="19191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AD8BF0D-CC2C-16A4-AD30-8C9081FFBDEB}"/>
              </a:ext>
            </a:extLst>
          </p:cNvPr>
          <p:cNvSpPr/>
          <p:nvPr/>
        </p:nvSpPr>
        <p:spPr>
          <a:xfrm>
            <a:off x="2573595" y="1482213"/>
            <a:ext cx="626806" cy="597310"/>
          </a:xfrm>
          <a:prstGeom prst="rect">
            <a:avLst/>
          </a:prstGeom>
          <a:noFill/>
          <a:ln>
            <a:solidFill>
              <a:schemeClr val="tx2"/>
            </a:solidFill>
          </a:ln>
          <a:effectLst>
            <a:glow rad="63500">
              <a:schemeClr val="tx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2398;p49">
            <a:extLst>
              <a:ext uri="{FF2B5EF4-FFF2-40B4-BE49-F238E27FC236}">
                <a16:creationId xmlns:a16="http://schemas.microsoft.com/office/drawing/2014/main" xmlns="" id="{574B4B3A-AC67-DC26-65A9-78FB4CA27152}"/>
              </a:ext>
            </a:extLst>
          </p:cNvPr>
          <p:cNvSpPr txBox="1"/>
          <p:nvPr/>
        </p:nvSpPr>
        <p:spPr>
          <a:xfrm>
            <a:off x="2506200" y="2975489"/>
            <a:ext cx="41316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Finite set of </a:t>
            </a:r>
            <a:r>
              <a:rPr lang="en" i="1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symbols</a:t>
            </a:r>
            <a:r>
              <a:rPr lang="en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 – the </a:t>
            </a:r>
            <a:r>
              <a:rPr lang="en" b="1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“input alphabet”</a:t>
            </a:r>
            <a:endParaRPr b="1" dirty="0">
              <a:solidFill>
                <a:srgbClr val="19191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" name="Google Shape;2398;p49">
            <a:extLst>
              <a:ext uri="{FF2B5EF4-FFF2-40B4-BE49-F238E27FC236}">
                <a16:creationId xmlns:a16="http://schemas.microsoft.com/office/drawing/2014/main" xmlns="" id="{A87F7F07-A61E-B2BE-C723-B0EB9BE15031}"/>
              </a:ext>
            </a:extLst>
          </p:cNvPr>
          <p:cNvSpPr txBox="1"/>
          <p:nvPr/>
        </p:nvSpPr>
        <p:spPr>
          <a:xfrm>
            <a:off x="2506198" y="2975489"/>
            <a:ext cx="41316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Finite set of </a:t>
            </a:r>
            <a:r>
              <a:rPr lang="en" i="1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symbols</a:t>
            </a:r>
            <a:r>
              <a:rPr lang="en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 – the </a:t>
            </a:r>
            <a:r>
              <a:rPr lang="en" b="1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“tape alphabet”</a:t>
            </a:r>
            <a:endParaRPr b="1" dirty="0">
              <a:solidFill>
                <a:srgbClr val="19191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" name="Google Shape;2398;p49">
            <a:extLst>
              <a:ext uri="{FF2B5EF4-FFF2-40B4-BE49-F238E27FC236}">
                <a16:creationId xmlns:a16="http://schemas.microsoft.com/office/drawing/2014/main" xmlns="" id="{3377BAC4-0233-320A-9DE3-2493573F549B}"/>
              </a:ext>
            </a:extLst>
          </p:cNvPr>
          <p:cNvSpPr txBox="1"/>
          <p:nvPr/>
        </p:nvSpPr>
        <p:spPr>
          <a:xfrm>
            <a:off x="2506198" y="2975489"/>
            <a:ext cx="41316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Initial state</a:t>
            </a:r>
            <a:endParaRPr b="1" dirty="0">
              <a:solidFill>
                <a:srgbClr val="19191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2398;p49">
                <a:extLst>
                  <a:ext uri="{FF2B5EF4-FFF2-40B4-BE49-F238E27FC236}">
                    <a16:creationId xmlns:a16="http://schemas.microsoft.com/office/drawing/2014/main" xmlns="" id="{56E7F344-4C2A-0ABE-2F98-D49186656506}"/>
                  </a:ext>
                </a:extLst>
              </p:cNvPr>
              <p:cNvSpPr txBox="1"/>
              <p:nvPr/>
            </p:nvSpPr>
            <p:spPr>
              <a:xfrm>
                <a:off x="1699725" y="2975489"/>
                <a:ext cx="5744497" cy="101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o-RO" b="1" dirty="0">
                    <a:solidFill>
                      <a:srgbClr val="191919"/>
                    </a:solidFill>
                    <a:latin typeface="Nunito"/>
                    <a:ea typeface="Nunito"/>
                    <a:cs typeface="Nunito"/>
                    <a:sym typeface="Nunito"/>
                  </a:rPr>
                  <a:t>The t</a:t>
                </a:r>
                <a:r>
                  <a:rPr lang="en" b="1" dirty="0">
                    <a:solidFill>
                      <a:srgbClr val="191919"/>
                    </a:solidFill>
                    <a:latin typeface="Nunito"/>
                    <a:ea typeface="Nunito"/>
                    <a:cs typeface="Nunito"/>
                    <a:sym typeface="Nunito"/>
                  </a:rPr>
                  <a:t>ransition function</a:t>
                </a:r>
                <a:endParaRPr lang="ro-RO" b="1" dirty="0">
                  <a:solidFill>
                    <a:srgbClr val="191919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" b="1" dirty="0">
                  <a:solidFill>
                    <a:srgbClr val="191919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𝛿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: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𝑄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Γ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→(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𝑄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∪{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𝑁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𝐻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})×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Γ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×{←, −, →}</m:t>
                      </m:r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mc:Choice>
        <mc:Fallback xmlns="">
          <p:sp>
            <p:nvSpPr>
              <p:cNvPr id="6" name="Google Shape;2398;p49">
                <a:extLst>
                  <a:ext uri="{FF2B5EF4-FFF2-40B4-BE49-F238E27FC236}">
                    <a16:creationId xmlns:a16="http://schemas.microsoft.com/office/drawing/2014/main" id="{56E7F344-4C2A-0ABE-2F98-D49186656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725" y="2975489"/>
                <a:ext cx="5744497" cy="10107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398;p49">
            <a:extLst>
              <a:ext uri="{FF2B5EF4-FFF2-40B4-BE49-F238E27FC236}">
                <a16:creationId xmlns:a16="http://schemas.microsoft.com/office/drawing/2014/main" xmlns="" id="{AC5DE51F-CF0B-2C0C-6689-4D27B2311CAE}"/>
              </a:ext>
            </a:extLst>
          </p:cNvPr>
          <p:cNvSpPr txBox="1"/>
          <p:nvPr/>
        </p:nvSpPr>
        <p:spPr>
          <a:xfrm>
            <a:off x="2506186" y="2975489"/>
            <a:ext cx="4131600" cy="497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The </a:t>
            </a:r>
            <a:r>
              <a:rPr lang="en-US" b="1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halting</a:t>
            </a:r>
            <a:r>
              <a:rPr lang="en-US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 state</a:t>
            </a:r>
            <a:endParaRPr dirty="0">
              <a:solidFill>
                <a:srgbClr val="19191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" name="Google Shape;2398;p49">
            <a:extLst>
              <a:ext uri="{FF2B5EF4-FFF2-40B4-BE49-F238E27FC236}">
                <a16:creationId xmlns:a16="http://schemas.microsoft.com/office/drawing/2014/main" xmlns="" id="{E06554C6-51C9-6598-879F-5E2F7D6452ED}"/>
              </a:ext>
            </a:extLst>
          </p:cNvPr>
          <p:cNvSpPr txBox="1"/>
          <p:nvPr/>
        </p:nvSpPr>
        <p:spPr>
          <a:xfrm>
            <a:off x="2506194" y="2975489"/>
            <a:ext cx="4131600" cy="497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The “blank” symbol</a:t>
            </a:r>
            <a:endParaRPr b="1" dirty="0">
              <a:solidFill>
                <a:srgbClr val="19191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2398;p49">
            <a:extLst>
              <a:ext uri="{FF2B5EF4-FFF2-40B4-BE49-F238E27FC236}">
                <a16:creationId xmlns:a16="http://schemas.microsoft.com/office/drawing/2014/main" xmlns="" id="{FFF449DB-B15E-586B-62E5-DE0674FCD4B5}"/>
              </a:ext>
            </a:extLst>
          </p:cNvPr>
          <p:cNvSpPr txBox="1"/>
          <p:nvPr/>
        </p:nvSpPr>
        <p:spPr>
          <a:xfrm>
            <a:off x="2506182" y="2975489"/>
            <a:ext cx="4131600" cy="40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The </a:t>
            </a:r>
            <a:r>
              <a:rPr lang="en-US" b="1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accepting</a:t>
            </a:r>
            <a:r>
              <a:rPr lang="en-US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 state</a:t>
            </a:r>
            <a:endParaRPr dirty="0">
              <a:solidFill>
                <a:srgbClr val="19191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" name="Google Shape;2398;p49">
            <a:extLst>
              <a:ext uri="{FF2B5EF4-FFF2-40B4-BE49-F238E27FC236}">
                <a16:creationId xmlns:a16="http://schemas.microsoft.com/office/drawing/2014/main" xmlns="" id="{FBA45052-7324-88C0-8001-648446A15D7D}"/>
              </a:ext>
            </a:extLst>
          </p:cNvPr>
          <p:cNvSpPr txBox="1"/>
          <p:nvPr/>
        </p:nvSpPr>
        <p:spPr>
          <a:xfrm>
            <a:off x="2506186" y="2975489"/>
            <a:ext cx="4131600" cy="40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The </a:t>
            </a:r>
            <a:r>
              <a:rPr lang="en-US" b="1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rejecting</a:t>
            </a:r>
            <a:r>
              <a:rPr lang="en-US" dirty="0">
                <a:solidFill>
                  <a:srgbClr val="191919"/>
                </a:solidFill>
                <a:latin typeface="Nunito"/>
                <a:ea typeface="Nunito"/>
                <a:cs typeface="Nunito"/>
                <a:sym typeface="Nunito"/>
              </a:rPr>
              <a:t> state</a:t>
            </a:r>
            <a:endParaRPr dirty="0">
              <a:solidFill>
                <a:srgbClr val="19191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6 L 0.05678 -0.00062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30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678 -0.00062 L 0.11407 -0.00062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407 -0.00062 L 0.16806 0.00092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91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805 0.00093 L 0.23716 -0.00463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716 -0.00463 L 0.3033 -0.00618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2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33 -0.00617 L 0.36112 -0.00463 " pathEditMode="relative" rAng="0" ptsTypes="AA">
                                      <p:cBhvr>
                                        <p:cTn id="6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6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6111 -0.00463 L 0.42066 -0.00772 " pathEditMode="relative" rAng="0" ptsTypes="AA">
                                      <p:cBhvr>
                                        <p:cTn id="7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20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066 -0.00772 L 0.48091 -0.00463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20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8" grpId="0"/>
      <p:bldP spid="2398" grpId="1"/>
      <p:bldP spid="2" grpId="0" animBg="1"/>
      <p:bldP spid="2" grpId="1" animBg="1"/>
      <p:bldP spid="2" grpId="2" animBg="1"/>
      <p:bldP spid="2" grpId="3" animBg="1"/>
      <p:bldP spid="2" grpId="4" animBg="1"/>
      <p:bldP spid="2" grpId="5" animBg="1"/>
      <p:bldP spid="2" grpId="6" animBg="1"/>
      <p:bldP spid="2" grpId="7" animBg="1"/>
      <p:bldP spid="2" grpId="8" animBg="1"/>
      <p:bldP spid="3" grpId="0" build="allAtOnce"/>
      <p:bldP spid="4" grpId="0" build="allAtOnce"/>
      <p:bldP spid="5" grpId="0" build="allAtOnce"/>
      <p:bldP spid="7" grpId="0" build="allAtOnce"/>
      <p:bldP spid="8" grpId="0" build="allAtOnce"/>
      <p:bldP spid="9" grpId="0" build="allAtOnce"/>
      <p:bldP spid="10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71;p48">
            <a:extLst>
              <a:ext uri="{FF2B5EF4-FFF2-40B4-BE49-F238E27FC236}">
                <a16:creationId xmlns:a16="http://schemas.microsoft.com/office/drawing/2014/main" xmlns="" id="{2A3DCA66-1E0A-1397-5872-E90019C87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Checking if a number is even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oogle Shape;2381;p48">
                <a:extLst>
                  <a:ext uri="{FF2B5EF4-FFF2-40B4-BE49-F238E27FC236}">
                    <a16:creationId xmlns:a16="http://schemas.microsoft.com/office/drawing/2014/main" xmlns="" id="{C91D8B96-B941-B0E1-CA82-2CB5AB095DC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70502428"/>
                  </p:ext>
                </p:extLst>
              </p:nvPr>
            </p:nvGraphicFramePr>
            <p:xfrm>
              <a:off x="1109816" y="1527813"/>
              <a:ext cx="6924368" cy="2645979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670237904"/>
                        </a:ext>
                      </a:extLst>
                    </a:gridCol>
                  </a:tblGrid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0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1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</m:oMath>
                            </m:oMathPara>
                          </a14:m>
                          <a:endParaRPr lang="en-US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oogle Shape;2381;p48">
                <a:extLst>
                  <a:ext uri="{FF2B5EF4-FFF2-40B4-BE49-F238E27FC236}">
                    <a16:creationId xmlns:a16="http://schemas.microsoft.com/office/drawing/2014/main" id="{C91D8B96-B941-B0E1-CA82-2CB5AB095DC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70502428"/>
                  </p:ext>
                </p:extLst>
              </p:nvPr>
            </p:nvGraphicFramePr>
            <p:xfrm>
              <a:off x="1109816" y="1527813"/>
              <a:ext cx="6924368" cy="2645979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670237904"/>
                        </a:ext>
                      </a:extLst>
                    </a:gridCol>
                  </a:tblGrid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0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1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2759" r="-3169" b="-20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102759" r="-303169" b="-1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202759" r="-303169" b="-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0011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71;p48">
            <a:extLst>
              <a:ext uri="{FF2B5EF4-FFF2-40B4-BE49-F238E27FC236}">
                <a16:creationId xmlns:a16="http://schemas.microsoft.com/office/drawing/2014/main" xmlns="" id="{2A3DCA66-1E0A-1397-5872-E90019C87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Checking if a number is even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oogle Shape;2381;p48">
                <a:extLst>
                  <a:ext uri="{FF2B5EF4-FFF2-40B4-BE49-F238E27FC236}">
                    <a16:creationId xmlns:a16="http://schemas.microsoft.com/office/drawing/2014/main" xmlns="" id="{C91D8B96-B941-B0E1-CA82-2CB5AB095DC4}"/>
                  </a:ext>
                </a:extLst>
              </p:cNvPr>
              <p:cNvGraphicFramePr/>
              <p:nvPr/>
            </p:nvGraphicFramePr>
            <p:xfrm>
              <a:off x="1109816" y="1527813"/>
              <a:ext cx="6924368" cy="2645979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670237904"/>
                        </a:ext>
                      </a:extLst>
                    </a:gridCol>
                  </a:tblGrid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0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1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</m:oMath>
                            </m:oMathPara>
                          </a14:m>
                          <a:endParaRPr lang="en-US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0, →</m:t>
                                </m:r>
                              </m:oMath>
                            </m:oMathPara>
                          </a14:m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→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←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𝑌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−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𝑁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𝑁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◻,−</m:t>
                                </m:r>
                              </m:oMath>
                            </m:oMathPara>
                          </a14:m>
                          <a:endParaRPr lang="en-US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oogle Shape;2381;p48">
                <a:extLst>
                  <a:ext uri="{FF2B5EF4-FFF2-40B4-BE49-F238E27FC236}">
                    <a16:creationId xmlns:a16="http://schemas.microsoft.com/office/drawing/2014/main" id="{C91D8B96-B941-B0E1-CA82-2CB5AB095DC4}"/>
                  </a:ext>
                </a:extLst>
              </p:cNvPr>
              <p:cNvGraphicFramePr/>
              <p:nvPr/>
            </p:nvGraphicFramePr>
            <p:xfrm>
              <a:off x="1109816" y="1527813"/>
              <a:ext cx="6924368" cy="2645979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670237904"/>
                        </a:ext>
                      </a:extLst>
                    </a:gridCol>
                  </a:tblGrid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0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1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2759" r="-3169" b="-20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102759" r="-303169" b="-1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817" t="-102759" r="-203169" b="-1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817" t="-102759" r="-103169" b="-1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102759" r="-3169" b="-10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202759" r="-303169" b="-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817" t="-202759" r="-203169" b="-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817" t="-202759" r="-103169" b="-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202759" r="-3169" b="-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742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71;p48">
            <a:extLst>
              <a:ext uri="{FF2B5EF4-FFF2-40B4-BE49-F238E27FC236}">
                <a16:creationId xmlns:a16="http://schemas.microsoft.com/office/drawing/2014/main" xmlns="" id="{FE0BF8D8-29A8-E55A-F88C-E81ABDE6C1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Using states as memory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Google Shape;2381;p48">
                <a:extLst>
                  <a:ext uri="{FF2B5EF4-FFF2-40B4-BE49-F238E27FC236}">
                    <a16:creationId xmlns:a16="http://schemas.microsoft.com/office/drawing/2014/main" xmlns="" id="{28DF7426-3009-77E2-9A00-E57C46266E3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75610634"/>
                  </p:ext>
                </p:extLst>
              </p:nvPr>
            </p:nvGraphicFramePr>
            <p:xfrm>
              <a:off x="722671" y="1315075"/>
              <a:ext cx="7701329" cy="3383400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923329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926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926000">
                      <a:extLst>
                        <a:ext uri="{9D8B030D-6E8A-4147-A177-3AD203B41FA5}">
                          <a16:colId xmlns:a16="http://schemas.microsoft.com/office/drawing/2014/main" xmlns="" val="1825011256"/>
                        </a:ext>
                      </a:extLst>
                    </a:gridCol>
                    <a:gridCol w="1926000">
                      <a:extLst>
                        <a:ext uri="{9D8B030D-6E8A-4147-A177-3AD203B41FA5}">
                          <a16:colId xmlns:a16="http://schemas.microsoft.com/office/drawing/2014/main" xmlns="" val="670237904"/>
                        </a:ext>
                      </a:extLst>
                    </a:gridCol>
                  </a:tblGrid>
                  <a:tr h="56390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400" b="1" dirty="0">
                              <a:sym typeface="Karla"/>
                            </a:rPr>
                            <a:t>0</a:t>
                          </a:r>
                          <a:endParaRPr lang="ro-RO" sz="24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400" b="1" dirty="0">
                              <a:sym typeface="Karla"/>
                            </a:rPr>
                            <a:t>1</a:t>
                          </a:r>
                          <a:endParaRPr lang="ro-RO" sz="24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</m:oMath>
                            </m:oMathPara>
                          </a14:m>
                          <a:endParaRPr lang="en-US" sz="24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56390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sym typeface="Karla"/>
                                  </a:rPr>
                                  <m:t>𝐬𝐭𝐚𝐫𝐭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mem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→</m:t>
                                </m:r>
                              </m:oMath>
                            </m:oMathPara>
                          </a14:m>
                          <a:endParaRPr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mem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→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Y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56390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𝐦𝐞𝐦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mem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mem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expect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56390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𝐦𝐞𝐦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mem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mem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expect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652043421"/>
                      </a:ext>
                    </a:extLst>
                  </a:tr>
                  <a:tr h="56390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𝐞𝐱𝐩𝐞𝐜𝐭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𝑌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𝑁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𝑁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◻,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98018473"/>
                      </a:ext>
                    </a:extLst>
                  </a:tr>
                  <a:tr h="56390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𝐞𝐱𝐩𝐞𝐜𝐭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𝑁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𝑌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𝑁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◻,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5220926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Google Shape;2381;p48">
                <a:extLst>
                  <a:ext uri="{FF2B5EF4-FFF2-40B4-BE49-F238E27FC236}">
                    <a16:creationId xmlns:a16="http://schemas.microsoft.com/office/drawing/2014/main" id="{28DF7426-3009-77E2-9A00-E57C46266E3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75610634"/>
                  </p:ext>
                </p:extLst>
              </p:nvPr>
            </p:nvGraphicFramePr>
            <p:xfrm>
              <a:off x="722671" y="1315075"/>
              <a:ext cx="7701329" cy="3383400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92332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26000">
                      <a:extLst>
                        <a:ext uri="{9D8B030D-6E8A-4147-A177-3AD203B41FA5}">
                          <a16:colId xmlns:a16="http://schemas.microsoft.com/office/drawing/2014/main" val="1825011256"/>
                        </a:ext>
                      </a:extLst>
                    </a:gridCol>
                    <a:gridCol w="1926000">
                      <a:extLst>
                        <a:ext uri="{9D8B030D-6E8A-4147-A177-3AD203B41FA5}">
                          <a16:colId xmlns:a16="http://schemas.microsoft.com/office/drawing/2014/main" val="670237904"/>
                        </a:ext>
                      </a:extLst>
                    </a:gridCol>
                  </a:tblGrid>
                  <a:tr h="56390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400" b="1" dirty="0">
                              <a:sym typeface="Karla"/>
                            </a:rPr>
                            <a:t>0</a:t>
                          </a:r>
                          <a:endParaRPr lang="ro-RO" sz="24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400" b="1" dirty="0">
                              <a:sym typeface="Karla"/>
                            </a:rPr>
                            <a:t>1</a:t>
                          </a:r>
                          <a:endParaRPr lang="ro-RO" sz="24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532" t="-4301" r="-2848" b="-51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63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32" t="-105435" r="-302848" b="-418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532" t="-105435" r="-202848" b="-418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532" t="-105435" r="-102848" b="-418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532" t="-105435" r="-2848" b="-418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3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32" t="-203226" r="-302848" b="-3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532" t="-203226" r="-202848" b="-3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532" t="-203226" r="-102848" b="-3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532" t="-203226" r="-2848" b="-3139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3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32" t="-303226" r="-302848" b="-2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532" t="-303226" r="-202848" b="-2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532" t="-303226" r="-102848" b="-2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532" t="-303226" r="-2848" b="-2139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2043421"/>
                      </a:ext>
                    </a:extLst>
                  </a:tr>
                  <a:tr h="563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32" t="-407609" r="-302848" b="-11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532" t="-407609" r="-202848" b="-11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532" t="-407609" r="-102848" b="-11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532" t="-407609" r="-2848" b="-1163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8018473"/>
                      </a:ext>
                    </a:extLst>
                  </a:tr>
                  <a:tr h="563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32" t="-502151" r="-302848" b="-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532" t="-502151" r="-202848" b="-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532" t="-502151" r="-102848" b="-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532" t="-502151" r="-2848" b="-150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2092627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71;p48">
            <a:extLst>
              <a:ext uri="{FF2B5EF4-FFF2-40B4-BE49-F238E27FC236}">
                <a16:creationId xmlns:a16="http://schemas.microsoft.com/office/drawing/2014/main" xmlns="" id="{1E6F0ECF-1A8F-AE65-2B14-F621A64873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Incrementing a number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Google Shape;2381;p48">
                <a:extLst>
                  <a:ext uri="{FF2B5EF4-FFF2-40B4-BE49-F238E27FC236}">
                    <a16:creationId xmlns:a16="http://schemas.microsoft.com/office/drawing/2014/main" xmlns="" id="{58EEF36D-CB01-B683-8CC0-5B1233DD87F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59861554"/>
                  </p:ext>
                </p:extLst>
              </p:nvPr>
            </p:nvGraphicFramePr>
            <p:xfrm>
              <a:off x="1109816" y="1527813"/>
              <a:ext cx="6924368" cy="2645979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670237904"/>
                        </a:ext>
                      </a:extLst>
                    </a:gridCol>
                  </a:tblGrid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0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1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</m:oMath>
                            </m:oMathPara>
                          </a14:m>
                          <a:endParaRPr lang="en-US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→</m:t>
                                </m:r>
                              </m:oMath>
                            </m:oMathPara>
                          </a14:m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→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←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H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sz="2800" b="0" dirty="0">
                            <a:latin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H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,−</m:t>
                                </m:r>
                              </m:oMath>
                            </m:oMathPara>
                          </a14:m>
                          <a:endParaRPr lang="en-US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Google Shape;2381;p48">
                <a:extLst>
                  <a:ext uri="{FF2B5EF4-FFF2-40B4-BE49-F238E27FC236}">
                    <a16:creationId xmlns:a16="http://schemas.microsoft.com/office/drawing/2014/main" id="{58EEF36D-CB01-B683-8CC0-5B1233DD87F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59861554"/>
                  </p:ext>
                </p:extLst>
              </p:nvPr>
            </p:nvGraphicFramePr>
            <p:xfrm>
              <a:off x="1109816" y="1527813"/>
              <a:ext cx="6924368" cy="2645979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670237904"/>
                        </a:ext>
                      </a:extLst>
                    </a:gridCol>
                  </a:tblGrid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0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1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2759" r="-3169" b="-20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102759" r="-303169" b="-1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817" t="-102759" r="-203169" b="-1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817" t="-102759" r="-103169" b="-1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102759" r="-3169" b="-10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202759" r="-303169" b="-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817" t="-202759" r="-203169" b="-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817" t="-202759" r="-103169" b="-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202759" r="-3169" b="-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4223A8F-01FC-4315-BF7B-B33E29B8B662}"/>
              </a:ext>
            </a:extLst>
          </p:cNvPr>
          <p:cNvSpPr/>
          <p:nvPr/>
        </p:nvSpPr>
        <p:spPr>
          <a:xfrm>
            <a:off x="3088558" y="2549740"/>
            <a:ext cx="1452717" cy="6931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709FA80-B091-43A9-A083-49EA48B22335}"/>
              </a:ext>
            </a:extLst>
          </p:cNvPr>
          <p:cNvSpPr/>
          <p:nvPr/>
        </p:nvSpPr>
        <p:spPr>
          <a:xfrm>
            <a:off x="4789538" y="2546806"/>
            <a:ext cx="1452717" cy="6931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7A7EB5E9-6EE2-4C8E-A86B-4736C197F0E6}"/>
              </a:ext>
            </a:extLst>
          </p:cNvPr>
          <p:cNvSpPr/>
          <p:nvPr/>
        </p:nvSpPr>
        <p:spPr>
          <a:xfrm>
            <a:off x="6490518" y="2504215"/>
            <a:ext cx="1452717" cy="6931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1FEBDDE-2F56-46D1-B6B8-2F0CFFB867DE}"/>
              </a:ext>
            </a:extLst>
          </p:cNvPr>
          <p:cNvSpPr/>
          <p:nvPr/>
        </p:nvSpPr>
        <p:spPr>
          <a:xfrm>
            <a:off x="2949677" y="3412897"/>
            <a:ext cx="1452717" cy="6931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EEE5717-5AAE-4810-AFF9-C1B1B25D9AA2}"/>
              </a:ext>
            </a:extLst>
          </p:cNvPr>
          <p:cNvSpPr/>
          <p:nvPr/>
        </p:nvSpPr>
        <p:spPr>
          <a:xfrm>
            <a:off x="4789537" y="3412897"/>
            <a:ext cx="1452717" cy="6931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64CB755-8E96-4D05-BC5E-2D9DC5A6CFB7}"/>
              </a:ext>
            </a:extLst>
          </p:cNvPr>
          <p:cNvSpPr/>
          <p:nvPr/>
        </p:nvSpPr>
        <p:spPr>
          <a:xfrm>
            <a:off x="6383591" y="3412897"/>
            <a:ext cx="1452717" cy="6931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454C3218-CDEB-4849-ABF7-81115E4E1F04}"/>
              </a:ext>
            </a:extLst>
          </p:cNvPr>
          <p:cNvSpPr/>
          <p:nvPr/>
        </p:nvSpPr>
        <p:spPr>
          <a:xfrm>
            <a:off x="725743" y="3296640"/>
            <a:ext cx="7353301" cy="104713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71;p48">
            <a:extLst>
              <a:ext uri="{FF2B5EF4-FFF2-40B4-BE49-F238E27FC236}">
                <a16:creationId xmlns:a16="http://schemas.microsoft.com/office/drawing/2014/main" xmlns="" id="{91306BD3-A954-4069-856F-784B4FB1E9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/>
              <a:t>Checking for palindromes</a:t>
            </a:r>
            <a:endParaRPr sz="3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Google Shape;2381;p48">
                <a:extLst>
                  <a:ext uri="{FF2B5EF4-FFF2-40B4-BE49-F238E27FC236}">
                    <a16:creationId xmlns:a16="http://schemas.microsoft.com/office/drawing/2014/main" xmlns="" id="{B5E89041-B20E-7942-39B9-DD9400CD193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250070185"/>
                  </p:ext>
                </p:extLst>
              </p:nvPr>
            </p:nvGraphicFramePr>
            <p:xfrm>
              <a:off x="722671" y="1315075"/>
              <a:ext cx="7701328" cy="3588767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92332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926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926000">
                      <a:extLst>
                        <a:ext uri="{9D8B030D-6E8A-4147-A177-3AD203B41FA5}">
                          <a16:colId xmlns:a16="http://schemas.microsoft.com/office/drawing/2014/main" xmlns="" val="1825011256"/>
                        </a:ext>
                      </a:extLst>
                    </a:gridCol>
                    <a:gridCol w="1926000">
                      <a:extLst>
                        <a:ext uri="{9D8B030D-6E8A-4147-A177-3AD203B41FA5}">
                          <a16:colId xmlns:a16="http://schemas.microsoft.com/office/drawing/2014/main" xmlns="" val="670237904"/>
                        </a:ext>
                      </a:extLst>
                    </a:gridCol>
                  </a:tblGrid>
                  <a:tr h="51268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000" b="1" dirty="0">
                              <a:sym typeface="Karla"/>
                            </a:rPr>
                            <a:t>0</a:t>
                          </a:r>
                          <a:endParaRPr lang="ro-RO" sz="20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000" b="1" dirty="0">
                              <a:sym typeface="Karla"/>
                            </a:rPr>
                            <a:t>1</a:t>
                          </a:r>
                          <a:endParaRPr lang="ro-RO" sz="20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51268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sym typeface="Karla"/>
                                  </a:rPr>
                                  <m:t>𝐬𝐭𝐚𝐫𝐭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mem</m:t>
                                    </m:r>
                                  </m:e>
                                  <m:sub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→</m:t>
                                </m:r>
                              </m:oMath>
                            </m:oMathPara>
                          </a14:m>
                          <a:endParaRPr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mem</m:t>
                                    </m:r>
                                  </m:e>
                                  <m:sub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→</m:t>
                                </m:r>
                              </m:oMath>
                            </m:oMathPara>
                          </a14:m>
                          <a:endParaRPr lang="ar-AE"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Y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ar-AE"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51268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𝐦𝐞𝐦</m:t>
                                    </m:r>
                                  </m:e>
                                  <m:sub>
                                    <m:r>
                                      <a:rPr lang="en-US" sz="20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mem</m:t>
                                    </m:r>
                                  </m:e>
                                  <m:sub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mem</m:t>
                                    </m:r>
                                  </m:e>
                                  <m:sub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expect</m:t>
                                    </m:r>
                                  </m:e>
                                  <m:sub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51268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𝐦𝐞𝐦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mem</m:t>
                                    </m:r>
                                  </m:e>
                                  <m:sub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mem</m:t>
                                    </m:r>
                                  </m:e>
                                  <m:sub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expect</m:t>
                                    </m:r>
                                  </m:e>
                                  <m:sub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652043421"/>
                      </a:ext>
                    </a:extLst>
                  </a:tr>
                  <a:tr h="51268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𝐞𝐱𝐩𝐞𝐜𝐭</m:t>
                                    </m:r>
                                  </m:e>
                                  <m:sub>
                                    <m:r>
                                      <a:rPr lang="en-US" sz="20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𝑟𝑒𝑠𝑒𝑡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ar-AE"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𝑁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ar-AE"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𝑌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◻,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US"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98018473"/>
                      </a:ext>
                    </a:extLst>
                  </a:tr>
                  <a:tr h="51268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𝐞𝐱𝐩𝐞𝐜𝐭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𝑁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ar-AE"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𝑟𝑒𝑠𝑒𝑡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ar-AE"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𝑌</m:t>
                                </m:r>
                                <m:r>
                                  <a:rPr lang="ar-AE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◻,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US"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522092627"/>
                      </a:ext>
                    </a:extLst>
                  </a:tr>
                  <a:tr h="51268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dirty="0">
                              <a:solidFill>
                                <a:schemeClr val="bg2"/>
                              </a:solidFill>
                              <a:latin typeface="Karla"/>
                              <a:ea typeface="Karla"/>
                              <a:cs typeface="Karla"/>
                              <a:sym typeface="Karla"/>
                            </a:rPr>
                            <a:t>reset</a:t>
                          </a: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𝑟𝑒𝑠𝑒𝑡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,←</m:t>
                                </m:r>
                              </m:oMath>
                            </m:oMathPara>
                          </a14:m>
                          <a:endParaRPr lang="ar-AE"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𝑟𝑒𝑠𝑒𝑡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,←</m:t>
                                </m:r>
                              </m:oMath>
                            </m:oMathPara>
                          </a14:m>
                          <a:endParaRPr lang="ar-AE"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𝑠𝑡𝑎𝑟𝑡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717029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Google Shape;2381;p4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5E89041-B20E-7942-39B9-DD9400CD193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250070185"/>
                  </p:ext>
                </p:extLst>
              </p:nvPr>
            </p:nvGraphicFramePr>
            <p:xfrm>
              <a:off x="722671" y="1315075"/>
              <a:ext cx="7701328" cy="3588767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923328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0"/>
                        </a:ext>
                      </a:extLst>
                    </a:gridCol>
                    <a:gridCol w="1926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1"/>
                        </a:ext>
                      </a:extLst>
                    </a:gridCol>
                    <a:gridCol w="1926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825011256"/>
                        </a:ext>
                      </a:extLst>
                    </a:gridCol>
                    <a:gridCol w="1926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670237904"/>
                        </a:ext>
                      </a:extLst>
                    </a:gridCol>
                  </a:tblGrid>
                  <a:tr h="51268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000" b="1" dirty="0">
                              <a:sym typeface="Karla"/>
                            </a:rPr>
                            <a:t>0</a:t>
                          </a:r>
                          <a:endParaRPr lang="ro-RO" sz="20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000" b="1" dirty="0">
                              <a:sym typeface="Karla"/>
                            </a:rPr>
                            <a:t>1</a:t>
                          </a:r>
                          <a:endParaRPr lang="ro-RO" sz="20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02215" t="-4762" r="-2215" b="-613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0"/>
                      </a:ext>
                    </a:extLst>
                  </a:tr>
                  <a:tr h="512681"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540" t="-104762" r="-303175" b="-5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2215" t="-104762" r="-202215" b="-5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2215" t="-104762" r="-102215" b="-5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02215" t="-104762" r="-2215" b="-513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1"/>
                      </a:ext>
                    </a:extLst>
                  </a:tr>
                  <a:tr h="512681"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540" t="-204762" r="-303175" b="-4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2215" t="-204762" r="-202215" b="-4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2215" t="-204762" r="-102215" b="-4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02215" t="-204762" r="-2215" b="-413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2"/>
                      </a:ext>
                    </a:extLst>
                  </a:tr>
                  <a:tr h="512681"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540" t="-304762" r="-303175" b="-3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2215" t="-304762" r="-202215" b="-3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2215" t="-304762" r="-102215" b="-3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02215" t="-304762" r="-2215" b="-313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652043421"/>
                      </a:ext>
                    </a:extLst>
                  </a:tr>
                  <a:tr h="512681"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540" t="-404762" r="-303175" b="-2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2215" t="-404762" r="-202215" b="-2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2215" t="-404762" r="-102215" b="-2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02215" t="-404762" r="-2215" b="-213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798018473"/>
                      </a:ext>
                    </a:extLst>
                  </a:tr>
                  <a:tr h="512681"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540" t="-504762" r="-303175" b="-1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2215" t="-504762" r="-202215" b="-1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2215" t="-504762" r="-102215" b="-1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02215" t="-504762" r="-2215" b="-113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522092627"/>
                      </a:ext>
                    </a:extLst>
                  </a:tr>
                  <a:tr h="51268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dirty="0">
                              <a:solidFill>
                                <a:schemeClr val="bg2"/>
                              </a:solidFill>
                              <a:latin typeface="Karla"/>
                              <a:ea typeface="Karla"/>
                              <a:cs typeface="Karla"/>
                              <a:sym typeface="Karla"/>
                            </a:rPr>
                            <a:t>reset</a:t>
                          </a: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2215" t="-604762" r="-202215" b="-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2215" t="-604762" r="-102215" b="-13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02215" t="-604762" r="-2215" b="-13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717029051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371;p48">
            <a:extLst>
              <a:ext uri="{FF2B5EF4-FFF2-40B4-BE49-F238E27FC236}">
                <a16:creationId xmlns:a16="http://schemas.microsoft.com/office/drawing/2014/main" xmlns="" id="{91306BD3-A954-4069-856F-784B4FB1E9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/>
              <a:t>Same number of 0s and 1s</a:t>
            </a:r>
            <a:endParaRPr sz="3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Google Shape;2381;p48">
                <a:extLst>
                  <a:ext uri="{FF2B5EF4-FFF2-40B4-BE49-F238E27FC236}">
                    <a16:creationId xmlns:a16="http://schemas.microsoft.com/office/drawing/2014/main" xmlns="" id="{B5E89041-B20E-7942-39B9-DD9400CD193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39292480"/>
                  </p:ext>
                </p:extLst>
              </p:nvPr>
            </p:nvGraphicFramePr>
            <p:xfrm>
              <a:off x="464574" y="1425688"/>
              <a:ext cx="8214851" cy="2743050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641147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643426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643426">
                      <a:extLst>
                        <a:ext uri="{9D8B030D-6E8A-4147-A177-3AD203B41FA5}">
                          <a16:colId xmlns:a16="http://schemas.microsoft.com/office/drawing/2014/main" xmlns="" val="1825011256"/>
                        </a:ext>
                      </a:extLst>
                    </a:gridCol>
                    <a:gridCol w="1643426">
                      <a:extLst>
                        <a:ext uri="{9D8B030D-6E8A-4147-A177-3AD203B41FA5}">
                          <a16:colId xmlns:a16="http://schemas.microsoft.com/office/drawing/2014/main" xmlns="" val="670237904"/>
                        </a:ext>
                      </a:extLst>
                    </a:gridCol>
                    <a:gridCol w="1643426">
                      <a:extLst>
                        <a:ext uri="{9D8B030D-6E8A-4147-A177-3AD203B41FA5}">
                          <a16:colId xmlns:a16="http://schemas.microsoft.com/office/drawing/2014/main" xmlns="" val="1620461910"/>
                        </a:ext>
                      </a:extLst>
                    </a:gridCol>
                  </a:tblGrid>
                  <a:tr h="51268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400" b="1" dirty="0">
                              <a:sym typeface="Karla"/>
                            </a:rPr>
                            <a:t>0</a:t>
                          </a:r>
                          <a:endParaRPr lang="ro-RO" sz="24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400" b="1" dirty="0">
                              <a:sym typeface="Karla"/>
                            </a:rPr>
                            <a:t>1</a:t>
                          </a:r>
                          <a:endParaRPr lang="ro-RO" sz="24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</m:oMath>
                            </m:oMathPara>
                          </a14:m>
                          <a:endParaRPr lang="en-US" sz="24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Karla"/>
                              <a:ea typeface="Karla"/>
                              <a:cs typeface="Karla"/>
                              <a:sym typeface="Karla"/>
                            </a:rPr>
                            <a:t>X</a:t>
                          </a: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51268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sym typeface="Karla"/>
                                  </a:rPr>
                                  <m:t>𝐬𝐭𝐚𝐫𝐭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𝑓𝑖𝑛𝑑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X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→</m:t>
                                </m:r>
                              </m:oMath>
                            </m:oMathPara>
                          </a14:m>
                          <a:endParaRPr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𝑓𝑖𝑛𝑑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X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→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Y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start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X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51268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𝒇𝒊𝒏𝒅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𝑟𝑒𝑠𝑒𝑡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X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𝑓𝑖𝑛𝑑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𝑁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𝑓𝑖𝑛𝑑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X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51268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𝒇𝒊𝒏𝒅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𝑓𝑖𝑛𝑑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𝑟𝑒𝑠𝑒𝑡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/>
                                    <a:sym typeface="Karla"/>
                                  </a:rPr>
                                  <m:t>X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𝑁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◻,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𝑓𝑖𝑛𝑑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X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652043421"/>
                      </a:ext>
                    </a:extLst>
                  </a:tr>
                  <a:tr h="51268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𝒓𝒆𝒔𝒆𝒕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𝑟𝑒𝑠𝑒𝑡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,←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𝑟𝑒𝑠𝑒𝑡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,←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𝑠𝑡𝑎𝑟𝑡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4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𝑟𝑒𝑠𝑒𝑡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𝑋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Karla"/>
                                    <a:cs typeface="Karla"/>
                                    <a:sym typeface="Karla"/>
                                  </a:rPr>
                                  <m:t>,←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717029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Google Shape;2381;p4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5E89041-B20E-7942-39B9-DD9400CD193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39292480"/>
                  </p:ext>
                </p:extLst>
              </p:nvPr>
            </p:nvGraphicFramePr>
            <p:xfrm>
              <a:off x="464574" y="1425688"/>
              <a:ext cx="8214851" cy="2743050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641147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0"/>
                        </a:ext>
                      </a:extLst>
                    </a:gridCol>
                    <a:gridCol w="1643426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1"/>
                        </a:ext>
                      </a:extLst>
                    </a:gridCol>
                    <a:gridCol w="1643426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825011256"/>
                        </a:ext>
                      </a:extLst>
                    </a:gridCol>
                    <a:gridCol w="1643426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670237904"/>
                        </a:ext>
                      </a:extLst>
                    </a:gridCol>
                    <a:gridCol w="1643426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620461910"/>
                        </a:ext>
                      </a:extLst>
                    </a:gridCol>
                  </a:tblGrid>
                  <a:tr h="54861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400" b="1" dirty="0">
                              <a:sym typeface="Karla"/>
                            </a:rPr>
                            <a:t>0</a:t>
                          </a:r>
                          <a:endParaRPr lang="ro-RO" sz="24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400" b="1" dirty="0">
                              <a:sym typeface="Karla"/>
                            </a:rPr>
                            <a:t>1</a:t>
                          </a:r>
                          <a:endParaRPr lang="ro-RO" sz="24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03346" t="-4444" r="-102974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Karla"/>
                              <a:ea typeface="Karla"/>
                              <a:cs typeface="Karla"/>
                              <a:sym typeface="Karla"/>
                            </a:rPr>
                            <a:t>X</a:t>
                          </a: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0"/>
                      </a:ext>
                    </a:extLst>
                  </a:tr>
                  <a:tr h="548610"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602" t="-104444" r="-403717" b="-3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2222" t="-104444" r="-302222" b="-3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2222" t="-104444" r="-202222" b="-3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03346" t="-104444" r="-102974" b="-3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401852" t="-104444" r="-2593" b="-3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1"/>
                      </a:ext>
                    </a:extLst>
                  </a:tr>
                  <a:tr h="548610"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602" t="-204444" r="-403717" b="-2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2222" t="-204444" r="-302222" b="-2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2222" t="-204444" r="-202222" b="-2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03346" t="-204444" r="-102974" b="-2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401852" t="-204444" r="-2593" b="-2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2"/>
                      </a:ext>
                    </a:extLst>
                  </a:tr>
                  <a:tr h="548610"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602" t="-304444" r="-403717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2222" t="-304444" r="-302222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2222" t="-304444" r="-202222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03346" t="-304444" r="-102974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401852" t="-304444" r="-2593" b="-1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652043421"/>
                      </a:ext>
                    </a:extLst>
                  </a:tr>
                  <a:tr h="548610"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602" t="-404444" r="-403717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2222" t="-404444" r="-302222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2222" t="-404444" r="-202222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03346" t="-404444" r="-102974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401852" t="-404444" r="-2593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7170290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04478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thematics Subject for Middle School - 6th Grade: Algebra by Slidesgo">
  <a:themeElements>
    <a:clrScheme name="Simple Light">
      <a:dk1>
        <a:srgbClr val="191919"/>
      </a:dk1>
      <a:lt1>
        <a:srgbClr val="07246E"/>
      </a:lt1>
      <a:dk2>
        <a:srgbClr val="0F327F"/>
      </a:dk2>
      <a:lt2>
        <a:srgbClr val="FF3141"/>
      </a:lt2>
      <a:accent1>
        <a:srgbClr val="FFB400"/>
      </a:accent1>
      <a:accent2>
        <a:srgbClr val="00B6FF"/>
      </a:accent2>
      <a:accent3>
        <a:srgbClr val="EDEDE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724</Words>
  <Application>Microsoft Office PowerPoint</Application>
  <PresentationFormat>Expunere pe ecran (16:9)</PresentationFormat>
  <Paragraphs>149</Paragraphs>
  <Slides>12</Slides>
  <Notes>12</Notes>
  <HiddenSlides>0</HiddenSlides>
  <MMClips>0</MMClips>
  <ScaleCrop>false</ScaleCrop>
  <HeadingPairs>
    <vt:vector size="6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12</vt:i4>
      </vt:variant>
    </vt:vector>
  </HeadingPairs>
  <TitlesOfParts>
    <vt:vector size="19" baseType="lpstr">
      <vt:lpstr>Arial</vt:lpstr>
      <vt:lpstr>Nunito</vt:lpstr>
      <vt:lpstr>Roboto Condensed Light</vt:lpstr>
      <vt:lpstr>Cambria Math</vt:lpstr>
      <vt:lpstr>Karla</vt:lpstr>
      <vt:lpstr>Karla Regular</vt:lpstr>
      <vt:lpstr>Mathematics Subject for Middle School - 6th Grade: Algebra by Slidesgo</vt:lpstr>
      <vt:lpstr>Recap</vt:lpstr>
      <vt:lpstr>The Turing Machine</vt:lpstr>
      <vt:lpstr>Prezentare PowerPoint</vt:lpstr>
      <vt:lpstr>Prezentare PowerPoint</vt:lpstr>
      <vt:lpstr>Prezentare PowerPoint</vt:lpstr>
      <vt:lpstr>Formal definition</vt:lpstr>
      <vt:lpstr>Checking if a number is even</vt:lpstr>
      <vt:lpstr>Checking if a number is even</vt:lpstr>
      <vt:lpstr>Using states as memory</vt:lpstr>
      <vt:lpstr>Incrementing a number</vt:lpstr>
      <vt:lpstr>Checking for palindromes</vt:lpstr>
      <vt:lpstr>Same number of 0s and 1s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Turing Machine</dc:title>
  <dc:creator>mihai</dc:creator>
  <cp:lastModifiedBy>adfafhdafhadjfh@outlook.com</cp:lastModifiedBy>
  <cp:revision>25</cp:revision>
  <dcterms:modified xsi:type="dcterms:W3CDTF">2022-10-14T09:16:00Z</dcterms:modified>
</cp:coreProperties>
</file>